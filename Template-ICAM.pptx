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</p:sldIdLst>
  <p:sldSz cx="18288000" cy="10287000"/>
  <p:notesSz cx="6858000" cy="9144000"/>
  <p:embeddedFontLst>
    <p:embeddedFont>
      <p:font typeface="Anton" pitchFamily="2" charset="0"/>
      <p:regular r:id="rId34"/>
    </p:embeddedFont>
    <p:embeddedFont>
      <p:font typeface="Montserrat 1" panose="020B0604020202020204" charset="0"/>
      <p:regular r:id="rId35"/>
    </p:embeddedFont>
    <p:embeddedFont>
      <p:font typeface="Montserrat 1 Bold" panose="020B0604020202020204" charset="0"/>
      <p:regular r:id="rId36"/>
    </p:embeddedFont>
    <p:embeddedFont>
      <p:font typeface="Montserrat 1 Italics" panose="020B0604020202020204" charset="0"/>
      <p:regular r:id="rId37"/>
    </p:embeddedFont>
    <p:embeddedFont>
      <p:font typeface="Montserrat 1 Semi-Bold" panose="020B0604020202020204" charset="0"/>
      <p:regular r:id="rId38"/>
    </p:embeddedFont>
    <p:embeddedFont>
      <p:font typeface="Montserrat Extra-Bold Bold" panose="020B0604020202020204" charset="0"/>
      <p:regular r:id="rId39"/>
    </p:embeddedFont>
    <p:embeddedFont>
      <p:font typeface="Poppins" panose="00000500000000000000" pitchFamily="2" charset="0"/>
      <p:regular r:id="rId40"/>
      <p:bold r:id="rId41"/>
      <p:italic r:id="rId42"/>
      <p:boldItalic r:id="rId43"/>
    </p:embeddedFont>
    <p:embeddedFont>
      <p:font typeface="Poppins 1" panose="020B0604020202020204" charset="0"/>
      <p:regular r:id="rId44"/>
    </p:embeddedFont>
    <p:embeddedFont>
      <p:font typeface="Poppins 1 Bold" panose="020B0604020202020204" charset="0"/>
      <p:regular r:id="rId45"/>
    </p:embeddedFont>
    <p:embeddedFont>
      <p:font typeface="Poppins 1 Bold Italics" panose="020B0604020202020204" charset="0"/>
      <p:regular r:id="rId46"/>
    </p:embeddedFont>
    <p:embeddedFont>
      <p:font typeface="Poppins 1 Italics" panose="020B0604020202020204" charset="0"/>
      <p:regular r:id="rId47"/>
    </p:embeddedFont>
    <p:embeddedFont>
      <p:font typeface="Poppins 2 Bold" panose="020B0604020202020204" charset="0"/>
      <p:regular r:id="rId48"/>
    </p:embeddedFont>
    <p:embeddedFont>
      <p:font typeface="Poppins 2 Bold Italics" panose="020B0604020202020204" charset="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35" autoAdjust="0"/>
    <p:restoredTop sz="69613" autoAdjust="0"/>
  </p:normalViewPr>
  <p:slideViewPr>
    <p:cSldViewPr>
      <p:cViewPr varScale="1">
        <p:scale>
          <a:sx n="74" d="100"/>
          <a:sy n="74" d="100"/>
        </p:scale>
        <p:origin x="11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presProps" Target="presProps.xml"/><Relationship Id="rId55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noProof="0" dirty="0"/>
              <a:t>Nota 1. Antecedentes Generales</a:t>
            </a:r>
          </a:p>
          <a:p>
            <a:endParaRPr lang="es-CL" noProof="0" dirty="0"/>
          </a:p>
          <a:p>
            <a:r>
              <a:rPr lang="es-CL" noProof="0" dirty="0"/>
              <a:t>Utilice este espacio para contextualizar la actividad en curso</a:t>
            </a:r>
            <a:r>
              <a:rPr lang="es-CL" b="1" noProof="0" dirty="0"/>
              <a:t>. Incluya tipo de tarea, condiciones ambientales, equipos/instalaciones involucradas y cualquier antecedente relevante</a:t>
            </a:r>
            <a:r>
              <a:rPr lang="es-CL" noProof="0" dirty="0"/>
              <a:t> (ej. orden y limpieza, cambios de turno, eventos similares). Este cuadro no es para describir el accidente, sino el escenario previo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noProof="0" dirty="0"/>
              <a:t>Nota 2. Descripción del Accidente</a:t>
            </a:r>
          </a:p>
          <a:p>
            <a:endParaRPr lang="es-CL" noProof="0" dirty="0"/>
          </a:p>
          <a:p>
            <a:r>
              <a:rPr lang="es-CL" noProof="0" dirty="0"/>
              <a:t>Resuma de forma objetiva lo ocurrido: </a:t>
            </a:r>
            <a:r>
              <a:rPr lang="es-CL" b="1" noProof="0" dirty="0"/>
              <a:t>qué pasó, dónde, cuándo y quiénes estaban involucrados. Señale el riesgo de fatalidad manifestado y los controles críticos ausentes o fallidos</a:t>
            </a:r>
            <a:r>
              <a:rPr lang="es-CL" noProof="0" dirty="0"/>
              <a:t>. Use el cuadro inferior para completar los datos básicos (División, Empresa, Gerencia, Área, Fecha y Hora).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noProof="0" dirty="0"/>
              <a:t>Nota 3. Acciones Correctivas Inmediatas</a:t>
            </a:r>
          </a:p>
          <a:p>
            <a:endParaRPr lang="es-CL" noProof="0" dirty="0"/>
          </a:p>
          <a:p>
            <a:r>
              <a:rPr lang="es-CL" noProof="0" dirty="0"/>
              <a:t>Registre todas las medidas inmediatas implementadas después del evento. </a:t>
            </a:r>
            <a:r>
              <a:rPr lang="es-CL" b="1" noProof="0" dirty="0"/>
              <a:t>Incluya la fecha de ejecución, una breve descripción de la acción y el responsable directo</a:t>
            </a:r>
            <a:r>
              <a:rPr lang="es-CL" noProof="0" dirty="0"/>
              <a:t>. Este registro debe reflejar lo que ya se hizo en terreno para controlar la situación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MX" b="0" dirty="0"/>
              <a:t>4 </a:t>
            </a:r>
            <a:r>
              <a:rPr lang="es-MX" b="1" dirty="0"/>
              <a:t>. Informe Flash</a:t>
            </a:r>
          </a:p>
          <a:p>
            <a:endParaRPr lang="es-MX" dirty="0"/>
          </a:p>
          <a:p>
            <a:r>
              <a:rPr lang="es-MX" dirty="0"/>
              <a:t>El Informe Flash corresponde al registro preliminar del evento, elaborado en las primeras horas posteriores a su ocurrencia. Su propósito es entregar de forma rápida y objetiva los antecedentes iniciales, permitiendo activar oportunamente la gestión de controles críticos, clasificar el evento según el árbol de decisiones (SIGO-ET-001) e iniciar las acciones inmediatas en terreno</a:t>
            </a:r>
            <a:r>
              <a:rPr lang="es-MX" b="1" dirty="0"/>
              <a:t>. Este informe es de carácter referencial y será complementado con la investigación detallada ICAM y el informe final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5. Comisión Investigadora</a:t>
            </a:r>
          </a:p>
          <a:p>
            <a:endParaRPr lang="es-CL" noProof="0" dirty="0"/>
          </a:p>
          <a:p>
            <a:r>
              <a:rPr lang="es-CL" noProof="0" dirty="0"/>
              <a:t>Identifique a los integrantes del equipo investigador, señalando nombres, roles y áreas de pertenencia. </a:t>
            </a:r>
            <a:r>
              <a:rPr lang="es-CL" b="1" noProof="0" dirty="0"/>
              <a:t>La conformación debe ser multidisciplinaria e incluir línea de mando, expertos técnicos y representantes de seguridad.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6. Objetivos y Alcances de la Investigación</a:t>
            </a:r>
          </a:p>
          <a:p>
            <a:endParaRPr lang="es-CL" noProof="0" dirty="0"/>
          </a:p>
          <a:p>
            <a:r>
              <a:rPr lang="es-CL" noProof="0" dirty="0"/>
              <a:t>En la columna izquierda, </a:t>
            </a:r>
            <a:r>
              <a:rPr lang="es-CL" b="1" noProof="0" dirty="0"/>
              <a:t>defina los objetivos principales de la investigación</a:t>
            </a:r>
            <a:r>
              <a:rPr lang="es-CL" noProof="0" dirty="0"/>
              <a:t> (causas, controles, acciones y aprendizajes). En la derecha, delimite los alcances: </a:t>
            </a:r>
            <a:r>
              <a:rPr lang="es-CL" b="1" noProof="0" dirty="0"/>
              <a:t>qué áreas, procesos o actividades se incluyen, qué se excluye y con qué metodología se desarrollará la investigación </a:t>
            </a:r>
            <a:r>
              <a:rPr lang="es-CL" noProof="0" dirty="0"/>
              <a:t>(ICAM / ICAM Abreviado).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7. Plazos y Coordinación</a:t>
            </a:r>
          </a:p>
          <a:p>
            <a:endParaRPr lang="es-CL" noProof="0" dirty="0"/>
          </a:p>
          <a:p>
            <a:r>
              <a:rPr lang="es-CL" noProof="0" dirty="0"/>
              <a:t>Complete la tabla con los hitos del proceso de investigación: </a:t>
            </a:r>
            <a:r>
              <a:rPr lang="es-CL" b="1" noProof="0" dirty="0"/>
              <a:t>constitución del equipo, visitas a terreno, recolección y análisis de datos, acciones y entrega de informe</a:t>
            </a:r>
            <a:r>
              <a:rPr lang="es-CL" noProof="0" dirty="0"/>
              <a:t>. Ajuste actividades, fechas y responsables según cada caso. Nota: esta planificación es un formato referencial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8. Resumen PEEPO</a:t>
            </a:r>
          </a:p>
          <a:p>
            <a:endParaRPr lang="es-CL" noProof="0" dirty="0"/>
          </a:p>
          <a:p>
            <a:r>
              <a:rPr lang="es-CL" noProof="0" dirty="0"/>
              <a:t>Registre la información recolectada en terreno organizada según PEEPO: Personas, Entorno, Equipos, Procedimientos y Organización. </a:t>
            </a:r>
            <a:r>
              <a:rPr lang="es-CL" b="1" noProof="0" dirty="0"/>
              <a:t>Cada bloque debe contener observaciones concretas y verificables, no opiniones</a:t>
            </a:r>
            <a:r>
              <a:rPr lang="es-CL" noProof="0" dirty="0"/>
              <a:t>. Esto servirá de base para el análisis causal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9. PEEPO – Personas</a:t>
            </a:r>
          </a:p>
          <a:p>
            <a:endParaRPr lang="es-CL" noProof="0" dirty="0"/>
          </a:p>
          <a:p>
            <a:r>
              <a:rPr lang="es-CL" noProof="0" dirty="0"/>
              <a:t>Identifique todas las personas relacionadas con el evento</a:t>
            </a:r>
            <a:r>
              <a:rPr lang="es-CL" b="1" noProof="0" dirty="0"/>
              <a:t>: trabajadores afectados, testigos y supervisores. Registre su rol, función en la tarea y participación en el evento</a:t>
            </a:r>
            <a:r>
              <a:rPr lang="es-CL" noProof="0" dirty="0"/>
              <a:t>. Este análisis debe ser objetivo, sin juicios personales.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10. PEEPO – Entorno</a:t>
            </a:r>
          </a:p>
          <a:p>
            <a:endParaRPr lang="es-CL" noProof="0" dirty="0"/>
          </a:p>
          <a:p>
            <a:r>
              <a:rPr lang="es-CL" noProof="0" dirty="0"/>
              <a:t>Describa las condiciones físicas y ambientales en el momento del evento. </a:t>
            </a:r>
            <a:r>
              <a:rPr lang="es-CL" b="1" noProof="0" dirty="0"/>
              <a:t>Incluya factores como clima, iluminación, ruido, orden y limpieza del área de trabajo. Considere también riesgos concurrentes o tareas simultáneas que pudieran haber influido en la ocurrencia.</a:t>
            </a:r>
            <a:endParaRPr lang="en-US" b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11. PEEPO – Equipos</a:t>
            </a:r>
          </a:p>
          <a:p>
            <a:endParaRPr lang="es-CL" noProof="0" dirty="0"/>
          </a:p>
          <a:p>
            <a:r>
              <a:rPr lang="es-CL" b="1" noProof="0" dirty="0"/>
              <a:t>Registre todas las maquinarias, herramientas y equipos involucrados en la tarea. Señale su estado de funcionamiento, condiciones de seguridad, mantención y certificaciones (</a:t>
            </a:r>
            <a:r>
              <a:rPr lang="es-CL" noProof="0" dirty="0"/>
              <a:t>cuando corresponda). Indique si existieron fallas o anomalías observadas.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12. PEEPO – Procedimientos</a:t>
            </a:r>
          </a:p>
          <a:p>
            <a:endParaRPr lang="es-CL" noProof="0" dirty="0"/>
          </a:p>
          <a:p>
            <a:r>
              <a:rPr lang="es-CL" noProof="0" dirty="0"/>
              <a:t>Indique qué procedimientos, instructivos o ART estaban vigentes para la tarea y cómo fueron aplicados en la práctica</a:t>
            </a:r>
            <a:r>
              <a:rPr lang="es-CL" b="1" noProof="0" dirty="0"/>
              <a:t>. Identifique posibles brechas entre el trabajo prescrito (lo que debía hacerse) y el trabajo real (lo que se ejecutó en terreno).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13. PEEPO – Organización</a:t>
            </a:r>
          </a:p>
          <a:p>
            <a:endParaRPr lang="es-CL" noProof="0" dirty="0"/>
          </a:p>
          <a:p>
            <a:r>
              <a:rPr lang="es-CL" noProof="0" dirty="0"/>
              <a:t>Evalúe los aspectos organizacionales relacionados con el evento: </a:t>
            </a:r>
            <a:r>
              <a:rPr lang="es-CL" b="1" noProof="0" dirty="0"/>
              <a:t>supervisión presente, liderazgo, definición de roles y responsabilidades, coordinación entre áreas y nivel de cumplimiento de los controles críticos asociados</a:t>
            </a:r>
            <a:r>
              <a:rPr lang="es-CL" noProof="0" dirty="0"/>
              <a:t>. Incluya observaciones sobre gestión preventiva previa al evento.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14. Organización de Datos – Línea de Tiempo</a:t>
            </a:r>
          </a:p>
          <a:p>
            <a:endParaRPr lang="es-CL" noProof="0" dirty="0"/>
          </a:p>
          <a:p>
            <a:r>
              <a:rPr lang="es-CL" b="1" noProof="0" dirty="0"/>
              <a:t>Utilice la línea de tiempo para registrar de manera clara la secuencia de hechos</a:t>
            </a:r>
            <a:r>
              <a:rPr lang="es-CL" noProof="0" dirty="0"/>
              <a:t>: inicio de la jornada, preparación, desarrollo, momento del evento, acciones inmediatas y cierre. Incluya hora, breve descripción y evidencia asociada. Esta herramienta permite visualizar brechas en la gestión de controles críticos y facilita el análisis posterior.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15. Organización de Datos – WAI/WAD</a:t>
            </a:r>
          </a:p>
          <a:p>
            <a:endParaRPr lang="es-CL" noProof="0" dirty="0"/>
          </a:p>
          <a:p>
            <a:r>
              <a:rPr lang="es-CL" noProof="0" dirty="0"/>
              <a:t>Utilice esta lámina para comparar el trabajo prescrito (WAI) con el trabajo real en terreno (WAD). </a:t>
            </a:r>
            <a:r>
              <a:rPr lang="es-CL" b="1" noProof="0" dirty="0"/>
              <a:t>Identifique diferencias, adaptaciones o brechas que puedan haber contribuido al evento</a:t>
            </a:r>
            <a:r>
              <a:rPr lang="es-CL" noProof="0" dirty="0"/>
              <a:t>. Finalmente, registre lo que efectivamente sucedió en el momento del accidente.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16. Organización de Datos – WAI vs WAD</a:t>
            </a:r>
          </a:p>
          <a:p>
            <a:endParaRPr lang="es-CL" noProof="0" dirty="0"/>
          </a:p>
          <a:p>
            <a:r>
              <a:rPr lang="es-CL" noProof="0" dirty="0"/>
              <a:t> </a:t>
            </a:r>
            <a:r>
              <a:rPr lang="es-CL" b="1" noProof="0" dirty="0"/>
              <a:t>Utilice esta lámina para contrastar el trabajo como fue planificado (WAI teórico), cómo se realiza normalmente en la práctica (WAD normal) y cómo se ejecutó específicamente en el evento (WAD del incidente). </a:t>
            </a:r>
            <a:r>
              <a:rPr lang="es-CL" noProof="0" dirty="0"/>
              <a:t>Complete paso a paso identificando equipos, permisos, ART, controles críticos preventivos y mitigadores. Esta comparación permite visualizar desviaciones clave que contribuyeron al evento.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17. 5 Porqués – Factores Contributivos identificados en la línea de tiempo</a:t>
            </a:r>
          </a:p>
          <a:p>
            <a:endParaRPr lang="es-CL" noProof="0" dirty="0"/>
          </a:p>
          <a:p>
            <a:r>
              <a:rPr lang="es-CL" b="1" noProof="0" dirty="0"/>
              <a:t>Los factores contributivos se obtienen a partir de la información levantada en el PEEPO (personas, entorno, equipos, procedimientos y organización), de la línea de tiempo, del contraste WAI vs WAD y de las observaciones en terreno. Utilice esta lámina para analizar en profundidad dichos factores, identificando defensas ausentes o fallidas, acciones individuales o de equipo, condiciones de la tarea o el entorno y factores organizacionales que explican el evento</a:t>
            </a:r>
            <a:r>
              <a:rPr lang="es-CL" noProof="0" dirty="0"/>
              <a:t>. Este proceso permite llegar a causas básicas corregibles y orientar la definición de acciones preventivas y correctivas.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18. Análisis de causalidad – Controles Críticos</a:t>
            </a:r>
          </a:p>
          <a:p>
            <a:endParaRPr lang="es-CL" noProof="0" dirty="0"/>
          </a:p>
          <a:p>
            <a:r>
              <a:rPr lang="es-CL" noProof="0" dirty="0"/>
              <a:t>Relacione los factores contribuyentes identificados (organizacionales, de la tarea o entorno, acciones individuales/de equipo y defensas ausentes o fallidas) con el evento significativo. </a:t>
            </a:r>
            <a:r>
              <a:rPr lang="es-CL" b="1" noProof="0" dirty="0"/>
              <a:t>El objetivo es evidenciar cómo las brechas en los controles críticos, procedimientos o prácticas de gestión se vinculan directamente con la ocurrencia del accidente/incidente</a:t>
            </a:r>
            <a:r>
              <a:rPr lang="es-CL" noProof="0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19. Acciones correctivas y preventivas – Corto plazo</a:t>
            </a:r>
          </a:p>
          <a:p>
            <a:endParaRPr lang="es-CL" noProof="0" dirty="0"/>
          </a:p>
          <a:p>
            <a:r>
              <a:rPr lang="es-CL" noProof="0" dirty="0"/>
              <a:t>Registre las acciones inmediatas destinadas a corregir o mitigar las defensas ausentes o fallidas detectadas en la investigación. Cada acción debe estar vinculada con la brecha identificada, asignando un responsable, </a:t>
            </a:r>
            <a:r>
              <a:rPr lang="es-CL" b="1" noProof="0" dirty="0"/>
              <a:t>jerarquía de control (eliminación, sustitución, control de ingeniería, control administrativo o EPP) y un plazo definido</a:t>
            </a:r>
            <a:r>
              <a:rPr lang="es-CL" noProof="0" dirty="0"/>
              <a:t>. </a:t>
            </a:r>
            <a:r>
              <a:rPr lang="es-CL" b="1" noProof="0" dirty="0"/>
              <a:t>Priorice siempre las medidas de mayor jerarquía (eliminación, sustitución, ingeniería) por sobre las administrativas o de EPP, asegurando su implementación efectiva.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CL" noProof="0" dirty="0"/>
              <a:t>20. Acciones correctivas y preventivas – Largo plazo</a:t>
            </a:r>
          </a:p>
          <a:p>
            <a:endParaRPr lang="es-CL" noProof="0" dirty="0"/>
          </a:p>
          <a:p>
            <a:r>
              <a:rPr lang="es-CL" noProof="0" dirty="0"/>
              <a:t>Registre las acciones de carácter estructural o sostenido que buscan eliminar o reducir de manera permanente las causas raíz identificadas en la investigación. Estas acciones deben estar alineadas a la jerarquía de controles, priorizando soluciones de mayor eficacia (eliminación, sustitución, ingeniería), e ir más allá de las medidas inmediatas. Incluya responsables definidos, plazos de cumplimiento y mecanismos de seguimiento que aseguren la sostenibilidad de la mejora en el tiempo.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noProof="0" dirty="0"/>
              <a:t>21. Acciones correctivas y preventivas – Hallazgos</a:t>
            </a:r>
          </a:p>
          <a:p>
            <a:endParaRPr lang="es-CL" noProof="0" dirty="0"/>
          </a:p>
          <a:p>
            <a:r>
              <a:rPr lang="es-CL" noProof="0" dirty="0"/>
              <a:t>Registre los principales hallazgos de la investigación, tanto negativos (brechas de gestión, controles críticos no implementados, deficiencias en supervisión o capacitación) como positivos (buenas prácticas que contribuyeron a mitigar consecuencias). </a:t>
            </a:r>
            <a:r>
              <a:rPr lang="es-CL" b="1" noProof="0" dirty="0"/>
              <a:t>Este apartado debe servir como insumo para la retroalimentación organizacional y la generación de aprendizajes aplicables en otras áreas o divisiones, fomentando la mejora continua en la gestión de riesgos.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L" b="0" noProof="0" dirty="0"/>
              <a:t>Nota </a:t>
            </a:r>
            <a:r>
              <a:rPr lang="es-MX" b="0" dirty="0"/>
              <a:t>22</a:t>
            </a:r>
            <a:r>
              <a:rPr lang="es-MX" b="1" dirty="0"/>
              <a:t>. Conclusiones</a:t>
            </a:r>
          </a:p>
          <a:p>
            <a:endParaRPr lang="es-MX" dirty="0"/>
          </a:p>
          <a:p>
            <a:r>
              <a:rPr lang="es-MX" dirty="0"/>
              <a:t>Resuma de manera clara los hallazgos principales de la investigación, considerando los factores contribuyentes identificados (organizacionales, del entorno, individuales y defensas fallidas). Indique la efectividad de los controles críticos (si fueron aplicados, fallaron o no existían) y cómo incidieron en el evento. Incluya las lecciones aprendidas y especifique qué prácticas deben fortalecerse e integrarse en la gestión preventiva de la organización.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Gracias!!!! 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1573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8.jpeg"/><Relationship Id="rId7" Type="http://schemas.openxmlformats.org/officeDocument/2006/relationships/image" Target="../media/image7.pn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4.svg"/><Relationship Id="rId5" Type="http://schemas.openxmlformats.org/officeDocument/2006/relationships/image" Target="../media/image10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8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3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2.svg"/><Relationship Id="rId3" Type="http://schemas.openxmlformats.org/officeDocument/2006/relationships/image" Target="../media/image8.jpeg"/><Relationship Id="rId7" Type="http://schemas.openxmlformats.org/officeDocument/2006/relationships/image" Target="../media/image34.sv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7.png"/><Relationship Id="rId10" Type="http://schemas.openxmlformats.org/officeDocument/2006/relationships/image" Target="../media/image37.png"/><Relationship Id="rId4" Type="http://schemas.openxmlformats.org/officeDocument/2006/relationships/image" Target="../media/image4.png"/><Relationship Id="rId9" Type="http://schemas.openxmlformats.org/officeDocument/2006/relationships/image" Target="../media/image3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8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9589607" y="-56687"/>
            <a:ext cx="8698393" cy="10400373"/>
            <a:chOff x="0" y="0"/>
            <a:chExt cx="8603361" cy="10286746"/>
          </a:xfrm>
        </p:grpSpPr>
        <p:sp>
          <p:nvSpPr>
            <p:cNvPr id="4" name="Freeform 4"/>
            <p:cNvSpPr/>
            <p:nvPr/>
          </p:nvSpPr>
          <p:spPr>
            <a:xfrm>
              <a:off x="-2794" y="-127"/>
              <a:ext cx="8606155" cy="10286873"/>
            </a:xfrm>
            <a:custGeom>
              <a:avLst/>
              <a:gdLst/>
              <a:ahLst/>
              <a:cxnLst/>
              <a:rect l="l" t="t" r="r" b="b"/>
              <a:pathLst>
                <a:path w="8606155" h="10286873">
                  <a:moveTo>
                    <a:pt x="8606155" y="10251440"/>
                  </a:moveTo>
                  <a:cubicBezTo>
                    <a:pt x="8606155" y="10284587"/>
                    <a:pt x="8595487" y="10286873"/>
                    <a:pt x="8567674" y="10286873"/>
                  </a:cubicBezTo>
                  <a:cubicBezTo>
                    <a:pt x="5713095" y="10286238"/>
                    <a:pt x="2858643" y="10286238"/>
                    <a:pt x="4064" y="10286238"/>
                  </a:cubicBezTo>
                  <a:cubicBezTo>
                    <a:pt x="0" y="10272395"/>
                    <a:pt x="6350" y="10259822"/>
                    <a:pt x="9271" y="10246995"/>
                  </a:cubicBezTo>
                  <a:cubicBezTo>
                    <a:pt x="134747" y="9685401"/>
                    <a:pt x="260350" y="9123934"/>
                    <a:pt x="386207" y="8562467"/>
                  </a:cubicBezTo>
                  <a:cubicBezTo>
                    <a:pt x="565658" y="7761986"/>
                    <a:pt x="745490" y="6961632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5"/>
                    <a:pt x="8605139" y="6846316"/>
                    <a:pt x="8606155" y="10251440"/>
                  </a:cubicBezTo>
                  <a:close/>
                </a:path>
              </a:pathLst>
            </a:custGeom>
            <a:blipFill>
              <a:blip r:embed="rId3"/>
              <a:stretch>
                <a:fillRect l="-67023" r="-12439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5" name="Freeform 5"/>
          <p:cNvSpPr/>
          <p:nvPr/>
        </p:nvSpPr>
        <p:spPr>
          <a:xfrm rot="-4650086">
            <a:off x="4148666" y="4607563"/>
            <a:ext cx="13382481" cy="173983"/>
          </a:xfrm>
          <a:custGeom>
            <a:avLst/>
            <a:gdLst/>
            <a:ahLst/>
            <a:cxnLst/>
            <a:rect l="l" t="t" r="r" b="b"/>
            <a:pathLst>
              <a:path w="13382481" h="173983">
                <a:moveTo>
                  <a:pt x="0" y="0"/>
                </a:moveTo>
                <a:lnTo>
                  <a:pt x="13382481" y="0"/>
                </a:lnTo>
                <a:lnTo>
                  <a:pt x="13382481" y="173982"/>
                </a:lnTo>
                <a:lnTo>
                  <a:pt x="0" y="173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60677" b="-158463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AutoShape 6"/>
          <p:cNvSpPr/>
          <p:nvPr/>
        </p:nvSpPr>
        <p:spPr>
          <a:xfrm>
            <a:off x="1023507" y="5790767"/>
            <a:ext cx="4913678" cy="0"/>
          </a:xfrm>
          <a:prstGeom prst="line">
            <a:avLst/>
          </a:prstGeom>
          <a:ln w="38100" cap="rnd">
            <a:gradFill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853683" y="825909"/>
            <a:ext cx="2473721" cy="1452172"/>
          </a:xfrm>
          <a:custGeom>
            <a:avLst/>
            <a:gdLst/>
            <a:ahLst/>
            <a:cxnLst/>
            <a:rect l="l" t="t" r="r" b="b"/>
            <a:pathLst>
              <a:path w="2473721" h="1452172">
                <a:moveTo>
                  <a:pt x="0" y="0"/>
                </a:moveTo>
                <a:lnTo>
                  <a:pt x="2473720" y="0"/>
                </a:lnTo>
                <a:lnTo>
                  <a:pt x="2473720" y="1452172"/>
                </a:lnTo>
                <a:lnTo>
                  <a:pt x="0" y="14521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8" name="Group 8"/>
          <p:cNvGrpSpPr/>
          <p:nvPr/>
        </p:nvGrpSpPr>
        <p:grpSpPr>
          <a:xfrm>
            <a:off x="0" y="8594378"/>
            <a:ext cx="4962253" cy="916221"/>
            <a:chOff x="0" y="0"/>
            <a:chExt cx="2633882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33882" cy="406400"/>
            </a:xfrm>
            <a:custGeom>
              <a:avLst/>
              <a:gdLst/>
              <a:ahLst/>
              <a:cxnLst/>
              <a:rect l="l" t="t" r="r" b="b"/>
              <a:pathLst>
                <a:path w="2633882" h="406400">
                  <a:moveTo>
                    <a:pt x="2430682" y="0"/>
                  </a:moveTo>
                  <a:cubicBezTo>
                    <a:pt x="2542906" y="0"/>
                    <a:pt x="2633882" y="90976"/>
                    <a:pt x="2633882" y="203200"/>
                  </a:cubicBezTo>
                  <a:cubicBezTo>
                    <a:pt x="2633882" y="315424"/>
                    <a:pt x="2542906" y="406400"/>
                    <a:pt x="243068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63388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4167412" y="8750162"/>
            <a:ext cx="604654" cy="604654"/>
          </a:xfrm>
          <a:custGeom>
            <a:avLst/>
            <a:gdLst/>
            <a:ahLst/>
            <a:cxnLst/>
            <a:rect l="l" t="t" r="r" b="b"/>
            <a:pathLst>
              <a:path w="604654" h="604654">
                <a:moveTo>
                  <a:pt x="0" y="0"/>
                </a:moveTo>
                <a:lnTo>
                  <a:pt x="604653" y="0"/>
                </a:lnTo>
                <a:lnTo>
                  <a:pt x="604653" y="604654"/>
                </a:lnTo>
                <a:lnTo>
                  <a:pt x="0" y="604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Freeform 12"/>
          <p:cNvSpPr/>
          <p:nvPr/>
        </p:nvSpPr>
        <p:spPr>
          <a:xfrm>
            <a:off x="3857270" y="825909"/>
            <a:ext cx="1707984" cy="1592695"/>
          </a:xfrm>
          <a:custGeom>
            <a:avLst/>
            <a:gdLst/>
            <a:ahLst/>
            <a:cxnLst/>
            <a:rect l="l" t="t" r="r" b="b"/>
            <a:pathLst>
              <a:path w="1707984" h="1592695">
                <a:moveTo>
                  <a:pt x="0" y="0"/>
                </a:moveTo>
                <a:lnTo>
                  <a:pt x="1707985" y="0"/>
                </a:lnTo>
                <a:lnTo>
                  <a:pt x="1707985" y="1592695"/>
                </a:lnTo>
                <a:lnTo>
                  <a:pt x="0" y="15926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AutoShape 13"/>
          <p:cNvSpPr/>
          <p:nvPr/>
        </p:nvSpPr>
        <p:spPr>
          <a:xfrm flipV="1">
            <a:off x="3516137" y="1030415"/>
            <a:ext cx="0" cy="1221272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Box 14"/>
          <p:cNvSpPr txBox="1"/>
          <p:nvPr/>
        </p:nvSpPr>
        <p:spPr>
          <a:xfrm>
            <a:off x="1028700" y="3881538"/>
            <a:ext cx="7317043" cy="1355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0"/>
              </a:lnSpc>
            </a:pPr>
            <a:r>
              <a:rPr lang="es-CL" sz="5000" b="1" noProof="0" dirty="0">
                <a:solidFill>
                  <a:srgbClr val="36424A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Informe de Investigación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691" y="9945023"/>
            <a:ext cx="5344563" cy="23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63"/>
              </a:lnSpc>
            </a:pPr>
            <a:r>
              <a:rPr lang="es-CL" sz="1444" noProof="0" dirty="0">
                <a:solidFill>
                  <a:srgbClr val="737373"/>
                </a:solidFill>
                <a:latin typeface="Poppins 1"/>
                <a:ea typeface="Poppins 1"/>
                <a:cs typeface="Poppins 1"/>
                <a:sym typeface="Poppins 1"/>
              </a:rPr>
              <a:t>2025 CODELCO CHILE. TODOS LOS DERECHOS RESERVADOS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5353678"/>
            <a:ext cx="7317043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0"/>
              </a:lnSpc>
            </a:pPr>
            <a:r>
              <a:rPr lang="es-CL" sz="2500" b="1" noProof="0" dirty="0">
                <a:solidFill>
                  <a:srgbClr val="E96C28"/>
                </a:solidFill>
                <a:latin typeface="Montserrat 1 Semi-Bold"/>
                <a:ea typeface="Montserrat 1 Semi-Bold"/>
                <a:cs typeface="Montserrat 1 Semi-Bold"/>
                <a:sym typeface="Montserrat 1 Semi-Bold"/>
              </a:rPr>
              <a:t>Evento significativo con lesión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028334"/>
            <a:ext cx="7497117" cy="3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8"/>
              </a:lnSpc>
            </a:pPr>
            <a:r>
              <a:rPr lang="es-CL" sz="2800" noProof="0" dirty="0">
                <a:solidFill>
                  <a:srgbClr val="36424A"/>
                </a:solidFill>
                <a:latin typeface="Montserrat 1"/>
                <a:ea typeface="Montserrat 1"/>
                <a:cs typeface="Montserrat 1"/>
                <a:sym typeface="Montserrat 1"/>
              </a:rPr>
              <a:t>Centro de Trabajo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3400" y="8876326"/>
            <a:ext cx="2921413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s-CL" sz="2199" b="1" noProof="0" dirty="0">
                <a:solidFill>
                  <a:srgbClr val="3B4652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Mes</a:t>
            </a:r>
            <a:r>
              <a:rPr lang="es-CL" sz="2199" noProof="0" dirty="0">
                <a:solidFill>
                  <a:srgbClr val="3B4652"/>
                </a:solidFill>
                <a:latin typeface="Montserrat 1"/>
                <a:ea typeface="Montserrat 1"/>
                <a:cs typeface="Montserrat 1"/>
                <a:sym typeface="Montserrat 1"/>
              </a:rPr>
              <a:t> 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3"/>
                </a:lnSpc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554253" y="293456"/>
            <a:ext cx="872693" cy="735244"/>
          </a:xfrm>
          <a:custGeom>
            <a:avLst/>
            <a:gdLst/>
            <a:ahLst/>
            <a:cxnLst/>
            <a:rect l="l" t="t" r="r" b="b"/>
            <a:pathLst>
              <a:path w="872693" h="735244">
                <a:moveTo>
                  <a:pt x="0" y="0"/>
                </a:moveTo>
                <a:lnTo>
                  <a:pt x="872694" y="0"/>
                </a:lnTo>
                <a:lnTo>
                  <a:pt x="872694" y="735244"/>
                </a:lnTo>
                <a:lnTo>
                  <a:pt x="0" y="7352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Box 8"/>
          <p:cNvSpPr txBox="1"/>
          <p:nvPr/>
        </p:nvSpPr>
        <p:spPr>
          <a:xfrm>
            <a:off x="1639874" y="661078"/>
            <a:ext cx="3744178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ANTECEDENTES GENERALES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05348" y="323493"/>
            <a:ext cx="6725073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CONTEXTO – ANTECEDENTES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Freeform 11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AutoShape 12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3" name="Group 13"/>
          <p:cNvGrpSpPr/>
          <p:nvPr/>
        </p:nvGrpSpPr>
        <p:grpSpPr>
          <a:xfrm>
            <a:off x="414318" y="2165929"/>
            <a:ext cx="7390027" cy="7302194"/>
            <a:chOff x="0" y="0"/>
            <a:chExt cx="22808686" cy="2253759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808685" cy="22537595"/>
            </a:xfrm>
            <a:custGeom>
              <a:avLst/>
              <a:gdLst/>
              <a:ahLst/>
              <a:cxnLst/>
              <a:rect l="l" t="t" r="r" b="b"/>
              <a:pathLst>
                <a:path w="22808685" h="22537595">
                  <a:moveTo>
                    <a:pt x="3143" y="0"/>
                  </a:moveTo>
                  <a:lnTo>
                    <a:pt x="22805543" y="0"/>
                  </a:lnTo>
                  <a:cubicBezTo>
                    <a:pt x="22806375" y="0"/>
                    <a:pt x="22807175" y="331"/>
                    <a:pt x="22807764" y="921"/>
                  </a:cubicBezTo>
                  <a:cubicBezTo>
                    <a:pt x="22808354" y="1510"/>
                    <a:pt x="22808685" y="2309"/>
                    <a:pt x="22808685" y="3143"/>
                  </a:cubicBezTo>
                  <a:lnTo>
                    <a:pt x="22808685" y="22534452"/>
                  </a:lnTo>
                  <a:cubicBezTo>
                    <a:pt x="22808685" y="22536187"/>
                    <a:pt x="22807278" y="22537595"/>
                    <a:pt x="22805543" y="22537595"/>
                  </a:cubicBezTo>
                  <a:lnTo>
                    <a:pt x="3143" y="22537595"/>
                  </a:lnTo>
                  <a:cubicBezTo>
                    <a:pt x="2309" y="22537595"/>
                    <a:pt x="1510" y="22537263"/>
                    <a:pt x="921" y="22536674"/>
                  </a:cubicBezTo>
                  <a:cubicBezTo>
                    <a:pt x="331" y="22536085"/>
                    <a:pt x="0" y="22535285"/>
                    <a:pt x="0" y="22534452"/>
                  </a:cubicBezTo>
                  <a:lnTo>
                    <a:pt x="0" y="3143"/>
                  </a:lnTo>
                  <a:cubicBezTo>
                    <a:pt x="0" y="1407"/>
                    <a:pt x="1407" y="0"/>
                    <a:pt x="3143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808686" cy="22575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54253" y="2350246"/>
            <a:ext cx="7095756" cy="7343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Describa el contexto en el que se desarrollaba la actividad, incluyendo tipo de tarea, condiciones ambientales, equipos o instalaciones involucradas, características del área de trabajo y cualquier información previa relevante (ej. actividades simultáneas, condiciones de orden y limpieza, cambios de turno, antecedentes de eventos similares, etc.).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688"/>
              </a:lnSpc>
            </a:pPr>
            <a:r>
              <a:rPr lang="es-CL" sz="1991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</a:t>
            </a:r>
          </a:p>
          <a:p>
            <a:pPr algn="just">
              <a:lnSpc>
                <a:spcPts val="2688"/>
              </a:lnSpc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“La tarea consistía en realizar mantenimiento preventivo a la correa transportadora N°2 en el área de molienda. El trabajo se ejecutaba en horario nocturno, con baja iluminación y ruido elevado. Se encontraban presentes equipos de </a:t>
            </a:r>
            <a:r>
              <a:rPr lang="es-CL" sz="1991" noProof="0" dirty="0" err="1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izaje</a:t>
            </a: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 en operación paralela y existían condiciones de polvo en suspensión. El área había presentado incidentes similares en los últimos seis meses, relacionados con fallas en la señalización y procedimientos de bloqueo.”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9494703" y="2165929"/>
            <a:ext cx="8023167" cy="286723"/>
            <a:chOff x="0" y="0"/>
            <a:chExt cx="2744625" cy="980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744625" cy="98084"/>
            </a:xfrm>
            <a:custGeom>
              <a:avLst/>
              <a:gdLst/>
              <a:ahLst/>
              <a:cxnLst/>
              <a:rect l="l" t="t" r="r" b="b"/>
              <a:pathLst>
                <a:path w="2744625" h="98084">
                  <a:moveTo>
                    <a:pt x="19299" y="0"/>
                  </a:moveTo>
                  <a:lnTo>
                    <a:pt x="2725327" y="0"/>
                  </a:lnTo>
                  <a:cubicBezTo>
                    <a:pt x="2735985" y="0"/>
                    <a:pt x="2744625" y="8640"/>
                    <a:pt x="2744625" y="19299"/>
                  </a:cubicBezTo>
                  <a:lnTo>
                    <a:pt x="2744625" y="78785"/>
                  </a:lnTo>
                  <a:cubicBezTo>
                    <a:pt x="2744625" y="83904"/>
                    <a:pt x="2742592" y="88813"/>
                    <a:pt x="2738973" y="92432"/>
                  </a:cubicBezTo>
                  <a:cubicBezTo>
                    <a:pt x="2735354" y="96051"/>
                    <a:pt x="2730445" y="98084"/>
                    <a:pt x="2725327" y="98084"/>
                  </a:cubicBezTo>
                  <a:lnTo>
                    <a:pt x="19299" y="98084"/>
                  </a:lnTo>
                  <a:cubicBezTo>
                    <a:pt x="14181" y="98084"/>
                    <a:pt x="9272" y="96051"/>
                    <a:pt x="5653" y="92432"/>
                  </a:cubicBezTo>
                  <a:cubicBezTo>
                    <a:pt x="2033" y="88813"/>
                    <a:pt x="0" y="83904"/>
                    <a:pt x="0" y="78785"/>
                  </a:cubicBezTo>
                  <a:lnTo>
                    <a:pt x="0" y="19299"/>
                  </a:lnTo>
                  <a:cubicBezTo>
                    <a:pt x="0" y="14181"/>
                    <a:pt x="2033" y="9272"/>
                    <a:pt x="5653" y="5653"/>
                  </a:cubicBezTo>
                  <a:cubicBezTo>
                    <a:pt x="9272" y="2033"/>
                    <a:pt x="14181" y="0"/>
                    <a:pt x="192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0000"/>
                  </a:srgbClr>
                </a:gs>
                <a:gs pos="100000">
                  <a:srgbClr val="FF914D">
                    <a:alpha val="9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744625" cy="117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001543" y="2197846"/>
            <a:ext cx="3009486" cy="260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9"/>
              </a:lnSpc>
              <a:spcBef>
                <a:spcPct val="0"/>
              </a:spcBef>
            </a:pPr>
            <a:r>
              <a:rPr lang="es-CL" sz="1773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Respaldo fotográfico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494703" y="2452652"/>
            <a:ext cx="8023167" cy="7015471"/>
            <a:chOff x="0" y="0"/>
            <a:chExt cx="24762817" cy="2165264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762817" cy="21652649"/>
            </a:xfrm>
            <a:custGeom>
              <a:avLst/>
              <a:gdLst/>
              <a:ahLst/>
              <a:cxnLst/>
              <a:rect l="l" t="t" r="r" b="b"/>
              <a:pathLst>
                <a:path w="24762817" h="21652649">
                  <a:moveTo>
                    <a:pt x="2895" y="0"/>
                  </a:moveTo>
                  <a:lnTo>
                    <a:pt x="24759923" y="0"/>
                  </a:lnTo>
                  <a:cubicBezTo>
                    <a:pt x="24761521" y="0"/>
                    <a:pt x="24762817" y="1296"/>
                    <a:pt x="24762817" y="2895"/>
                  </a:cubicBezTo>
                  <a:lnTo>
                    <a:pt x="24762817" y="21649754"/>
                  </a:lnTo>
                  <a:cubicBezTo>
                    <a:pt x="24762817" y="21651353"/>
                    <a:pt x="24761521" y="21652649"/>
                    <a:pt x="24759923" y="21652649"/>
                  </a:cubicBezTo>
                  <a:lnTo>
                    <a:pt x="2895" y="21652649"/>
                  </a:lnTo>
                  <a:cubicBezTo>
                    <a:pt x="1296" y="21652649"/>
                    <a:pt x="0" y="21651353"/>
                    <a:pt x="0" y="21649754"/>
                  </a:cubicBezTo>
                  <a:lnTo>
                    <a:pt x="0" y="2895"/>
                  </a:lnTo>
                  <a:cubicBezTo>
                    <a:pt x="0" y="1296"/>
                    <a:pt x="1296" y="0"/>
                    <a:pt x="2895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4762817" cy="21690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-36580"/>
            <a:ext cx="8958189" cy="124404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554253" y="293456"/>
            <a:ext cx="872693" cy="735244"/>
          </a:xfrm>
          <a:custGeom>
            <a:avLst/>
            <a:gdLst/>
            <a:ahLst/>
            <a:cxnLst/>
            <a:rect l="l" t="t" r="r" b="b"/>
            <a:pathLst>
              <a:path w="872693" h="735244">
                <a:moveTo>
                  <a:pt x="0" y="0"/>
                </a:moveTo>
                <a:lnTo>
                  <a:pt x="872694" y="0"/>
                </a:lnTo>
                <a:lnTo>
                  <a:pt x="872694" y="735244"/>
                </a:lnTo>
                <a:lnTo>
                  <a:pt x="0" y="7352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Box 8"/>
          <p:cNvSpPr txBox="1"/>
          <p:nvPr/>
        </p:nvSpPr>
        <p:spPr>
          <a:xfrm>
            <a:off x="1605348" y="635256"/>
            <a:ext cx="6725073" cy="56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DESCRIPCIÓN DEL ACCIDENTE</a:t>
            </a:r>
          </a:p>
          <a:p>
            <a:pPr algn="l">
              <a:lnSpc>
                <a:spcPts val="2120"/>
              </a:lnSpc>
            </a:pPr>
            <a:endParaRPr lang="es-CL" sz="2000" b="1" noProof="0" dirty="0">
              <a:solidFill>
                <a:srgbClr val="FFFFFF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05348" y="323493"/>
            <a:ext cx="6725073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CONTEXTO – ANTECEDENTES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Freeform 11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AutoShape 12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3" name="Group 13"/>
          <p:cNvGrpSpPr/>
          <p:nvPr/>
        </p:nvGrpSpPr>
        <p:grpSpPr>
          <a:xfrm>
            <a:off x="554253" y="1885097"/>
            <a:ext cx="7732555" cy="5251975"/>
            <a:chOff x="0" y="0"/>
            <a:chExt cx="23865869" cy="162097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865869" cy="16209772"/>
            </a:xfrm>
            <a:custGeom>
              <a:avLst/>
              <a:gdLst/>
              <a:ahLst/>
              <a:cxnLst/>
              <a:rect l="l" t="t" r="r" b="b"/>
              <a:pathLst>
                <a:path w="23865869" h="16209772">
                  <a:moveTo>
                    <a:pt x="3004" y="0"/>
                  </a:moveTo>
                  <a:lnTo>
                    <a:pt x="23862866" y="0"/>
                  </a:lnTo>
                  <a:cubicBezTo>
                    <a:pt x="23863661" y="0"/>
                    <a:pt x="23864426" y="316"/>
                    <a:pt x="23864990" y="880"/>
                  </a:cubicBezTo>
                  <a:cubicBezTo>
                    <a:pt x="23865553" y="1443"/>
                    <a:pt x="23865869" y="2207"/>
                    <a:pt x="23865869" y="3004"/>
                  </a:cubicBezTo>
                  <a:lnTo>
                    <a:pt x="23865869" y="16206769"/>
                  </a:lnTo>
                  <a:cubicBezTo>
                    <a:pt x="23865869" y="16208428"/>
                    <a:pt x="23864525" y="16209772"/>
                    <a:pt x="23862866" y="16209772"/>
                  </a:cubicBezTo>
                  <a:lnTo>
                    <a:pt x="3004" y="16209772"/>
                  </a:lnTo>
                  <a:cubicBezTo>
                    <a:pt x="2207" y="16209772"/>
                    <a:pt x="1443" y="16209456"/>
                    <a:pt x="880" y="16208893"/>
                  </a:cubicBezTo>
                  <a:cubicBezTo>
                    <a:pt x="316" y="16208328"/>
                    <a:pt x="0" y="16207564"/>
                    <a:pt x="0" y="16206769"/>
                  </a:cubicBezTo>
                  <a:lnTo>
                    <a:pt x="0" y="3004"/>
                  </a:lnTo>
                  <a:cubicBezTo>
                    <a:pt x="0" y="2207"/>
                    <a:pt x="316" y="1443"/>
                    <a:pt x="880" y="880"/>
                  </a:cubicBezTo>
                  <a:cubicBezTo>
                    <a:pt x="1443" y="316"/>
                    <a:pt x="2207" y="0"/>
                    <a:pt x="3004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3865869" cy="16247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63542" y="2017717"/>
            <a:ext cx="6998223" cy="5343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Resuma de forma objetiva lo ocurrido: qué pasó, dónde, cuándo y quiénes estaban involucrados. Identifique el riesgo de fatalidad manifestado y los controles críticos ausentes o fallidos.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688"/>
              </a:lnSpc>
            </a:pPr>
            <a:r>
              <a:rPr lang="es-CL" sz="1991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</a:t>
            </a:r>
          </a:p>
          <a:p>
            <a:pPr algn="just">
              <a:lnSpc>
                <a:spcPts val="2688"/>
              </a:lnSpc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“El día 12/03/2025, a las 22:15 </a:t>
            </a:r>
            <a:r>
              <a:rPr lang="es-CL" sz="1991" noProof="0" dirty="0" err="1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hrs</a:t>
            </a: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., en la correa transportadora N°2 del área de molienda, un trabajador de la empresa contratista X resultó atrapado al realizar labores de mantenimiento sin aplicar el procedimiento de bloqueo y etiquetado. Se manifestó el riesgo de atrapamiento por energía mecánica, evidenciándose la ausencia del control crítico de bloqueo y la falta de supervisión en terreno.”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741693" y="7679998"/>
            <a:ext cx="2789993" cy="363028"/>
            <a:chOff x="0" y="0"/>
            <a:chExt cx="10031403" cy="130526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31402" cy="1305267"/>
            </a:xfrm>
            <a:custGeom>
              <a:avLst/>
              <a:gdLst/>
              <a:ahLst/>
              <a:cxnLst/>
              <a:rect l="l" t="t" r="r" b="b"/>
              <a:pathLst>
                <a:path w="10031402" h="1305267">
                  <a:moveTo>
                    <a:pt x="8325" y="0"/>
                  </a:moveTo>
                  <a:lnTo>
                    <a:pt x="10023078" y="0"/>
                  </a:lnTo>
                  <a:cubicBezTo>
                    <a:pt x="10027676" y="0"/>
                    <a:pt x="10031402" y="3727"/>
                    <a:pt x="10031402" y="8325"/>
                  </a:cubicBezTo>
                  <a:lnTo>
                    <a:pt x="10031402" y="1296942"/>
                  </a:lnTo>
                  <a:cubicBezTo>
                    <a:pt x="10031402" y="1301539"/>
                    <a:pt x="10027676" y="1305267"/>
                    <a:pt x="10023078" y="1305267"/>
                  </a:cubicBezTo>
                  <a:lnTo>
                    <a:pt x="8325" y="1305267"/>
                  </a:lnTo>
                  <a:cubicBezTo>
                    <a:pt x="3727" y="1305267"/>
                    <a:pt x="0" y="1301539"/>
                    <a:pt x="0" y="1296942"/>
                  </a:cubicBezTo>
                  <a:lnTo>
                    <a:pt x="0" y="8325"/>
                  </a:lnTo>
                  <a:cubicBezTo>
                    <a:pt x="0" y="3727"/>
                    <a:pt x="3727" y="0"/>
                    <a:pt x="8325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031403" cy="1352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06307" y="7677425"/>
            <a:ext cx="729607" cy="27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s-CL" sz="1184" b="1" noProof="0" dirty="0">
                <a:solidFill>
                  <a:srgbClr val="FF6D4D">
                    <a:alpha val="83922"/>
                  </a:srgbClr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División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79221" y="7753625"/>
            <a:ext cx="1983492" cy="20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58"/>
              </a:lnSpc>
              <a:spcBef>
                <a:spcPct val="0"/>
              </a:spcBef>
            </a:pPr>
            <a:r>
              <a:rPr lang="es-CL" sz="1184" i="1" noProof="0" dirty="0">
                <a:solidFill>
                  <a:srgbClr val="545454"/>
                </a:solidFill>
                <a:latin typeface="Poppins 1 Italics"/>
                <a:ea typeface="Poppins 1 Italics"/>
                <a:cs typeface="Poppins 1 Italics"/>
                <a:sym typeface="Poppins 1 Italics"/>
              </a:rPr>
              <a:t>[Nombre de la División]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671873" y="7679998"/>
            <a:ext cx="2658547" cy="363028"/>
            <a:chOff x="0" y="0"/>
            <a:chExt cx="9558789" cy="130526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558789" cy="1305267"/>
            </a:xfrm>
            <a:custGeom>
              <a:avLst/>
              <a:gdLst/>
              <a:ahLst/>
              <a:cxnLst/>
              <a:rect l="l" t="t" r="r" b="b"/>
              <a:pathLst>
                <a:path w="9558789" h="1305267">
                  <a:moveTo>
                    <a:pt x="8736" y="0"/>
                  </a:moveTo>
                  <a:lnTo>
                    <a:pt x="9550054" y="0"/>
                  </a:lnTo>
                  <a:cubicBezTo>
                    <a:pt x="9552370" y="0"/>
                    <a:pt x="9554592" y="920"/>
                    <a:pt x="9556231" y="2559"/>
                  </a:cubicBezTo>
                  <a:cubicBezTo>
                    <a:pt x="9557869" y="4197"/>
                    <a:pt x="9558789" y="6419"/>
                    <a:pt x="9558789" y="8736"/>
                  </a:cubicBezTo>
                  <a:lnTo>
                    <a:pt x="9558789" y="1296530"/>
                  </a:lnTo>
                  <a:cubicBezTo>
                    <a:pt x="9558789" y="1301355"/>
                    <a:pt x="9554878" y="1305267"/>
                    <a:pt x="9550054" y="1305267"/>
                  </a:cubicBezTo>
                  <a:lnTo>
                    <a:pt x="8736" y="1305267"/>
                  </a:lnTo>
                  <a:cubicBezTo>
                    <a:pt x="3911" y="1305267"/>
                    <a:pt x="0" y="1301355"/>
                    <a:pt x="0" y="1296530"/>
                  </a:cubicBezTo>
                  <a:lnTo>
                    <a:pt x="0" y="8736"/>
                  </a:lnTo>
                  <a:cubicBezTo>
                    <a:pt x="0" y="3911"/>
                    <a:pt x="3911" y="0"/>
                    <a:pt x="8736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9558789" cy="1352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836486" y="7677425"/>
            <a:ext cx="729607" cy="27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s-CL" sz="1184" b="1" noProof="0" dirty="0">
                <a:solidFill>
                  <a:srgbClr val="FF6D4D">
                    <a:alpha val="83922"/>
                  </a:srgbClr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Fecha</a:t>
            </a:r>
          </a:p>
        </p:txBody>
      </p:sp>
      <p:sp>
        <p:nvSpPr>
          <p:cNvPr id="26" name="Freeform 26"/>
          <p:cNvSpPr/>
          <p:nvPr/>
        </p:nvSpPr>
        <p:spPr>
          <a:xfrm>
            <a:off x="5868986" y="7751308"/>
            <a:ext cx="219967" cy="219967"/>
          </a:xfrm>
          <a:custGeom>
            <a:avLst/>
            <a:gdLst/>
            <a:ahLst/>
            <a:cxnLst/>
            <a:rect l="l" t="t" r="r" b="b"/>
            <a:pathLst>
              <a:path w="219967" h="219967">
                <a:moveTo>
                  <a:pt x="0" y="0"/>
                </a:moveTo>
                <a:lnTo>
                  <a:pt x="219968" y="0"/>
                </a:lnTo>
                <a:lnTo>
                  <a:pt x="219968" y="219967"/>
                </a:lnTo>
                <a:lnTo>
                  <a:pt x="0" y="2199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TextBox 27"/>
          <p:cNvSpPr txBox="1"/>
          <p:nvPr/>
        </p:nvSpPr>
        <p:spPr>
          <a:xfrm>
            <a:off x="6572401" y="7745556"/>
            <a:ext cx="1249162" cy="20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58"/>
              </a:lnSpc>
              <a:spcBef>
                <a:spcPct val="0"/>
              </a:spcBef>
            </a:pPr>
            <a:r>
              <a:rPr lang="es-CL" sz="1184" i="1" noProof="0" dirty="0">
                <a:solidFill>
                  <a:srgbClr val="545454"/>
                </a:solidFill>
                <a:latin typeface="Poppins 1 Italics"/>
                <a:ea typeface="Poppins 1 Italics"/>
                <a:cs typeface="Poppins 1 Italics"/>
                <a:sym typeface="Poppins 1 Italics"/>
              </a:rPr>
              <a:t>[dd/mm/aaaa]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724650" y="8547851"/>
            <a:ext cx="2807036" cy="363028"/>
            <a:chOff x="0" y="0"/>
            <a:chExt cx="10092681" cy="130526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092681" cy="1305267"/>
            </a:xfrm>
            <a:custGeom>
              <a:avLst/>
              <a:gdLst/>
              <a:ahLst/>
              <a:cxnLst/>
              <a:rect l="l" t="t" r="r" b="b"/>
              <a:pathLst>
                <a:path w="10092681" h="1305267">
                  <a:moveTo>
                    <a:pt x="8274" y="0"/>
                  </a:moveTo>
                  <a:lnTo>
                    <a:pt x="10084407" y="0"/>
                  </a:lnTo>
                  <a:cubicBezTo>
                    <a:pt x="10086601" y="0"/>
                    <a:pt x="10088706" y="872"/>
                    <a:pt x="10090258" y="2423"/>
                  </a:cubicBezTo>
                  <a:cubicBezTo>
                    <a:pt x="10091809" y="3975"/>
                    <a:pt x="10092681" y="6080"/>
                    <a:pt x="10092681" y="8274"/>
                  </a:cubicBezTo>
                  <a:lnTo>
                    <a:pt x="10092681" y="1296992"/>
                  </a:lnTo>
                  <a:cubicBezTo>
                    <a:pt x="10092681" y="1301562"/>
                    <a:pt x="10088976" y="1305267"/>
                    <a:pt x="10084407" y="1305267"/>
                  </a:cubicBezTo>
                  <a:lnTo>
                    <a:pt x="8274" y="1305267"/>
                  </a:lnTo>
                  <a:cubicBezTo>
                    <a:pt x="3704" y="1305267"/>
                    <a:pt x="0" y="1301562"/>
                    <a:pt x="0" y="1296992"/>
                  </a:cubicBezTo>
                  <a:lnTo>
                    <a:pt x="0" y="8274"/>
                  </a:lnTo>
                  <a:cubicBezTo>
                    <a:pt x="0" y="3704"/>
                    <a:pt x="3704" y="0"/>
                    <a:pt x="8274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0092681" cy="1352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70213" y="8545278"/>
            <a:ext cx="729607" cy="27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s-CL" sz="1184" b="1" noProof="0" dirty="0">
                <a:solidFill>
                  <a:srgbClr val="FF6D4D">
                    <a:alpha val="83922"/>
                  </a:srgbClr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Empresa</a:t>
            </a:r>
          </a:p>
        </p:txBody>
      </p:sp>
      <p:sp>
        <p:nvSpPr>
          <p:cNvPr id="32" name="Freeform 32"/>
          <p:cNvSpPr/>
          <p:nvPr/>
        </p:nvSpPr>
        <p:spPr>
          <a:xfrm>
            <a:off x="1893095" y="8592403"/>
            <a:ext cx="256119" cy="273924"/>
          </a:xfrm>
          <a:custGeom>
            <a:avLst/>
            <a:gdLst/>
            <a:ahLst/>
            <a:cxnLst/>
            <a:rect l="l" t="t" r="r" b="b"/>
            <a:pathLst>
              <a:path w="256119" h="273924">
                <a:moveTo>
                  <a:pt x="0" y="0"/>
                </a:moveTo>
                <a:lnTo>
                  <a:pt x="256119" y="0"/>
                </a:lnTo>
                <a:lnTo>
                  <a:pt x="256119" y="273924"/>
                </a:lnTo>
                <a:lnTo>
                  <a:pt x="0" y="2739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3" name="TextBox 33"/>
          <p:cNvSpPr txBox="1"/>
          <p:nvPr/>
        </p:nvSpPr>
        <p:spPr>
          <a:xfrm>
            <a:off x="2231260" y="8622194"/>
            <a:ext cx="1983492" cy="20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58"/>
              </a:lnSpc>
              <a:spcBef>
                <a:spcPct val="0"/>
              </a:spcBef>
            </a:pPr>
            <a:r>
              <a:rPr lang="es-CL" sz="1184" i="1" noProof="0" dirty="0">
                <a:solidFill>
                  <a:srgbClr val="545454"/>
                </a:solidFill>
                <a:latin typeface="Poppins 1 Italics"/>
                <a:ea typeface="Poppins 1 Italics"/>
                <a:cs typeface="Poppins 1 Italics"/>
                <a:sym typeface="Poppins 1 Italics"/>
              </a:rPr>
              <a:t>[Nombre de la Empresa]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671873" y="8547851"/>
            <a:ext cx="2658547" cy="363028"/>
            <a:chOff x="0" y="0"/>
            <a:chExt cx="9558789" cy="130526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558789" cy="1305267"/>
            </a:xfrm>
            <a:custGeom>
              <a:avLst/>
              <a:gdLst/>
              <a:ahLst/>
              <a:cxnLst/>
              <a:rect l="l" t="t" r="r" b="b"/>
              <a:pathLst>
                <a:path w="9558789" h="1305267">
                  <a:moveTo>
                    <a:pt x="8736" y="0"/>
                  </a:moveTo>
                  <a:lnTo>
                    <a:pt x="9550054" y="0"/>
                  </a:lnTo>
                  <a:cubicBezTo>
                    <a:pt x="9552370" y="0"/>
                    <a:pt x="9554592" y="920"/>
                    <a:pt x="9556231" y="2559"/>
                  </a:cubicBezTo>
                  <a:cubicBezTo>
                    <a:pt x="9557869" y="4197"/>
                    <a:pt x="9558789" y="6419"/>
                    <a:pt x="9558789" y="8736"/>
                  </a:cubicBezTo>
                  <a:lnTo>
                    <a:pt x="9558789" y="1296530"/>
                  </a:lnTo>
                  <a:cubicBezTo>
                    <a:pt x="9558789" y="1301355"/>
                    <a:pt x="9554878" y="1305267"/>
                    <a:pt x="9550054" y="1305267"/>
                  </a:cubicBezTo>
                  <a:lnTo>
                    <a:pt x="8736" y="1305267"/>
                  </a:lnTo>
                  <a:cubicBezTo>
                    <a:pt x="3911" y="1305267"/>
                    <a:pt x="0" y="1301355"/>
                    <a:pt x="0" y="1296530"/>
                  </a:cubicBezTo>
                  <a:lnTo>
                    <a:pt x="0" y="8736"/>
                  </a:lnTo>
                  <a:cubicBezTo>
                    <a:pt x="0" y="3911"/>
                    <a:pt x="3911" y="0"/>
                    <a:pt x="8736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9558789" cy="1352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4886764" y="8573737"/>
            <a:ext cx="449987" cy="27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s-CL" sz="1184" b="1" noProof="0" dirty="0">
                <a:solidFill>
                  <a:srgbClr val="FF6D4D">
                    <a:alpha val="83922"/>
                  </a:srgbClr>
                </a:solidFill>
                <a:latin typeface="Poppins 1 Bold"/>
                <a:ea typeface="Poppins 1 Bold"/>
                <a:cs typeface="Poppins 1 Bold"/>
                <a:sym typeface="Poppins 1 Bold"/>
              </a:rPr>
              <a:t>Hora</a:t>
            </a:r>
          </a:p>
        </p:txBody>
      </p:sp>
      <p:sp>
        <p:nvSpPr>
          <p:cNvPr id="38" name="Freeform 38"/>
          <p:cNvSpPr/>
          <p:nvPr/>
        </p:nvSpPr>
        <p:spPr>
          <a:xfrm>
            <a:off x="5850760" y="8612290"/>
            <a:ext cx="256420" cy="256420"/>
          </a:xfrm>
          <a:custGeom>
            <a:avLst/>
            <a:gdLst/>
            <a:ahLst/>
            <a:cxnLst/>
            <a:rect l="l" t="t" r="r" b="b"/>
            <a:pathLst>
              <a:path w="256420" h="256420">
                <a:moveTo>
                  <a:pt x="0" y="0"/>
                </a:moveTo>
                <a:lnTo>
                  <a:pt x="256420" y="0"/>
                </a:lnTo>
                <a:lnTo>
                  <a:pt x="256420" y="256420"/>
                </a:lnTo>
                <a:lnTo>
                  <a:pt x="0" y="2564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9" name="TextBox 39"/>
          <p:cNvSpPr txBox="1"/>
          <p:nvPr/>
        </p:nvSpPr>
        <p:spPr>
          <a:xfrm>
            <a:off x="6680409" y="8619569"/>
            <a:ext cx="1202885" cy="20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58"/>
              </a:lnSpc>
              <a:spcBef>
                <a:spcPct val="0"/>
              </a:spcBef>
            </a:pPr>
            <a:r>
              <a:rPr lang="es-CL" sz="1184" i="1" noProof="0" dirty="0">
                <a:solidFill>
                  <a:srgbClr val="545454"/>
                </a:solidFill>
                <a:latin typeface="Poppins 1 Italics"/>
                <a:ea typeface="Poppins 1 Italics"/>
                <a:cs typeface="Poppins 1 Italics"/>
                <a:sym typeface="Poppins 1 Italics"/>
              </a:rPr>
              <a:t>[</a:t>
            </a:r>
            <a:r>
              <a:rPr lang="es-CL" sz="1184" i="1" noProof="0" dirty="0" err="1">
                <a:solidFill>
                  <a:srgbClr val="545454"/>
                </a:solidFill>
                <a:latin typeface="Poppins 1 Italics"/>
                <a:ea typeface="Poppins 1 Italics"/>
                <a:cs typeface="Poppins 1 Italics"/>
                <a:sym typeface="Poppins 1 Italics"/>
              </a:rPr>
              <a:t>hh:mm</a:t>
            </a:r>
            <a:r>
              <a:rPr lang="es-CL" sz="1184" i="1" noProof="0" dirty="0">
                <a:solidFill>
                  <a:srgbClr val="545454"/>
                </a:solidFill>
                <a:latin typeface="Poppins 1 Italics"/>
                <a:ea typeface="Poppins 1 Italics"/>
                <a:cs typeface="Poppins 1 Italics"/>
                <a:sym typeface="Poppins 1 Italics"/>
              </a:rPr>
              <a:t> </a:t>
            </a:r>
            <a:r>
              <a:rPr lang="es-CL" sz="1184" i="1" noProof="0" dirty="0" err="1">
                <a:solidFill>
                  <a:srgbClr val="545454"/>
                </a:solidFill>
                <a:latin typeface="Poppins 1 Italics"/>
                <a:ea typeface="Poppins 1 Italics"/>
                <a:cs typeface="Poppins 1 Italics"/>
                <a:sym typeface="Poppins 1 Italics"/>
              </a:rPr>
              <a:t>hrs</a:t>
            </a:r>
            <a:r>
              <a:rPr lang="es-CL" sz="1184" i="1" noProof="0" dirty="0">
                <a:solidFill>
                  <a:srgbClr val="545454"/>
                </a:solidFill>
                <a:latin typeface="Poppins 1 Italics"/>
                <a:ea typeface="Poppins 1 Italics"/>
                <a:cs typeface="Poppins 1 Italics"/>
                <a:sym typeface="Poppins 1 Italics"/>
              </a:rPr>
              <a:t>]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707607" y="9415705"/>
            <a:ext cx="2824079" cy="363028"/>
            <a:chOff x="0" y="0"/>
            <a:chExt cx="10153960" cy="130526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153960" cy="1305267"/>
            </a:xfrm>
            <a:custGeom>
              <a:avLst/>
              <a:gdLst/>
              <a:ahLst/>
              <a:cxnLst/>
              <a:rect l="l" t="t" r="r" b="b"/>
              <a:pathLst>
                <a:path w="10153960" h="1305267">
                  <a:moveTo>
                    <a:pt x="8224" y="0"/>
                  </a:moveTo>
                  <a:lnTo>
                    <a:pt x="10145736" y="0"/>
                  </a:lnTo>
                  <a:cubicBezTo>
                    <a:pt x="10150278" y="0"/>
                    <a:pt x="10153960" y="3682"/>
                    <a:pt x="10153960" y="8224"/>
                  </a:cubicBezTo>
                  <a:lnTo>
                    <a:pt x="10153960" y="1297042"/>
                  </a:lnTo>
                  <a:cubicBezTo>
                    <a:pt x="10153960" y="1299224"/>
                    <a:pt x="10153093" y="1301315"/>
                    <a:pt x="10151551" y="1302858"/>
                  </a:cubicBezTo>
                  <a:cubicBezTo>
                    <a:pt x="10150009" y="1304400"/>
                    <a:pt x="10147917" y="1305267"/>
                    <a:pt x="10145736" y="1305267"/>
                  </a:cubicBezTo>
                  <a:lnTo>
                    <a:pt x="8224" y="1305267"/>
                  </a:lnTo>
                  <a:cubicBezTo>
                    <a:pt x="3682" y="1305267"/>
                    <a:pt x="0" y="1301584"/>
                    <a:pt x="0" y="1297042"/>
                  </a:cubicBezTo>
                  <a:lnTo>
                    <a:pt x="0" y="8224"/>
                  </a:lnTo>
                  <a:cubicBezTo>
                    <a:pt x="0" y="3682"/>
                    <a:pt x="3682" y="0"/>
                    <a:pt x="8224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0153960" cy="1352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870213" y="9446052"/>
            <a:ext cx="729607" cy="470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3"/>
              </a:lnSpc>
            </a:pPr>
            <a:r>
              <a:rPr lang="es-CL" sz="1184" b="1" noProof="0" dirty="0">
                <a:solidFill>
                  <a:srgbClr val="FF6D4D">
                    <a:alpha val="83922"/>
                  </a:srgbClr>
                </a:solidFill>
                <a:latin typeface="Poppins 1 Bold"/>
                <a:ea typeface="Poppins 1 Bold"/>
                <a:cs typeface="Poppins 1 Bold"/>
                <a:sym typeface="Poppins 1 Bold"/>
              </a:rPr>
              <a:t>Gerencia</a:t>
            </a:r>
          </a:p>
          <a:p>
            <a:pPr algn="l">
              <a:lnSpc>
                <a:spcPts val="1243"/>
              </a:lnSpc>
            </a:pPr>
            <a:r>
              <a:rPr lang="es-CL" sz="1184" b="1" noProof="0" dirty="0" err="1">
                <a:solidFill>
                  <a:srgbClr val="FF6D4D">
                    <a:alpha val="83922"/>
                  </a:srgbClr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Superint</a:t>
            </a:r>
            <a:r>
              <a:rPr lang="es-CL" sz="1184" b="1" noProof="0" dirty="0">
                <a:solidFill>
                  <a:srgbClr val="FF6D4D">
                    <a:alpha val="83922"/>
                  </a:srgbClr>
                </a:solidFill>
                <a:latin typeface="Poppins 1 Bold"/>
                <a:ea typeface="Poppins 1 Bold"/>
                <a:cs typeface="Poppins 1 Bold"/>
                <a:sym typeface="Poppins 1 Bold"/>
              </a:rPr>
              <a:t>.</a:t>
            </a:r>
          </a:p>
          <a:p>
            <a:pPr algn="l">
              <a:lnSpc>
                <a:spcPts val="1243"/>
              </a:lnSpc>
            </a:pPr>
            <a:endParaRPr lang="es-CL" sz="1184" b="1" noProof="0" dirty="0">
              <a:solidFill>
                <a:srgbClr val="FF6D4D">
                  <a:alpha val="83922"/>
                </a:srgbClr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5654830" y="9415705"/>
            <a:ext cx="2658547" cy="363028"/>
            <a:chOff x="0" y="0"/>
            <a:chExt cx="9558789" cy="130526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558789" cy="1305267"/>
            </a:xfrm>
            <a:custGeom>
              <a:avLst/>
              <a:gdLst/>
              <a:ahLst/>
              <a:cxnLst/>
              <a:rect l="l" t="t" r="r" b="b"/>
              <a:pathLst>
                <a:path w="9558789" h="1305267">
                  <a:moveTo>
                    <a:pt x="8736" y="0"/>
                  </a:moveTo>
                  <a:lnTo>
                    <a:pt x="9550054" y="0"/>
                  </a:lnTo>
                  <a:cubicBezTo>
                    <a:pt x="9552370" y="0"/>
                    <a:pt x="9554592" y="920"/>
                    <a:pt x="9556231" y="2559"/>
                  </a:cubicBezTo>
                  <a:cubicBezTo>
                    <a:pt x="9557869" y="4197"/>
                    <a:pt x="9558789" y="6419"/>
                    <a:pt x="9558789" y="8736"/>
                  </a:cubicBezTo>
                  <a:lnTo>
                    <a:pt x="9558789" y="1296530"/>
                  </a:lnTo>
                  <a:cubicBezTo>
                    <a:pt x="9558789" y="1301355"/>
                    <a:pt x="9554878" y="1305267"/>
                    <a:pt x="9550054" y="1305267"/>
                  </a:cubicBezTo>
                  <a:lnTo>
                    <a:pt x="8736" y="1305267"/>
                  </a:lnTo>
                  <a:cubicBezTo>
                    <a:pt x="3911" y="1305267"/>
                    <a:pt x="0" y="1301355"/>
                    <a:pt x="0" y="1296530"/>
                  </a:cubicBezTo>
                  <a:lnTo>
                    <a:pt x="0" y="8736"/>
                  </a:lnTo>
                  <a:cubicBezTo>
                    <a:pt x="0" y="3911"/>
                    <a:pt x="3911" y="0"/>
                    <a:pt x="8736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9558789" cy="1352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4886764" y="9380271"/>
            <a:ext cx="696372" cy="470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43"/>
              </a:lnSpc>
              <a:spcBef>
                <a:spcPct val="0"/>
              </a:spcBef>
            </a:pPr>
            <a:r>
              <a:rPr lang="es-CL" sz="1184" b="1" u="none" strike="noStrike" noProof="0" dirty="0">
                <a:solidFill>
                  <a:srgbClr val="FF6D4D">
                    <a:alpha val="83922"/>
                  </a:srgbClr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Proceso </a:t>
            </a:r>
            <a:r>
              <a:rPr lang="es-CL" sz="1184" b="1" u="none" strike="noStrike" noProof="0" dirty="0" err="1">
                <a:solidFill>
                  <a:srgbClr val="FF6D4D">
                    <a:alpha val="83922"/>
                  </a:srgbClr>
                </a:solidFill>
                <a:latin typeface="Poppins 1 Bold"/>
                <a:ea typeface="Poppins 1 Bold"/>
                <a:cs typeface="Poppins 1 Bold"/>
                <a:sym typeface="Poppins 1 Bold"/>
              </a:rPr>
              <a:t>ó</a:t>
            </a:r>
            <a:r>
              <a:rPr lang="es-CL" sz="1184" b="1" u="none" strike="noStrike" noProof="0" dirty="0">
                <a:solidFill>
                  <a:srgbClr val="FF6D4D">
                    <a:alpha val="83922"/>
                  </a:srgbClr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área</a:t>
            </a:r>
          </a:p>
          <a:p>
            <a:pPr marL="0" lvl="0" indent="0" algn="l">
              <a:lnSpc>
                <a:spcPts val="1243"/>
              </a:lnSpc>
              <a:spcBef>
                <a:spcPct val="0"/>
              </a:spcBef>
            </a:pPr>
            <a:endParaRPr lang="es-CL" sz="1184" b="1" u="none" strike="noStrike" noProof="0" dirty="0">
              <a:solidFill>
                <a:srgbClr val="FF6D4D">
                  <a:alpha val="83922"/>
                </a:srgbClr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184669" y="9487423"/>
            <a:ext cx="2102140" cy="20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58"/>
              </a:lnSpc>
              <a:spcBef>
                <a:spcPct val="0"/>
              </a:spcBef>
            </a:pPr>
            <a:r>
              <a:rPr lang="es-CL" sz="1184" i="1" noProof="0" dirty="0">
                <a:solidFill>
                  <a:srgbClr val="545454"/>
                </a:solidFill>
                <a:latin typeface="Poppins 1 Italics"/>
                <a:ea typeface="Poppins 1 Italics"/>
                <a:cs typeface="Poppins 1 Italics"/>
                <a:sym typeface="Poppins 1 Italics"/>
              </a:rPr>
              <a:t>[Área / Proceso específico]</a:t>
            </a:r>
          </a:p>
        </p:txBody>
      </p:sp>
      <p:sp>
        <p:nvSpPr>
          <p:cNvPr id="49" name="Freeform 49"/>
          <p:cNvSpPr/>
          <p:nvPr/>
        </p:nvSpPr>
        <p:spPr>
          <a:xfrm>
            <a:off x="1882113" y="9483828"/>
            <a:ext cx="249735" cy="249050"/>
          </a:xfrm>
          <a:custGeom>
            <a:avLst/>
            <a:gdLst/>
            <a:ahLst/>
            <a:cxnLst/>
            <a:rect l="l" t="t" r="r" b="b"/>
            <a:pathLst>
              <a:path w="249735" h="249050">
                <a:moveTo>
                  <a:pt x="0" y="0"/>
                </a:moveTo>
                <a:lnTo>
                  <a:pt x="249734" y="0"/>
                </a:lnTo>
                <a:lnTo>
                  <a:pt x="249734" y="249050"/>
                </a:lnTo>
                <a:lnTo>
                  <a:pt x="0" y="2490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0" name="TextBox 50"/>
          <p:cNvSpPr txBox="1"/>
          <p:nvPr/>
        </p:nvSpPr>
        <p:spPr>
          <a:xfrm>
            <a:off x="2231260" y="9491905"/>
            <a:ext cx="2221438" cy="18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38"/>
              </a:lnSpc>
              <a:spcBef>
                <a:spcPct val="0"/>
              </a:spcBef>
            </a:pPr>
            <a:r>
              <a:rPr lang="es-CL" sz="1098" i="1" u="none" strike="noStrike" noProof="0" dirty="0">
                <a:solidFill>
                  <a:srgbClr val="545454"/>
                </a:solidFill>
                <a:latin typeface="Montserrat 1 Italics"/>
                <a:ea typeface="Montserrat 1 Italics"/>
                <a:cs typeface="Montserrat 1 Italics"/>
                <a:sym typeface="Montserrat 1 Italics"/>
              </a:rPr>
              <a:t>[Gerencia o Superintendencia ]</a:t>
            </a:r>
          </a:p>
        </p:txBody>
      </p:sp>
      <p:sp>
        <p:nvSpPr>
          <p:cNvPr id="51" name="Freeform 51"/>
          <p:cNvSpPr/>
          <p:nvPr/>
        </p:nvSpPr>
        <p:spPr>
          <a:xfrm>
            <a:off x="5903513" y="9461485"/>
            <a:ext cx="150914" cy="233975"/>
          </a:xfrm>
          <a:custGeom>
            <a:avLst/>
            <a:gdLst/>
            <a:ahLst/>
            <a:cxnLst/>
            <a:rect l="l" t="t" r="r" b="b"/>
            <a:pathLst>
              <a:path w="150914" h="233975">
                <a:moveTo>
                  <a:pt x="0" y="0"/>
                </a:moveTo>
                <a:lnTo>
                  <a:pt x="150914" y="0"/>
                </a:lnTo>
                <a:lnTo>
                  <a:pt x="150914" y="233975"/>
                </a:lnTo>
                <a:lnTo>
                  <a:pt x="0" y="2339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52" name="Group 52"/>
          <p:cNvGrpSpPr/>
          <p:nvPr/>
        </p:nvGrpSpPr>
        <p:grpSpPr>
          <a:xfrm>
            <a:off x="9282869" y="1750268"/>
            <a:ext cx="8023167" cy="286723"/>
            <a:chOff x="0" y="0"/>
            <a:chExt cx="2744625" cy="9808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744625" cy="98084"/>
            </a:xfrm>
            <a:custGeom>
              <a:avLst/>
              <a:gdLst/>
              <a:ahLst/>
              <a:cxnLst/>
              <a:rect l="l" t="t" r="r" b="b"/>
              <a:pathLst>
                <a:path w="2744625" h="98084">
                  <a:moveTo>
                    <a:pt x="19299" y="0"/>
                  </a:moveTo>
                  <a:lnTo>
                    <a:pt x="2725327" y="0"/>
                  </a:lnTo>
                  <a:cubicBezTo>
                    <a:pt x="2735985" y="0"/>
                    <a:pt x="2744625" y="8640"/>
                    <a:pt x="2744625" y="19299"/>
                  </a:cubicBezTo>
                  <a:lnTo>
                    <a:pt x="2744625" y="78785"/>
                  </a:lnTo>
                  <a:cubicBezTo>
                    <a:pt x="2744625" y="83904"/>
                    <a:pt x="2742592" y="88813"/>
                    <a:pt x="2738973" y="92432"/>
                  </a:cubicBezTo>
                  <a:cubicBezTo>
                    <a:pt x="2735354" y="96051"/>
                    <a:pt x="2730445" y="98084"/>
                    <a:pt x="2725327" y="98084"/>
                  </a:cubicBezTo>
                  <a:lnTo>
                    <a:pt x="19299" y="98084"/>
                  </a:lnTo>
                  <a:cubicBezTo>
                    <a:pt x="14181" y="98084"/>
                    <a:pt x="9272" y="96051"/>
                    <a:pt x="5653" y="92432"/>
                  </a:cubicBezTo>
                  <a:cubicBezTo>
                    <a:pt x="2033" y="88813"/>
                    <a:pt x="0" y="83904"/>
                    <a:pt x="0" y="78785"/>
                  </a:cubicBezTo>
                  <a:lnTo>
                    <a:pt x="0" y="19299"/>
                  </a:lnTo>
                  <a:cubicBezTo>
                    <a:pt x="0" y="14181"/>
                    <a:pt x="2033" y="9272"/>
                    <a:pt x="5653" y="5653"/>
                  </a:cubicBezTo>
                  <a:cubicBezTo>
                    <a:pt x="9272" y="2033"/>
                    <a:pt x="14181" y="0"/>
                    <a:pt x="192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0000"/>
                  </a:srgbClr>
                </a:gs>
                <a:gs pos="100000">
                  <a:srgbClr val="FF914D">
                    <a:alpha val="9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2744625" cy="117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282869" y="2036991"/>
            <a:ext cx="8023167" cy="7741742"/>
            <a:chOff x="0" y="0"/>
            <a:chExt cx="24762817" cy="2389422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4762817" cy="23894222"/>
            </a:xfrm>
            <a:custGeom>
              <a:avLst/>
              <a:gdLst/>
              <a:ahLst/>
              <a:cxnLst/>
              <a:rect l="l" t="t" r="r" b="b"/>
              <a:pathLst>
                <a:path w="24762817" h="23894222">
                  <a:moveTo>
                    <a:pt x="2895" y="0"/>
                  </a:moveTo>
                  <a:lnTo>
                    <a:pt x="24759923" y="0"/>
                  </a:lnTo>
                  <a:cubicBezTo>
                    <a:pt x="24761521" y="0"/>
                    <a:pt x="24762817" y="1296"/>
                    <a:pt x="24762817" y="2895"/>
                  </a:cubicBezTo>
                  <a:lnTo>
                    <a:pt x="24762817" y="23891328"/>
                  </a:lnTo>
                  <a:cubicBezTo>
                    <a:pt x="24762817" y="23892926"/>
                    <a:pt x="24761521" y="23894222"/>
                    <a:pt x="24759923" y="23894222"/>
                  </a:cubicBezTo>
                  <a:lnTo>
                    <a:pt x="2895" y="23894222"/>
                  </a:lnTo>
                  <a:cubicBezTo>
                    <a:pt x="1296" y="23894222"/>
                    <a:pt x="0" y="23892926"/>
                    <a:pt x="0" y="23891328"/>
                  </a:cubicBezTo>
                  <a:lnTo>
                    <a:pt x="0" y="2895"/>
                  </a:lnTo>
                  <a:cubicBezTo>
                    <a:pt x="0" y="1296"/>
                    <a:pt x="1296" y="0"/>
                    <a:pt x="2895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24762817" cy="23932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2039106" y="1759793"/>
            <a:ext cx="2510693" cy="260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9"/>
              </a:lnSpc>
              <a:spcBef>
                <a:spcPct val="0"/>
              </a:spcBef>
            </a:pPr>
            <a:r>
              <a:rPr lang="es-CL" sz="1773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Respaldo fotográfico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237355" y="0"/>
            <a:ext cx="8050645" cy="10324610"/>
            <a:chOff x="0" y="0"/>
            <a:chExt cx="2325475" cy="27192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25475" cy="2719239"/>
            </a:xfrm>
            <a:custGeom>
              <a:avLst/>
              <a:gdLst/>
              <a:ahLst/>
              <a:cxnLst/>
              <a:rect l="l" t="t" r="r" b="b"/>
              <a:pathLst>
                <a:path w="2325475" h="2719239">
                  <a:moveTo>
                    <a:pt x="0" y="0"/>
                  </a:moveTo>
                  <a:lnTo>
                    <a:pt x="2325475" y="0"/>
                  </a:lnTo>
                  <a:lnTo>
                    <a:pt x="2325475" y="2719239"/>
                  </a:lnTo>
                  <a:lnTo>
                    <a:pt x="0" y="2719239"/>
                  </a:lnTo>
                  <a:close/>
                </a:path>
              </a:pathLst>
            </a:custGeom>
            <a:solidFill>
              <a:srgbClr val="737373">
                <a:alpha val="43922"/>
              </a:srgbClr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325475" cy="2747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4"/>
                </a:lnSpc>
              </a:pPr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3510783" y="4623265"/>
            <a:ext cx="13382481" cy="173983"/>
          </a:xfrm>
          <a:custGeom>
            <a:avLst/>
            <a:gdLst/>
            <a:ahLst/>
            <a:cxnLst/>
            <a:rect l="l" t="t" r="r" b="b"/>
            <a:pathLst>
              <a:path w="13382481" h="173983">
                <a:moveTo>
                  <a:pt x="0" y="0"/>
                </a:moveTo>
                <a:lnTo>
                  <a:pt x="13382481" y="0"/>
                </a:lnTo>
                <a:lnTo>
                  <a:pt x="13382481" y="173982"/>
                </a:lnTo>
                <a:lnTo>
                  <a:pt x="0" y="173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60677" b="-158463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853683" y="825909"/>
            <a:ext cx="2473721" cy="1452172"/>
          </a:xfrm>
          <a:custGeom>
            <a:avLst/>
            <a:gdLst/>
            <a:ahLst/>
            <a:cxnLst/>
            <a:rect l="l" t="t" r="r" b="b"/>
            <a:pathLst>
              <a:path w="2473721" h="1452172">
                <a:moveTo>
                  <a:pt x="0" y="0"/>
                </a:moveTo>
                <a:lnTo>
                  <a:pt x="2473720" y="0"/>
                </a:lnTo>
                <a:lnTo>
                  <a:pt x="2473720" y="1452172"/>
                </a:lnTo>
                <a:lnTo>
                  <a:pt x="0" y="1452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3857270" y="825909"/>
            <a:ext cx="1707984" cy="1592695"/>
          </a:xfrm>
          <a:custGeom>
            <a:avLst/>
            <a:gdLst/>
            <a:ahLst/>
            <a:cxnLst/>
            <a:rect l="l" t="t" r="r" b="b"/>
            <a:pathLst>
              <a:path w="1707984" h="1592695">
                <a:moveTo>
                  <a:pt x="0" y="0"/>
                </a:moveTo>
                <a:lnTo>
                  <a:pt x="1707985" y="0"/>
                </a:lnTo>
                <a:lnTo>
                  <a:pt x="1707985" y="1592695"/>
                </a:lnTo>
                <a:lnTo>
                  <a:pt x="0" y="1592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3516137" y="1030415"/>
            <a:ext cx="0" cy="1221272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AutoShape 10"/>
          <p:cNvSpPr/>
          <p:nvPr/>
        </p:nvSpPr>
        <p:spPr>
          <a:xfrm flipH="1">
            <a:off x="11630603" y="8009242"/>
            <a:ext cx="1536" cy="474889"/>
          </a:xfrm>
          <a:prstGeom prst="line">
            <a:avLst/>
          </a:prstGeom>
          <a:ln w="66675" cap="rnd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1" name="Group 11"/>
          <p:cNvGrpSpPr/>
          <p:nvPr/>
        </p:nvGrpSpPr>
        <p:grpSpPr>
          <a:xfrm>
            <a:off x="13484029" y="1816903"/>
            <a:ext cx="1522016" cy="1260965"/>
            <a:chOff x="0" y="0"/>
            <a:chExt cx="2029354" cy="1681287"/>
          </a:xfrm>
        </p:grpSpPr>
        <p:grpSp>
          <p:nvGrpSpPr>
            <p:cNvPr id="12" name="Group 12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1153"/>
                  </a:lnSpc>
                </a:pPr>
                <a:endParaRPr lang="es-CL" noProof="0"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1153"/>
                  </a:lnSpc>
                </a:pPr>
                <a:endParaRPr lang="es-CL" noProof="0" dirty="0"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1300481" y="1804599"/>
            <a:ext cx="484780" cy="164601"/>
            <a:chOff x="0" y="0"/>
            <a:chExt cx="219260" cy="74447"/>
          </a:xfrm>
        </p:grpSpPr>
        <p:sp>
          <p:nvSpPr>
            <p:cNvPr id="19" name="Freeform 19"/>
            <p:cNvSpPr/>
            <p:nvPr/>
          </p:nvSpPr>
          <p:spPr>
            <a:xfrm>
              <a:off x="44159" y="14753"/>
              <a:ext cx="130942" cy="59693"/>
            </a:xfrm>
            <a:custGeom>
              <a:avLst/>
              <a:gdLst/>
              <a:ahLst/>
              <a:cxnLst/>
              <a:rect l="l" t="t" r="r" b="b"/>
              <a:pathLst>
                <a:path w="130942" h="59693">
                  <a:moveTo>
                    <a:pt x="120286" y="22470"/>
                  </a:moveTo>
                  <a:lnTo>
                    <a:pt x="120286" y="22470"/>
                  </a:lnTo>
                  <a:cubicBezTo>
                    <a:pt x="127685" y="27495"/>
                    <a:pt x="130942" y="36760"/>
                    <a:pt x="128313" y="45309"/>
                  </a:cubicBezTo>
                  <a:cubicBezTo>
                    <a:pt x="125685" y="53859"/>
                    <a:pt x="117786" y="59694"/>
                    <a:pt x="108842" y="59694"/>
                  </a:cubicBezTo>
                  <a:lnTo>
                    <a:pt x="22100" y="59694"/>
                  </a:lnTo>
                  <a:cubicBezTo>
                    <a:pt x="13155" y="59694"/>
                    <a:pt x="5257" y="53859"/>
                    <a:pt x="2629" y="45309"/>
                  </a:cubicBezTo>
                  <a:cubicBezTo>
                    <a:pt x="0" y="36760"/>
                    <a:pt x="3256" y="27495"/>
                    <a:pt x="10656" y="22470"/>
                  </a:cubicBezTo>
                  <a:lnTo>
                    <a:pt x="10656" y="22470"/>
                  </a:lnTo>
                  <a:cubicBezTo>
                    <a:pt x="43745" y="0"/>
                    <a:pt x="87197" y="0"/>
                    <a:pt x="120286" y="22470"/>
                  </a:cubicBezTo>
                  <a:close/>
                </a:path>
              </a:pathLst>
            </a:custGeom>
            <a:solidFill>
              <a:srgbClr val="E9662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259" y="15515"/>
              <a:ext cx="150741" cy="53615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algn="ctr">
                <a:lnSpc>
                  <a:spcPts val="1153"/>
                </a:lnSpc>
              </a:pPr>
              <a:endParaRPr lang="es-CL" noProof="0" dirty="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839906" y="1925732"/>
            <a:ext cx="1471222" cy="1139832"/>
            <a:chOff x="0" y="0"/>
            <a:chExt cx="711694" cy="5513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1694" cy="551386"/>
            </a:xfrm>
            <a:custGeom>
              <a:avLst/>
              <a:gdLst/>
              <a:ahLst/>
              <a:cxnLst/>
              <a:rect l="l" t="t" r="r" b="b"/>
              <a:pathLst>
                <a:path w="711694" h="551386">
                  <a:moveTo>
                    <a:pt x="0" y="0"/>
                  </a:moveTo>
                  <a:lnTo>
                    <a:pt x="711694" y="0"/>
                  </a:lnTo>
                  <a:lnTo>
                    <a:pt x="711694" y="551386"/>
                  </a:lnTo>
                  <a:lnTo>
                    <a:pt x="0" y="551386"/>
                  </a:lnTo>
                  <a:close/>
                </a:path>
              </a:pathLst>
            </a:custGeom>
            <a:solidFill>
              <a:srgbClr val="E9662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711694" cy="570436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algn="ctr">
                <a:lnSpc>
                  <a:spcPts val="1260"/>
                </a:lnSpc>
              </a:pPr>
              <a:endParaRPr lang="es-CL" noProof="0" dirty="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807" y="1804599"/>
            <a:ext cx="1522016" cy="1260965"/>
            <a:chOff x="0" y="0"/>
            <a:chExt cx="2029354" cy="1681287"/>
          </a:xfrm>
        </p:grpSpPr>
        <p:grpSp>
          <p:nvGrpSpPr>
            <p:cNvPr id="25" name="Group 25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16192807" y="5158716"/>
            <a:ext cx="1522016" cy="1260965"/>
            <a:chOff x="0" y="0"/>
            <a:chExt cx="2029354" cy="1681287"/>
          </a:xfrm>
        </p:grpSpPr>
        <p:grpSp>
          <p:nvGrpSpPr>
            <p:cNvPr id="32" name="Group 32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0839906" y="5151530"/>
            <a:ext cx="1522016" cy="1260965"/>
            <a:chOff x="0" y="0"/>
            <a:chExt cx="2029354" cy="1681287"/>
          </a:xfrm>
        </p:grpSpPr>
        <p:grpSp>
          <p:nvGrpSpPr>
            <p:cNvPr id="39" name="Group 39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13497213" y="5151530"/>
            <a:ext cx="1522016" cy="1260965"/>
            <a:chOff x="0" y="0"/>
            <a:chExt cx="2029354" cy="1681287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10871131" y="8578834"/>
            <a:ext cx="1534035" cy="1139832"/>
            <a:chOff x="0" y="0"/>
            <a:chExt cx="742079" cy="55138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42079" cy="551386"/>
            </a:xfrm>
            <a:custGeom>
              <a:avLst/>
              <a:gdLst/>
              <a:ahLst/>
              <a:cxnLst/>
              <a:rect l="l" t="t" r="r" b="b"/>
              <a:pathLst>
                <a:path w="742079" h="551386">
                  <a:moveTo>
                    <a:pt x="0" y="0"/>
                  </a:moveTo>
                  <a:lnTo>
                    <a:pt x="742079" y="0"/>
                  </a:lnTo>
                  <a:lnTo>
                    <a:pt x="742079" y="551386"/>
                  </a:lnTo>
                  <a:lnTo>
                    <a:pt x="0" y="551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742079" cy="579961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50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388855" y="8457701"/>
            <a:ext cx="483136" cy="164601"/>
            <a:chOff x="0" y="0"/>
            <a:chExt cx="218516" cy="74447"/>
          </a:xfrm>
        </p:grpSpPr>
        <p:sp>
          <p:nvSpPr>
            <p:cNvPr id="56" name="Freeform 56"/>
            <p:cNvSpPr/>
            <p:nvPr/>
          </p:nvSpPr>
          <p:spPr>
            <a:xfrm>
              <a:off x="43994" y="14767"/>
              <a:ext cx="130528" cy="59680"/>
            </a:xfrm>
            <a:custGeom>
              <a:avLst/>
              <a:gdLst/>
              <a:ahLst/>
              <a:cxnLst/>
              <a:rect l="l" t="t" r="r" b="b"/>
              <a:pathLst>
                <a:path w="130528" h="59680">
                  <a:moveTo>
                    <a:pt x="119893" y="22456"/>
                  </a:moveTo>
                  <a:lnTo>
                    <a:pt x="119893" y="22456"/>
                  </a:lnTo>
                  <a:cubicBezTo>
                    <a:pt x="127284" y="27492"/>
                    <a:pt x="130528" y="36758"/>
                    <a:pt x="127893" y="45304"/>
                  </a:cubicBezTo>
                  <a:cubicBezTo>
                    <a:pt x="125258" y="53850"/>
                    <a:pt x="117360" y="59680"/>
                    <a:pt x="108417" y="59680"/>
                  </a:cubicBezTo>
                  <a:lnTo>
                    <a:pt x="22111" y="59680"/>
                  </a:lnTo>
                  <a:cubicBezTo>
                    <a:pt x="13168" y="59680"/>
                    <a:pt x="5270" y="53850"/>
                    <a:pt x="2635" y="45304"/>
                  </a:cubicBezTo>
                  <a:cubicBezTo>
                    <a:pt x="0" y="36758"/>
                    <a:pt x="3245" y="27492"/>
                    <a:pt x="10635" y="22456"/>
                  </a:cubicBezTo>
                  <a:lnTo>
                    <a:pt x="10635" y="22456"/>
                  </a:lnTo>
                  <a:cubicBezTo>
                    <a:pt x="43593" y="0"/>
                    <a:pt x="86936" y="0"/>
                    <a:pt x="119893" y="22456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143" y="5990"/>
              <a:ext cx="150230" cy="63140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50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170193" y="4838409"/>
            <a:ext cx="176057" cy="177782"/>
            <a:chOff x="0" y="0"/>
            <a:chExt cx="274676" cy="27736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544111" y="8144580"/>
            <a:ext cx="176057" cy="177782"/>
            <a:chOff x="0" y="0"/>
            <a:chExt cx="274676" cy="27736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6865786" y="4845595"/>
            <a:ext cx="176057" cy="177782"/>
            <a:chOff x="0" y="0"/>
            <a:chExt cx="274676" cy="27736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512885" y="4838409"/>
            <a:ext cx="176057" cy="177782"/>
            <a:chOff x="0" y="0"/>
            <a:chExt cx="274676" cy="277367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6865786" y="1491478"/>
            <a:ext cx="176057" cy="177782"/>
            <a:chOff x="0" y="0"/>
            <a:chExt cx="274676" cy="277367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157008" y="1503569"/>
            <a:ext cx="176057" cy="177782"/>
            <a:chOff x="0" y="0"/>
            <a:chExt cx="274676" cy="277367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algn="ctr">
                <a:lnSpc>
                  <a:spcPts val="1153"/>
                </a:lnSpc>
              </a:pPr>
              <a:endParaRPr lang="es-CL" noProof="0" dirty="0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462092" y="1491478"/>
            <a:ext cx="176057" cy="177782"/>
            <a:chOff x="0" y="0"/>
            <a:chExt cx="274676" cy="277367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E9662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algn="ctr">
                <a:lnSpc>
                  <a:spcPts val="1153"/>
                </a:lnSpc>
              </a:pPr>
              <a:endParaRPr lang="es-CL" noProof="0" dirty="0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156217" y="568334"/>
            <a:ext cx="787806" cy="787806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662D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algn="ctr">
                <a:lnSpc>
                  <a:spcPts val="1153"/>
                </a:lnSpc>
              </a:pPr>
              <a:endParaRPr lang="es-CL" noProof="0" dirty="0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3851134" y="580638"/>
            <a:ext cx="787806" cy="787806"/>
            <a:chOff x="0" y="0"/>
            <a:chExt cx="812800" cy="812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algn="ctr">
                <a:lnSpc>
                  <a:spcPts val="1153"/>
                </a:lnSpc>
              </a:pPr>
              <a:endParaRPr lang="es-CL" noProof="0" dirty="0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3864318" y="3915265"/>
            <a:ext cx="787806" cy="787806"/>
            <a:chOff x="0" y="0"/>
            <a:chExt cx="812800" cy="812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1238236" y="7221436"/>
            <a:ext cx="787806" cy="787806"/>
            <a:chOff x="0" y="0"/>
            <a:chExt cx="812800" cy="8128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6559912" y="3922451"/>
            <a:ext cx="787806" cy="787806"/>
            <a:chOff x="0" y="0"/>
            <a:chExt cx="812800" cy="8128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1207011" y="3915265"/>
            <a:ext cx="787806" cy="787806"/>
            <a:chOff x="0" y="0"/>
            <a:chExt cx="812800" cy="8128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6559912" y="568334"/>
            <a:ext cx="787806" cy="787806"/>
            <a:chOff x="0" y="0"/>
            <a:chExt cx="812800" cy="8128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100" name="Freeform 100"/>
          <p:cNvSpPr/>
          <p:nvPr/>
        </p:nvSpPr>
        <p:spPr>
          <a:xfrm>
            <a:off x="12723246" y="777833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1" name="Freeform 101"/>
          <p:cNvSpPr/>
          <p:nvPr/>
        </p:nvSpPr>
        <p:spPr>
          <a:xfrm>
            <a:off x="15418362" y="790060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2" name="Freeform 102"/>
          <p:cNvSpPr/>
          <p:nvPr/>
        </p:nvSpPr>
        <p:spPr>
          <a:xfrm rot="-10800000">
            <a:off x="15431686" y="4162537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3" name="Freeform 103"/>
          <p:cNvSpPr/>
          <p:nvPr/>
        </p:nvSpPr>
        <p:spPr>
          <a:xfrm rot="-10800000">
            <a:off x="12736231" y="4150310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5" y="0"/>
                </a:lnTo>
                <a:lnTo>
                  <a:pt x="348665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4" name="Freeform 104"/>
          <p:cNvSpPr/>
          <p:nvPr/>
        </p:nvSpPr>
        <p:spPr>
          <a:xfrm rot="5400000">
            <a:off x="11456091" y="6620258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5" name="Freeform 105"/>
          <p:cNvSpPr/>
          <p:nvPr/>
        </p:nvSpPr>
        <p:spPr>
          <a:xfrm rot="5400000">
            <a:off x="16779482" y="3297299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5" y="0"/>
                </a:lnTo>
                <a:lnTo>
                  <a:pt x="348665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6" name="TextBox 106"/>
          <p:cNvSpPr txBox="1"/>
          <p:nvPr/>
        </p:nvSpPr>
        <p:spPr>
          <a:xfrm>
            <a:off x="1404341" y="4592991"/>
            <a:ext cx="7615605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00"/>
              </a:lnSpc>
            </a:pPr>
            <a:r>
              <a:rPr lang="es-CL" sz="5000" b="1" noProof="0" dirty="0">
                <a:solidFill>
                  <a:srgbClr val="36424A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PASO 1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20691" y="9945023"/>
            <a:ext cx="5344563" cy="23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63"/>
              </a:lnSpc>
            </a:pPr>
            <a:r>
              <a:rPr lang="es-CL" sz="1444" noProof="0" dirty="0">
                <a:solidFill>
                  <a:srgbClr val="737373"/>
                </a:solidFill>
                <a:latin typeface="Poppins 1"/>
                <a:ea typeface="Poppins 1"/>
                <a:cs typeface="Poppins 1"/>
                <a:sym typeface="Poppins 1"/>
              </a:rPr>
              <a:t>2025 CODELCO CHILE. TODOS LOS DERECHOS RESERVADOS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444802" y="5333394"/>
            <a:ext cx="7803027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68"/>
              </a:lnSpc>
            </a:pPr>
            <a:r>
              <a:rPr lang="es-CL" sz="2800" noProof="0" dirty="0">
                <a:solidFill>
                  <a:srgbClr val="36424A"/>
                </a:solidFill>
                <a:latin typeface="Montserrat 1"/>
                <a:ea typeface="Montserrat 1"/>
                <a:cs typeface="Montserrat 1"/>
                <a:sym typeface="Montserrat 1"/>
              </a:rPr>
              <a:t>Acciones Inmediatas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4466861" y="8211567"/>
            <a:ext cx="3287149" cy="112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s-CL" sz="3995" b="1" noProof="0" dirty="0">
                <a:solidFill>
                  <a:srgbClr val="E9662D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PASOS</a:t>
            </a:r>
          </a:p>
          <a:p>
            <a:pPr algn="l">
              <a:lnSpc>
                <a:spcPts val="2393"/>
              </a:lnSpc>
            </a:pPr>
            <a:r>
              <a:rPr lang="es-CL" sz="2393" noProof="0" dirty="0">
                <a:solidFill>
                  <a:srgbClr val="E9662D"/>
                </a:solidFill>
                <a:latin typeface="Poppins 1"/>
                <a:ea typeface="Poppins 1"/>
                <a:cs typeface="Poppins 1"/>
                <a:sym typeface="Poppins 1"/>
              </a:rPr>
              <a:t>DE LA INVESTIGACIÓN</a:t>
            </a:r>
          </a:p>
          <a:p>
            <a:pPr algn="l">
              <a:lnSpc>
                <a:spcPts val="2393"/>
              </a:lnSpc>
            </a:pPr>
            <a:r>
              <a:rPr lang="es-CL" sz="2393" noProof="0" dirty="0">
                <a:solidFill>
                  <a:srgbClr val="E9662D"/>
                </a:solidFill>
                <a:latin typeface="Poppins 1"/>
                <a:ea typeface="Poppins 1"/>
                <a:cs typeface="Poppins 1"/>
                <a:sym typeface="Poppins 1"/>
              </a:rPr>
              <a:t>ICAM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839906" y="2249079"/>
            <a:ext cx="1471222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</a:pPr>
            <a:r>
              <a:rPr lang="es-CL" sz="1422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Inmediatas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3472010" y="2132346"/>
            <a:ext cx="1534035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1"/>
              </a:lnSpc>
            </a:pPr>
            <a:r>
              <a:rPr lang="es-CL" sz="1422" b="1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Planificación</a:t>
            </a:r>
          </a:p>
          <a:p>
            <a:pPr marL="0" lvl="0" indent="0" algn="ctr">
              <a:lnSpc>
                <a:spcPts val="1821"/>
              </a:lnSpc>
            </a:pPr>
            <a:r>
              <a:rPr lang="es-CL" sz="1422" b="1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de la Investigación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6352144" y="2249079"/>
            <a:ext cx="1227295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Recolección de Datos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1300481" y="639680"/>
            <a:ext cx="470895" cy="65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6"/>
              </a:lnSpc>
            </a:pPr>
            <a:r>
              <a:rPr lang="es-CL" sz="4361" b="1" noProof="0" dirty="0">
                <a:solidFill>
                  <a:srgbClr val="E9662D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1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4004790" y="651984"/>
            <a:ext cx="470895" cy="65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6"/>
              </a:lnSpc>
            </a:pPr>
            <a:r>
              <a:rPr lang="es-CL" sz="4361" b="1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2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6730343" y="639835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3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6703971" y="3993952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4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4003579" y="3986767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5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1358515" y="3986767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6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1401096" y="7292938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7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6266495" y="5603196"/>
            <a:ext cx="1406902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Organización de Datos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3704898" y="5472864"/>
            <a:ext cx="1068258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Análisis Causal (ICAM)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915205" y="5466973"/>
            <a:ext cx="1396045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preventivas y correctivas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913398" y="8773144"/>
            <a:ext cx="1438850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Informe de investigación</a:t>
            </a:r>
          </a:p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y aprendizaje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3431377" y="7584746"/>
            <a:ext cx="1723445" cy="209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52"/>
              </a:lnSpc>
            </a:pPr>
            <a:r>
              <a:rPr lang="es-CL" sz="15752" noProof="0" dirty="0">
                <a:solidFill>
                  <a:srgbClr val="E9662D"/>
                </a:solidFill>
                <a:latin typeface="Anton"/>
                <a:ea typeface="Anton"/>
                <a:cs typeface="Anton"/>
                <a:sym typeface="Anton"/>
              </a:rPr>
              <a:t>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Freeform 11"/>
          <p:cNvSpPr/>
          <p:nvPr/>
        </p:nvSpPr>
        <p:spPr>
          <a:xfrm>
            <a:off x="600217" y="223178"/>
            <a:ext cx="824155" cy="824155"/>
          </a:xfrm>
          <a:custGeom>
            <a:avLst/>
            <a:gdLst/>
            <a:ahLst/>
            <a:cxnLst/>
            <a:rect l="l" t="t" r="r" b="b"/>
            <a:pathLst>
              <a:path w="824155" h="824155">
                <a:moveTo>
                  <a:pt x="0" y="0"/>
                </a:moveTo>
                <a:lnTo>
                  <a:pt x="824156" y="0"/>
                </a:lnTo>
                <a:lnTo>
                  <a:pt x="824156" y="824156"/>
                </a:lnTo>
                <a:lnTo>
                  <a:pt x="0" y="8241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Box 12"/>
          <p:cNvSpPr txBox="1"/>
          <p:nvPr/>
        </p:nvSpPr>
        <p:spPr>
          <a:xfrm>
            <a:off x="1605348" y="635256"/>
            <a:ext cx="6725073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CORRECTIVAS INMEDIATAS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5348" y="323493"/>
            <a:ext cx="6087726" cy="56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ACCIONES INMEDIATAS</a:t>
            </a:r>
          </a:p>
          <a:p>
            <a:pPr algn="l">
              <a:lnSpc>
                <a:spcPts val="2120"/>
              </a:lnSpc>
            </a:pPr>
            <a:endParaRPr lang="es-CL" sz="2000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04768" y="9304895"/>
            <a:ext cx="10697606" cy="676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* Tabla referencial, las acciones inmediatas deberán ajustarse según la naturaleza del evento y los criterios de la investigación.</a:t>
            </a: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DDA34E1B-C79E-F2DF-F238-0B5F6C4B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554760"/>
              </p:ext>
            </p:extLst>
          </p:nvPr>
        </p:nvGraphicFramePr>
        <p:xfrm>
          <a:off x="447326" y="1600199"/>
          <a:ext cx="17383473" cy="7086601"/>
        </p:xfrm>
        <a:graphic>
          <a:graphicData uri="http://schemas.openxmlformats.org/drawingml/2006/table">
            <a:tbl>
              <a:tblPr/>
              <a:tblGrid>
                <a:gridCol w="2372074">
                  <a:extLst>
                    <a:ext uri="{9D8B030D-6E8A-4147-A177-3AD203B41FA5}">
                      <a16:colId xmlns:a16="http://schemas.microsoft.com/office/drawing/2014/main" val="3417422723"/>
                    </a:ext>
                  </a:extLst>
                </a:gridCol>
                <a:gridCol w="9216908">
                  <a:extLst>
                    <a:ext uri="{9D8B030D-6E8A-4147-A177-3AD203B41FA5}">
                      <a16:colId xmlns:a16="http://schemas.microsoft.com/office/drawing/2014/main" val="4192051980"/>
                    </a:ext>
                  </a:extLst>
                </a:gridCol>
                <a:gridCol w="5794491">
                  <a:extLst>
                    <a:ext uri="{9D8B030D-6E8A-4147-A177-3AD203B41FA5}">
                      <a16:colId xmlns:a16="http://schemas.microsoft.com/office/drawing/2014/main" val="198558582"/>
                    </a:ext>
                  </a:extLst>
                </a:gridCol>
              </a:tblGrid>
              <a:tr h="1023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99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oppins 1"/>
                          <a:cs typeface="Poppins 1"/>
                        </a:rPr>
                        <a:t>Fecha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99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oppins 1"/>
                          <a:cs typeface="Poppins 1"/>
                        </a:rPr>
                        <a:t>Acciones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99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Poppins 1"/>
                          <a:cs typeface="Poppins 1"/>
                        </a:rPr>
                        <a:t>Responsables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89656"/>
                  </a:ext>
                </a:extLst>
              </a:tr>
              <a:tr h="993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800" i="1" dirty="0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 mar 2025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i="1" dirty="0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Detener la operación de la correa transportadora.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800" i="1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Jefe de turno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431225"/>
                  </a:ext>
                </a:extLst>
              </a:tr>
              <a:tr h="10535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800" i="1" dirty="0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 mar 2025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i="1" dirty="0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Asegurar el área con cintas de seguridad y señalización visible.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800" i="1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Prevencionista en turno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455367"/>
                  </a:ext>
                </a:extLst>
              </a:tr>
              <a:tr h="10535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800" i="1" dirty="0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 mar 2025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i="1" dirty="0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Verificar la </a:t>
                      </a:r>
                      <a:r>
                        <a:rPr lang="es-MX" sz="1800" i="1" dirty="0" err="1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desenergización</a:t>
                      </a:r>
                      <a:r>
                        <a:rPr lang="es-MX" sz="1800" i="1" dirty="0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del equipo y aplicar candados de bloqueo.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800" i="1" dirty="0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Eléctrico autorizado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175771"/>
                  </a:ext>
                </a:extLst>
              </a:tr>
              <a:tr h="10535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800" i="1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 mar 2025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i="1" dirty="0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Comunicar a la Gerencia y registrar el evento en el sistema oficial.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800" i="1" dirty="0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Jefe de operaciones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74544"/>
                  </a:ext>
                </a:extLst>
              </a:tr>
              <a:tr h="993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800" i="1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 mar 2025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800" i="1" dirty="0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Acción inmediata 5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CL" sz="18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865843"/>
                  </a:ext>
                </a:extLst>
              </a:tr>
              <a:tr h="915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800" i="1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 mar 2025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800" i="1" dirty="0">
                          <a:solidFill>
                            <a:srgbClr val="545454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Acción inmediata 6</a:t>
                      </a: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CL" sz="18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7289" marR="67289" marT="33644" marB="33644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952772"/>
                  </a:ext>
                </a:extLst>
              </a:tr>
            </a:tbl>
          </a:graphicData>
        </a:graphic>
      </p:graphicFrame>
      <p:sp>
        <p:nvSpPr>
          <p:cNvPr id="17" name="Rectangle 1">
            <a:extLst>
              <a:ext uri="{FF2B5EF4-FFF2-40B4-BE49-F238E27FC236}">
                <a16:creationId xmlns:a16="http://schemas.microsoft.com/office/drawing/2014/main" id="{B791F549-BCE8-4C8D-1C38-9056AB20A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638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-114300"/>
            <a:ext cx="8958189" cy="13217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1605348" y="635256"/>
            <a:ext cx="6725073" cy="56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INFORMES FLASH</a:t>
            </a:r>
          </a:p>
          <a:p>
            <a:pPr algn="l">
              <a:lnSpc>
                <a:spcPts val="2120"/>
              </a:lnSpc>
            </a:pPr>
            <a:endParaRPr lang="es-CL" sz="2000" b="1" noProof="0" dirty="0">
              <a:solidFill>
                <a:srgbClr val="FFFFFF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05348" y="323493"/>
            <a:ext cx="6087726" cy="56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ACCIONES INMEDIATAS</a:t>
            </a:r>
          </a:p>
          <a:p>
            <a:pPr algn="l">
              <a:lnSpc>
                <a:spcPts val="2120"/>
              </a:lnSpc>
            </a:pPr>
            <a:endParaRPr lang="es-CL" sz="2000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AutoShape 11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Box 12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sp>
        <p:nvSpPr>
          <p:cNvPr id="13" name="Freeform 13"/>
          <p:cNvSpPr/>
          <p:nvPr/>
        </p:nvSpPr>
        <p:spPr>
          <a:xfrm>
            <a:off x="600217" y="223178"/>
            <a:ext cx="824155" cy="824155"/>
          </a:xfrm>
          <a:custGeom>
            <a:avLst/>
            <a:gdLst/>
            <a:ahLst/>
            <a:cxnLst/>
            <a:rect l="l" t="t" r="r" b="b"/>
            <a:pathLst>
              <a:path w="824155" h="824155">
                <a:moveTo>
                  <a:pt x="0" y="0"/>
                </a:moveTo>
                <a:lnTo>
                  <a:pt x="824156" y="0"/>
                </a:lnTo>
                <a:lnTo>
                  <a:pt x="824156" y="824156"/>
                </a:lnTo>
                <a:lnTo>
                  <a:pt x="0" y="8241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22CA3719-8B96-BA03-E0FC-FB3B8371B093}"/>
              </a:ext>
            </a:extLst>
          </p:cNvPr>
          <p:cNvSpPr txBox="1"/>
          <p:nvPr/>
        </p:nvSpPr>
        <p:spPr>
          <a:xfrm>
            <a:off x="568277" y="2496854"/>
            <a:ext cx="17491122" cy="2755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es-CL" sz="2000" b="1" dirty="0">
                <a:solidFill>
                  <a:srgbClr val="545454"/>
                </a:solidFill>
                <a:latin typeface="Poppins 1 Bold"/>
                <a:ea typeface="Poppins 1"/>
                <a:cs typeface="Poppins 1 Bold"/>
                <a:sym typeface="Poppins 1 Bold"/>
              </a:rPr>
              <a:t>AGREGAR FLASH</a:t>
            </a: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237355" y="0"/>
            <a:ext cx="8829538" cy="10324610"/>
            <a:chOff x="0" y="0"/>
            <a:chExt cx="2325475" cy="27192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25475" cy="2719239"/>
            </a:xfrm>
            <a:custGeom>
              <a:avLst/>
              <a:gdLst/>
              <a:ahLst/>
              <a:cxnLst/>
              <a:rect l="l" t="t" r="r" b="b"/>
              <a:pathLst>
                <a:path w="2325475" h="2719239">
                  <a:moveTo>
                    <a:pt x="0" y="0"/>
                  </a:moveTo>
                  <a:lnTo>
                    <a:pt x="2325475" y="0"/>
                  </a:lnTo>
                  <a:lnTo>
                    <a:pt x="2325475" y="2719239"/>
                  </a:lnTo>
                  <a:lnTo>
                    <a:pt x="0" y="2719239"/>
                  </a:lnTo>
                  <a:close/>
                </a:path>
              </a:pathLst>
            </a:custGeom>
            <a:solidFill>
              <a:srgbClr val="737373">
                <a:alpha val="43922"/>
              </a:srgbClr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325475" cy="2747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4"/>
                </a:lnSpc>
              </a:pPr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3510783" y="4623265"/>
            <a:ext cx="13382481" cy="173983"/>
          </a:xfrm>
          <a:custGeom>
            <a:avLst/>
            <a:gdLst/>
            <a:ahLst/>
            <a:cxnLst/>
            <a:rect l="l" t="t" r="r" b="b"/>
            <a:pathLst>
              <a:path w="13382481" h="173983">
                <a:moveTo>
                  <a:pt x="0" y="0"/>
                </a:moveTo>
                <a:lnTo>
                  <a:pt x="13382481" y="0"/>
                </a:lnTo>
                <a:lnTo>
                  <a:pt x="13382481" y="173982"/>
                </a:lnTo>
                <a:lnTo>
                  <a:pt x="0" y="173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60677" b="-158463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853683" y="825909"/>
            <a:ext cx="2473721" cy="1452172"/>
          </a:xfrm>
          <a:custGeom>
            <a:avLst/>
            <a:gdLst/>
            <a:ahLst/>
            <a:cxnLst/>
            <a:rect l="l" t="t" r="r" b="b"/>
            <a:pathLst>
              <a:path w="2473721" h="1452172">
                <a:moveTo>
                  <a:pt x="0" y="0"/>
                </a:moveTo>
                <a:lnTo>
                  <a:pt x="2473720" y="0"/>
                </a:lnTo>
                <a:lnTo>
                  <a:pt x="2473720" y="1452172"/>
                </a:lnTo>
                <a:lnTo>
                  <a:pt x="0" y="1452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3857270" y="825909"/>
            <a:ext cx="1707984" cy="1592695"/>
          </a:xfrm>
          <a:custGeom>
            <a:avLst/>
            <a:gdLst/>
            <a:ahLst/>
            <a:cxnLst/>
            <a:rect l="l" t="t" r="r" b="b"/>
            <a:pathLst>
              <a:path w="1707984" h="1592695">
                <a:moveTo>
                  <a:pt x="0" y="0"/>
                </a:moveTo>
                <a:lnTo>
                  <a:pt x="1707985" y="0"/>
                </a:lnTo>
                <a:lnTo>
                  <a:pt x="1707985" y="1592695"/>
                </a:lnTo>
                <a:lnTo>
                  <a:pt x="0" y="1592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3516137" y="1030415"/>
            <a:ext cx="0" cy="1221272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AutoShape 10"/>
          <p:cNvSpPr/>
          <p:nvPr/>
        </p:nvSpPr>
        <p:spPr>
          <a:xfrm flipH="1">
            <a:off x="11630603" y="8009242"/>
            <a:ext cx="1536" cy="474889"/>
          </a:xfrm>
          <a:prstGeom prst="line">
            <a:avLst/>
          </a:prstGeom>
          <a:ln w="66675" cap="rnd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1" name="Group 11"/>
          <p:cNvGrpSpPr/>
          <p:nvPr/>
        </p:nvGrpSpPr>
        <p:grpSpPr>
          <a:xfrm>
            <a:off x="13484029" y="1816903"/>
            <a:ext cx="1522016" cy="1260965"/>
            <a:chOff x="0" y="0"/>
            <a:chExt cx="2029354" cy="1681287"/>
          </a:xfrm>
        </p:grpSpPr>
        <p:grpSp>
          <p:nvGrpSpPr>
            <p:cNvPr id="12" name="Group 12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F39C0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357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F39C0B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357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1300481" y="1804599"/>
            <a:ext cx="484780" cy="164601"/>
            <a:chOff x="0" y="0"/>
            <a:chExt cx="219260" cy="74447"/>
          </a:xfrm>
        </p:grpSpPr>
        <p:sp>
          <p:nvSpPr>
            <p:cNvPr id="19" name="Freeform 19"/>
            <p:cNvSpPr/>
            <p:nvPr/>
          </p:nvSpPr>
          <p:spPr>
            <a:xfrm>
              <a:off x="44159" y="14753"/>
              <a:ext cx="130942" cy="59693"/>
            </a:xfrm>
            <a:custGeom>
              <a:avLst/>
              <a:gdLst/>
              <a:ahLst/>
              <a:cxnLst/>
              <a:rect l="l" t="t" r="r" b="b"/>
              <a:pathLst>
                <a:path w="130942" h="59693">
                  <a:moveTo>
                    <a:pt x="120286" y="22470"/>
                  </a:moveTo>
                  <a:lnTo>
                    <a:pt x="120286" y="22470"/>
                  </a:lnTo>
                  <a:cubicBezTo>
                    <a:pt x="127685" y="27495"/>
                    <a:pt x="130942" y="36760"/>
                    <a:pt x="128313" y="45309"/>
                  </a:cubicBezTo>
                  <a:cubicBezTo>
                    <a:pt x="125685" y="53859"/>
                    <a:pt x="117786" y="59694"/>
                    <a:pt x="108842" y="59694"/>
                  </a:cubicBezTo>
                  <a:lnTo>
                    <a:pt x="22100" y="59694"/>
                  </a:lnTo>
                  <a:cubicBezTo>
                    <a:pt x="13155" y="59694"/>
                    <a:pt x="5257" y="53859"/>
                    <a:pt x="2629" y="45309"/>
                  </a:cubicBezTo>
                  <a:cubicBezTo>
                    <a:pt x="0" y="36760"/>
                    <a:pt x="3256" y="27495"/>
                    <a:pt x="10656" y="22470"/>
                  </a:cubicBezTo>
                  <a:lnTo>
                    <a:pt x="10656" y="22470"/>
                  </a:lnTo>
                  <a:cubicBezTo>
                    <a:pt x="43745" y="0"/>
                    <a:pt x="87197" y="0"/>
                    <a:pt x="120286" y="2247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259" y="5990"/>
              <a:ext cx="150741" cy="63140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34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839906" y="1925732"/>
            <a:ext cx="1471222" cy="1139832"/>
            <a:chOff x="0" y="0"/>
            <a:chExt cx="711694" cy="5513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1694" cy="551386"/>
            </a:xfrm>
            <a:custGeom>
              <a:avLst/>
              <a:gdLst/>
              <a:ahLst/>
              <a:cxnLst/>
              <a:rect l="l" t="t" r="r" b="b"/>
              <a:pathLst>
                <a:path w="711694" h="551386">
                  <a:moveTo>
                    <a:pt x="0" y="0"/>
                  </a:moveTo>
                  <a:lnTo>
                    <a:pt x="711694" y="0"/>
                  </a:lnTo>
                  <a:lnTo>
                    <a:pt x="711694" y="551386"/>
                  </a:lnTo>
                  <a:lnTo>
                    <a:pt x="0" y="551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711694" cy="579961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34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807" y="1804599"/>
            <a:ext cx="1522016" cy="1260965"/>
            <a:chOff x="0" y="0"/>
            <a:chExt cx="2029354" cy="1681287"/>
          </a:xfrm>
        </p:grpSpPr>
        <p:grpSp>
          <p:nvGrpSpPr>
            <p:cNvPr id="25" name="Group 25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16192807" y="5158716"/>
            <a:ext cx="1522016" cy="1260965"/>
            <a:chOff x="0" y="0"/>
            <a:chExt cx="2029354" cy="1681287"/>
          </a:xfrm>
        </p:grpSpPr>
        <p:grpSp>
          <p:nvGrpSpPr>
            <p:cNvPr id="32" name="Group 32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0839906" y="5151530"/>
            <a:ext cx="1522016" cy="1260965"/>
            <a:chOff x="0" y="0"/>
            <a:chExt cx="2029354" cy="1681287"/>
          </a:xfrm>
        </p:grpSpPr>
        <p:grpSp>
          <p:nvGrpSpPr>
            <p:cNvPr id="39" name="Group 39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13497213" y="5151530"/>
            <a:ext cx="1522016" cy="1260965"/>
            <a:chOff x="0" y="0"/>
            <a:chExt cx="2029354" cy="1681287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10871131" y="8578834"/>
            <a:ext cx="1534035" cy="1139832"/>
            <a:chOff x="0" y="0"/>
            <a:chExt cx="742079" cy="55138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42079" cy="551386"/>
            </a:xfrm>
            <a:custGeom>
              <a:avLst/>
              <a:gdLst/>
              <a:ahLst/>
              <a:cxnLst/>
              <a:rect l="l" t="t" r="r" b="b"/>
              <a:pathLst>
                <a:path w="742079" h="551386">
                  <a:moveTo>
                    <a:pt x="0" y="0"/>
                  </a:moveTo>
                  <a:lnTo>
                    <a:pt x="742079" y="0"/>
                  </a:lnTo>
                  <a:lnTo>
                    <a:pt x="742079" y="551386"/>
                  </a:lnTo>
                  <a:lnTo>
                    <a:pt x="0" y="551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742079" cy="579961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50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388855" y="8457701"/>
            <a:ext cx="483136" cy="164601"/>
            <a:chOff x="0" y="0"/>
            <a:chExt cx="218516" cy="74447"/>
          </a:xfrm>
        </p:grpSpPr>
        <p:sp>
          <p:nvSpPr>
            <p:cNvPr id="56" name="Freeform 56"/>
            <p:cNvSpPr/>
            <p:nvPr/>
          </p:nvSpPr>
          <p:spPr>
            <a:xfrm>
              <a:off x="43994" y="14767"/>
              <a:ext cx="130528" cy="59680"/>
            </a:xfrm>
            <a:custGeom>
              <a:avLst/>
              <a:gdLst/>
              <a:ahLst/>
              <a:cxnLst/>
              <a:rect l="l" t="t" r="r" b="b"/>
              <a:pathLst>
                <a:path w="130528" h="59680">
                  <a:moveTo>
                    <a:pt x="119893" y="22456"/>
                  </a:moveTo>
                  <a:lnTo>
                    <a:pt x="119893" y="22456"/>
                  </a:lnTo>
                  <a:cubicBezTo>
                    <a:pt x="127284" y="27492"/>
                    <a:pt x="130528" y="36758"/>
                    <a:pt x="127893" y="45304"/>
                  </a:cubicBezTo>
                  <a:cubicBezTo>
                    <a:pt x="125258" y="53850"/>
                    <a:pt x="117360" y="59680"/>
                    <a:pt x="108417" y="59680"/>
                  </a:cubicBezTo>
                  <a:lnTo>
                    <a:pt x="22111" y="59680"/>
                  </a:lnTo>
                  <a:cubicBezTo>
                    <a:pt x="13168" y="59680"/>
                    <a:pt x="5270" y="53850"/>
                    <a:pt x="2635" y="45304"/>
                  </a:cubicBezTo>
                  <a:cubicBezTo>
                    <a:pt x="0" y="36758"/>
                    <a:pt x="3245" y="27492"/>
                    <a:pt x="10635" y="22456"/>
                  </a:cubicBezTo>
                  <a:lnTo>
                    <a:pt x="10635" y="22456"/>
                  </a:lnTo>
                  <a:cubicBezTo>
                    <a:pt x="43593" y="0"/>
                    <a:pt x="86936" y="0"/>
                    <a:pt x="119893" y="22456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143" y="5990"/>
              <a:ext cx="150230" cy="63140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50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170193" y="4838409"/>
            <a:ext cx="176057" cy="177782"/>
            <a:chOff x="0" y="0"/>
            <a:chExt cx="274676" cy="27736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544111" y="8144580"/>
            <a:ext cx="176057" cy="177782"/>
            <a:chOff x="0" y="0"/>
            <a:chExt cx="274676" cy="27736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6865786" y="4845595"/>
            <a:ext cx="176057" cy="177782"/>
            <a:chOff x="0" y="0"/>
            <a:chExt cx="274676" cy="27736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512885" y="4838409"/>
            <a:ext cx="176057" cy="177782"/>
            <a:chOff x="0" y="0"/>
            <a:chExt cx="274676" cy="277367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6865786" y="1491478"/>
            <a:ext cx="176057" cy="177782"/>
            <a:chOff x="0" y="0"/>
            <a:chExt cx="274676" cy="277367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157008" y="1503569"/>
            <a:ext cx="176057" cy="177782"/>
            <a:chOff x="0" y="0"/>
            <a:chExt cx="274676" cy="277367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F39C0B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2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462092" y="1491478"/>
            <a:ext cx="176057" cy="177782"/>
            <a:chOff x="0" y="0"/>
            <a:chExt cx="274676" cy="277367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156217" y="568334"/>
            <a:ext cx="787806" cy="787806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3851134" y="580638"/>
            <a:ext cx="787806" cy="787806"/>
            <a:chOff x="0" y="0"/>
            <a:chExt cx="812800" cy="812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9C0B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2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3864318" y="3915265"/>
            <a:ext cx="787806" cy="787806"/>
            <a:chOff x="0" y="0"/>
            <a:chExt cx="812800" cy="812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1238236" y="7221436"/>
            <a:ext cx="787806" cy="787806"/>
            <a:chOff x="0" y="0"/>
            <a:chExt cx="812800" cy="8128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6559912" y="3922451"/>
            <a:ext cx="787806" cy="787806"/>
            <a:chOff x="0" y="0"/>
            <a:chExt cx="812800" cy="8128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1207011" y="3915265"/>
            <a:ext cx="787806" cy="787806"/>
            <a:chOff x="0" y="0"/>
            <a:chExt cx="812800" cy="8128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6559912" y="568334"/>
            <a:ext cx="787806" cy="787806"/>
            <a:chOff x="0" y="0"/>
            <a:chExt cx="812800" cy="8128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100" name="Freeform 100"/>
          <p:cNvSpPr/>
          <p:nvPr/>
        </p:nvSpPr>
        <p:spPr>
          <a:xfrm>
            <a:off x="12723246" y="777833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1" name="Freeform 101"/>
          <p:cNvSpPr/>
          <p:nvPr/>
        </p:nvSpPr>
        <p:spPr>
          <a:xfrm>
            <a:off x="15418362" y="790060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2" name="Freeform 102"/>
          <p:cNvSpPr/>
          <p:nvPr/>
        </p:nvSpPr>
        <p:spPr>
          <a:xfrm rot="-10800000">
            <a:off x="15431686" y="4162537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3" name="Freeform 103"/>
          <p:cNvSpPr/>
          <p:nvPr/>
        </p:nvSpPr>
        <p:spPr>
          <a:xfrm rot="-10800000">
            <a:off x="12736231" y="4150310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5" y="0"/>
                </a:lnTo>
                <a:lnTo>
                  <a:pt x="348665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4" name="Freeform 104"/>
          <p:cNvSpPr/>
          <p:nvPr/>
        </p:nvSpPr>
        <p:spPr>
          <a:xfrm rot="5400000">
            <a:off x="11456091" y="6620258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5" name="Freeform 105"/>
          <p:cNvSpPr/>
          <p:nvPr/>
        </p:nvSpPr>
        <p:spPr>
          <a:xfrm rot="5400000">
            <a:off x="16779482" y="3297299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5" y="0"/>
                </a:lnTo>
                <a:lnTo>
                  <a:pt x="348665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6" name="TextBox 106"/>
          <p:cNvSpPr txBox="1"/>
          <p:nvPr/>
        </p:nvSpPr>
        <p:spPr>
          <a:xfrm>
            <a:off x="811217" y="4327216"/>
            <a:ext cx="7317043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0"/>
              </a:lnSpc>
            </a:pPr>
            <a:r>
              <a:rPr lang="es-CL" sz="5000" b="1" noProof="0" dirty="0">
                <a:solidFill>
                  <a:srgbClr val="36424A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PASO 2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20691" y="9945023"/>
            <a:ext cx="5344563" cy="23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63"/>
              </a:lnSpc>
            </a:pPr>
            <a:r>
              <a:rPr lang="es-CL" sz="1444" noProof="0" dirty="0">
                <a:solidFill>
                  <a:srgbClr val="737373"/>
                </a:solidFill>
                <a:latin typeface="Poppins 1"/>
                <a:ea typeface="Poppins 1"/>
                <a:cs typeface="Poppins 1"/>
                <a:sym typeface="Poppins 1"/>
              </a:rPr>
              <a:t>2025 CODELCO CHILE. TODOS LOS DERECHOS RESERVADOS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853683" y="5137330"/>
            <a:ext cx="7497117" cy="1116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8"/>
              </a:lnSpc>
            </a:pPr>
            <a:r>
              <a:rPr lang="es-CL" sz="2800" noProof="0" dirty="0">
                <a:solidFill>
                  <a:srgbClr val="36424A"/>
                </a:solidFill>
                <a:latin typeface="Montserrat 1"/>
                <a:ea typeface="Montserrat 1"/>
                <a:cs typeface="Montserrat 1"/>
                <a:sym typeface="Montserrat 1"/>
              </a:rPr>
              <a:t>Planificación</a:t>
            </a:r>
          </a:p>
          <a:p>
            <a:pPr algn="l">
              <a:lnSpc>
                <a:spcPts val="2968"/>
              </a:lnSpc>
            </a:pPr>
            <a:r>
              <a:rPr lang="es-CL" sz="2800" noProof="0" dirty="0">
                <a:solidFill>
                  <a:srgbClr val="36424A"/>
                </a:solidFill>
                <a:latin typeface="Montserrat 1"/>
                <a:ea typeface="Montserrat 1"/>
                <a:cs typeface="Montserrat 1"/>
                <a:sym typeface="Montserrat 1"/>
              </a:rPr>
              <a:t>de la Investigación</a:t>
            </a:r>
          </a:p>
          <a:p>
            <a:pPr algn="l">
              <a:lnSpc>
                <a:spcPts val="2968"/>
              </a:lnSpc>
            </a:pPr>
            <a:endParaRPr lang="es-CL" sz="2800" noProof="0" dirty="0">
              <a:solidFill>
                <a:srgbClr val="36424A"/>
              </a:solidFill>
              <a:latin typeface="Montserrat 1"/>
              <a:ea typeface="Montserrat 1"/>
              <a:cs typeface="Montserrat 1"/>
              <a:sym typeface="Montserrat 1"/>
            </a:endParaRPr>
          </a:p>
        </p:txBody>
      </p:sp>
      <p:sp>
        <p:nvSpPr>
          <p:cNvPr id="109" name="TextBox 109"/>
          <p:cNvSpPr txBox="1"/>
          <p:nvPr/>
        </p:nvSpPr>
        <p:spPr>
          <a:xfrm>
            <a:off x="14466861" y="8211567"/>
            <a:ext cx="3287149" cy="112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s-CL" sz="3995" b="1" noProof="0" dirty="0">
                <a:solidFill>
                  <a:srgbClr val="E9662D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PASOS</a:t>
            </a:r>
          </a:p>
          <a:p>
            <a:pPr algn="l">
              <a:lnSpc>
                <a:spcPts val="2393"/>
              </a:lnSpc>
            </a:pPr>
            <a:r>
              <a:rPr lang="es-CL" sz="2393" noProof="0" dirty="0">
                <a:solidFill>
                  <a:srgbClr val="E9662D"/>
                </a:solidFill>
                <a:latin typeface="Poppins 1"/>
                <a:ea typeface="Poppins 1"/>
                <a:cs typeface="Poppins 1"/>
                <a:sym typeface="Poppins 1"/>
              </a:rPr>
              <a:t>DE LA INVESTIGACIÓN</a:t>
            </a:r>
          </a:p>
          <a:p>
            <a:pPr algn="l">
              <a:lnSpc>
                <a:spcPts val="2393"/>
              </a:lnSpc>
            </a:pPr>
            <a:r>
              <a:rPr lang="es-CL" sz="2393" noProof="0" dirty="0">
                <a:solidFill>
                  <a:srgbClr val="E9662D"/>
                </a:solidFill>
                <a:latin typeface="Poppins 1"/>
                <a:ea typeface="Poppins 1"/>
                <a:cs typeface="Poppins 1"/>
                <a:sym typeface="Poppins 1"/>
              </a:rPr>
              <a:t>ICAM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839906" y="2249079"/>
            <a:ext cx="1471222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Inmediatas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3472010" y="2435350"/>
            <a:ext cx="1534035" cy="398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6"/>
              </a:lnSpc>
              <a:spcBef>
                <a:spcPct val="0"/>
              </a:spcBef>
            </a:pPr>
            <a:r>
              <a:rPr lang="es-CL" sz="1208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Planificación</a:t>
            </a:r>
          </a:p>
          <a:p>
            <a:pPr marL="0" lvl="0" indent="0" algn="ctr">
              <a:lnSpc>
                <a:spcPts val="1546"/>
              </a:lnSpc>
              <a:spcBef>
                <a:spcPct val="0"/>
              </a:spcBef>
            </a:pPr>
            <a:r>
              <a:rPr lang="es-CL" sz="1208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de la Investigación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6352144" y="2249079"/>
            <a:ext cx="1227295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Recolección de Datos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1300481" y="639680"/>
            <a:ext cx="470895" cy="65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1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4004790" y="752608"/>
            <a:ext cx="470895" cy="55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70"/>
              </a:lnSpc>
              <a:spcBef>
                <a:spcPct val="0"/>
              </a:spcBef>
            </a:pPr>
            <a:r>
              <a:rPr lang="es-CL" sz="3703" b="1" u="none" strike="noStrike" noProof="0" dirty="0">
                <a:solidFill>
                  <a:srgbClr val="F18701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2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6730343" y="639835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3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6703971" y="3993952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4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4003579" y="3986767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5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1358515" y="3986767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6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1401096" y="7292938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7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6266495" y="5603196"/>
            <a:ext cx="1406902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Organización de Datos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3704898" y="5472864"/>
            <a:ext cx="1068258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Análisis Causal (ICAM)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915205" y="5466973"/>
            <a:ext cx="1396045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preventivas y correctivas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913398" y="8773144"/>
            <a:ext cx="1438850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Informe de investigación</a:t>
            </a:r>
          </a:p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y aprendizaje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3431377" y="7584746"/>
            <a:ext cx="1723445" cy="209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52"/>
              </a:lnSpc>
            </a:pPr>
            <a:r>
              <a:rPr lang="es-CL" sz="15752" noProof="0" dirty="0">
                <a:solidFill>
                  <a:srgbClr val="E9662D"/>
                </a:solidFill>
                <a:latin typeface="Anton"/>
                <a:ea typeface="Anton"/>
                <a:cs typeface="Anton"/>
                <a:sym typeface="Anto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749527" y="313968"/>
            <a:ext cx="712945" cy="714732"/>
          </a:xfrm>
          <a:custGeom>
            <a:avLst/>
            <a:gdLst/>
            <a:ahLst/>
            <a:cxnLst/>
            <a:rect l="l" t="t" r="r" b="b"/>
            <a:pathLst>
              <a:path w="712945" h="714732">
                <a:moveTo>
                  <a:pt x="0" y="0"/>
                </a:moveTo>
                <a:lnTo>
                  <a:pt x="712946" y="0"/>
                </a:lnTo>
                <a:lnTo>
                  <a:pt x="712946" y="714732"/>
                </a:lnTo>
                <a:lnTo>
                  <a:pt x="0" y="714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605348" y="635256"/>
            <a:ext cx="6725073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COMISIÓN INVESTIGADORA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5348" y="323493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PLANIFICACIÓN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grpSp>
        <p:nvGrpSpPr>
          <p:cNvPr id="18" name="Group 25">
            <a:extLst>
              <a:ext uri="{FF2B5EF4-FFF2-40B4-BE49-F238E27FC236}">
                <a16:creationId xmlns:a16="http://schemas.microsoft.com/office/drawing/2014/main" id="{7F00D133-7E09-D5C6-AB1E-2F5394855D76}"/>
              </a:ext>
            </a:extLst>
          </p:cNvPr>
          <p:cNvGrpSpPr/>
          <p:nvPr/>
        </p:nvGrpSpPr>
        <p:grpSpPr>
          <a:xfrm>
            <a:off x="228601" y="2411086"/>
            <a:ext cx="17580400" cy="6378128"/>
            <a:chOff x="0" y="0"/>
            <a:chExt cx="24762817" cy="19685545"/>
          </a:xfrm>
        </p:grpSpPr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886410B9-82B7-25AE-CE99-8142661928A7}"/>
                </a:ext>
              </a:extLst>
            </p:cNvPr>
            <p:cNvSpPr/>
            <p:nvPr/>
          </p:nvSpPr>
          <p:spPr>
            <a:xfrm>
              <a:off x="0" y="0"/>
              <a:ext cx="24762817" cy="19685544"/>
            </a:xfrm>
            <a:custGeom>
              <a:avLst/>
              <a:gdLst/>
              <a:ahLst/>
              <a:cxnLst/>
              <a:rect l="l" t="t" r="r" b="b"/>
              <a:pathLst>
                <a:path w="24762817" h="19685544">
                  <a:moveTo>
                    <a:pt x="2895" y="0"/>
                  </a:moveTo>
                  <a:lnTo>
                    <a:pt x="24759923" y="0"/>
                  </a:lnTo>
                  <a:cubicBezTo>
                    <a:pt x="24761521" y="0"/>
                    <a:pt x="24762817" y="1296"/>
                    <a:pt x="24762817" y="2895"/>
                  </a:cubicBezTo>
                  <a:lnTo>
                    <a:pt x="24762817" y="19682650"/>
                  </a:lnTo>
                  <a:cubicBezTo>
                    <a:pt x="24762817" y="19684248"/>
                    <a:pt x="24761521" y="19685544"/>
                    <a:pt x="24759923" y="19685544"/>
                  </a:cubicBezTo>
                  <a:lnTo>
                    <a:pt x="2895" y="19685544"/>
                  </a:lnTo>
                  <a:cubicBezTo>
                    <a:pt x="1296" y="19685544"/>
                    <a:pt x="0" y="19684248"/>
                    <a:pt x="0" y="19682650"/>
                  </a:cubicBezTo>
                  <a:lnTo>
                    <a:pt x="0" y="2895"/>
                  </a:lnTo>
                  <a:cubicBezTo>
                    <a:pt x="0" y="1296"/>
                    <a:pt x="1296" y="0"/>
                    <a:pt x="2895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TextBox 27">
              <a:extLst>
                <a:ext uri="{FF2B5EF4-FFF2-40B4-BE49-F238E27FC236}">
                  <a16:creationId xmlns:a16="http://schemas.microsoft.com/office/drawing/2014/main" id="{43A4DA9C-DB5E-1E2B-756E-7B39350B7595}"/>
                </a:ext>
              </a:extLst>
            </p:cNvPr>
            <p:cNvSpPr txBox="1"/>
            <p:nvPr/>
          </p:nvSpPr>
          <p:spPr>
            <a:xfrm>
              <a:off x="0" y="-38100"/>
              <a:ext cx="24762817" cy="19723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A120C5A0-8034-6382-4502-8ED500131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385902"/>
              </p:ext>
            </p:extLst>
          </p:nvPr>
        </p:nvGraphicFramePr>
        <p:xfrm>
          <a:off x="491795" y="2568310"/>
          <a:ext cx="17177133" cy="1965592"/>
        </p:xfrm>
        <a:graphic>
          <a:graphicData uri="http://schemas.openxmlformats.org/drawingml/2006/table">
            <a:tbl>
              <a:tblPr/>
              <a:tblGrid>
                <a:gridCol w="6845761">
                  <a:extLst>
                    <a:ext uri="{9D8B030D-6E8A-4147-A177-3AD203B41FA5}">
                      <a16:colId xmlns:a16="http://schemas.microsoft.com/office/drawing/2014/main" val="1349996566"/>
                    </a:ext>
                  </a:extLst>
                </a:gridCol>
                <a:gridCol w="3673335">
                  <a:extLst>
                    <a:ext uri="{9D8B030D-6E8A-4147-A177-3AD203B41FA5}">
                      <a16:colId xmlns:a16="http://schemas.microsoft.com/office/drawing/2014/main" val="1124500283"/>
                    </a:ext>
                  </a:extLst>
                </a:gridCol>
                <a:gridCol w="2504547">
                  <a:extLst>
                    <a:ext uri="{9D8B030D-6E8A-4147-A177-3AD203B41FA5}">
                      <a16:colId xmlns:a16="http://schemas.microsoft.com/office/drawing/2014/main" val="1338157893"/>
                    </a:ext>
                  </a:extLst>
                </a:gridCol>
                <a:gridCol w="4153490">
                  <a:extLst>
                    <a:ext uri="{9D8B030D-6E8A-4147-A177-3AD203B41FA5}">
                      <a16:colId xmlns:a16="http://schemas.microsoft.com/office/drawing/2014/main" val="953527053"/>
                    </a:ext>
                  </a:extLst>
                </a:gridCol>
              </a:tblGrid>
              <a:tr h="3483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68" b="1" i="1" kern="1200" dirty="0">
                          <a:solidFill>
                            <a:srgbClr val="3B4652"/>
                          </a:solidFill>
                          <a:latin typeface="Poppins 2 Bold Italics"/>
                          <a:cs typeface="Poppins 2 Bold Italics"/>
                        </a:rPr>
                        <a:t>Nombre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68" b="1" i="1" kern="1200" dirty="0">
                          <a:solidFill>
                            <a:srgbClr val="3B4652"/>
                          </a:solidFill>
                          <a:latin typeface="Poppins 2 Bold Italics"/>
                          <a:ea typeface="+mn-ea"/>
                          <a:cs typeface="Poppins 2 Bold Italics"/>
                        </a:rPr>
                        <a:t>Cargo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68" b="1" i="1" kern="1200" dirty="0">
                          <a:solidFill>
                            <a:srgbClr val="3B4652"/>
                          </a:solidFill>
                          <a:latin typeface="Poppins 2 Bold Italics"/>
                          <a:ea typeface="+mn-ea"/>
                          <a:cs typeface="Poppins 2 Bold Italics"/>
                        </a:rPr>
                        <a:t>SAP / RUT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68" b="1" i="1" kern="1200" dirty="0">
                          <a:solidFill>
                            <a:srgbClr val="3B4652"/>
                          </a:solidFill>
                          <a:latin typeface="Poppins 2 Bold Italics"/>
                          <a:ea typeface="+mn-ea"/>
                          <a:cs typeface="Poppins 2 Bold Italics"/>
                        </a:rPr>
                        <a:t>Firma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770329"/>
                  </a:ext>
                </a:extLst>
              </a:tr>
              <a:tr h="4043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639146"/>
                  </a:ext>
                </a:extLst>
              </a:tr>
              <a:tr h="4043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282865"/>
                  </a:ext>
                </a:extLst>
              </a:tr>
              <a:tr h="4043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938038"/>
                  </a:ext>
                </a:extLst>
              </a:tr>
              <a:tr h="4043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807641"/>
                  </a:ext>
                </a:extLst>
              </a:tr>
            </a:tbl>
          </a:graphicData>
        </a:graphic>
      </p:graphicFrame>
      <p:grpSp>
        <p:nvGrpSpPr>
          <p:cNvPr id="26" name="Group 14">
            <a:extLst>
              <a:ext uri="{FF2B5EF4-FFF2-40B4-BE49-F238E27FC236}">
                <a16:creationId xmlns:a16="http://schemas.microsoft.com/office/drawing/2014/main" id="{B4F4F11F-CE4B-1D39-E890-E13A419A4FD6}"/>
              </a:ext>
            </a:extLst>
          </p:cNvPr>
          <p:cNvGrpSpPr/>
          <p:nvPr/>
        </p:nvGrpSpPr>
        <p:grpSpPr>
          <a:xfrm>
            <a:off x="228601" y="2124363"/>
            <a:ext cx="17580400" cy="286723"/>
            <a:chOff x="0" y="0"/>
            <a:chExt cx="2744625" cy="98084"/>
          </a:xfrm>
        </p:grpSpPr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62FF6856-9C6F-B12A-ABE0-E9F571F8E19F}"/>
                </a:ext>
              </a:extLst>
            </p:cNvPr>
            <p:cNvSpPr/>
            <p:nvPr/>
          </p:nvSpPr>
          <p:spPr>
            <a:xfrm>
              <a:off x="0" y="0"/>
              <a:ext cx="2744625" cy="98084"/>
            </a:xfrm>
            <a:custGeom>
              <a:avLst/>
              <a:gdLst/>
              <a:ahLst/>
              <a:cxnLst/>
              <a:rect l="l" t="t" r="r" b="b"/>
              <a:pathLst>
                <a:path w="2744625" h="98084">
                  <a:moveTo>
                    <a:pt x="19299" y="0"/>
                  </a:moveTo>
                  <a:lnTo>
                    <a:pt x="2725327" y="0"/>
                  </a:lnTo>
                  <a:cubicBezTo>
                    <a:pt x="2735985" y="0"/>
                    <a:pt x="2744625" y="8640"/>
                    <a:pt x="2744625" y="19299"/>
                  </a:cubicBezTo>
                  <a:lnTo>
                    <a:pt x="2744625" y="78785"/>
                  </a:lnTo>
                  <a:cubicBezTo>
                    <a:pt x="2744625" y="83904"/>
                    <a:pt x="2742592" y="88813"/>
                    <a:pt x="2738973" y="92432"/>
                  </a:cubicBezTo>
                  <a:cubicBezTo>
                    <a:pt x="2735354" y="96051"/>
                    <a:pt x="2730445" y="98084"/>
                    <a:pt x="2725327" y="98084"/>
                  </a:cubicBezTo>
                  <a:lnTo>
                    <a:pt x="19299" y="98084"/>
                  </a:lnTo>
                  <a:cubicBezTo>
                    <a:pt x="14181" y="98084"/>
                    <a:pt x="9272" y="96051"/>
                    <a:pt x="5653" y="92432"/>
                  </a:cubicBezTo>
                  <a:cubicBezTo>
                    <a:pt x="2033" y="88813"/>
                    <a:pt x="0" y="83904"/>
                    <a:pt x="0" y="78785"/>
                  </a:cubicBezTo>
                  <a:lnTo>
                    <a:pt x="0" y="19299"/>
                  </a:lnTo>
                  <a:cubicBezTo>
                    <a:pt x="0" y="14181"/>
                    <a:pt x="2033" y="9272"/>
                    <a:pt x="5653" y="5653"/>
                  </a:cubicBezTo>
                  <a:cubicBezTo>
                    <a:pt x="9272" y="2033"/>
                    <a:pt x="14181" y="0"/>
                    <a:pt x="192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0000"/>
                  </a:srgbClr>
                </a:gs>
                <a:gs pos="100000">
                  <a:srgbClr val="FF914D">
                    <a:alpha val="9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8" name="TextBox 16">
              <a:extLst>
                <a:ext uri="{FF2B5EF4-FFF2-40B4-BE49-F238E27FC236}">
                  <a16:creationId xmlns:a16="http://schemas.microsoft.com/office/drawing/2014/main" id="{736C36D1-D828-4DBB-C8AD-FE00DB57CA45}"/>
                </a:ext>
              </a:extLst>
            </p:cNvPr>
            <p:cNvSpPr txBox="1"/>
            <p:nvPr/>
          </p:nvSpPr>
          <p:spPr>
            <a:xfrm>
              <a:off x="0" y="-19050"/>
              <a:ext cx="2744625" cy="117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22" name="TextBox 29">
            <a:extLst>
              <a:ext uri="{FF2B5EF4-FFF2-40B4-BE49-F238E27FC236}">
                <a16:creationId xmlns:a16="http://schemas.microsoft.com/office/drawing/2014/main" id="{5E141784-4D58-8FCC-AA70-A04C365D72CA}"/>
              </a:ext>
            </a:extLst>
          </p:cNvPr>
          <p:cNvSpPr txBox="1"/>
          <p:nvPr/>
        </p:nvSpPr>
        <p:spPr>
          <a:xfrm>
            <a:off x="6183943" y="2144517"/>
            <a:ext cx="5669716" cy="24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9"/>
              </a:lnSpc>
              <a:spcBef>
                <a:spcPct val="0"/>
              </a:spcBef>
            </a:pPr>
            <a:r>
              <a:rPr lang="es-CL" sz="1773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Equipo Investigador</a:t>
            </a:r>
            <a:endParaRPr lang="es-CL" sz="1773" b="1" u="none" strike="noStrike" noProof="0" dirty="0">
              <a:solidFill>
                <a:srgbClr val="FFFFFF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749527" y="313968"/>
            <a:ext cx="712945" cy="714732"/>
          </a:xfrm>
          <a:custGeom>
            <a:avLst/>
            <a:gdLst/>
            <a:ahLst/>
            <a:cxnLst/>
            <a:rect l="l" t="t" r="r" b="b"/>
            <a:pathLst>
              <a:path w="712945" h="714732">
                <a:moveTo>
                  <a:pt x="0" y="0"/>
                </a:moveTo>
                <a:lnTo>
                  <a:pt x="712946" y="0"/>
                </a:lnTo>
                <a:lnTo>
                  <a:pt x="712946" y="714732"/>
                </a:lnTo>
                <a:lnTo>
                  <a:pt x="0" y="714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605348" y="635256"/>
            <a:ext cx="6725073" cy="56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OBJETIVOS Y ALCANCES DE LA INVESTIGACIÓN</a:t>
            </a:r>
          </a:p>
          <a:p>
            <a:pPr algn="l">
              <a:lnSpc>
                <a:spcPts val="2120"/>
              </a:lnSpc>
            </a:pPr>
            <a:endParaRPr lang="es-CL" sz="2000" b="1" noProof="0" dirty="0">
              <a:solidFill>
                <a:srgbClr val="FFFFFF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05348" y="323493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PLANIFICACIÓN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47325" y="2124363"/>
            <a:ext cx="8023167" cy="286723"/>
            <a:chOff x="0" y="0"/>
            <a:chExt cx="2744625" cy="980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44625" cy="98084"/>
            </a:xfrm>
            <a:custGeom>
              <a:avLst/>
              <a:gdLst/>
              <a:ahLst/>
              <a:cxnLst/>
              <a:rect l="l" t="t" r="r" b="b"/>
              <a:pathLst>
                <a:path w="2744625" h="98084">
                  <a:moveTo>
                    <a:pt x="19299" y="0"/>
                  </a:moveTo>
                  <a:lnTo>
                    <a:pt x="2725327" y="0"/>
                  </a:lnTo>
                  <a:cubicBezTo>
                    <a:pt x="2735985" y="0"/>
                    <a:pt x="2744625" y="8640"/>
                    <a:pt x="2744625" y="19299"/>
                  </a:cubicBezTo>
                  <a:lnTo>
                    <a:pt x="2744625" y="78785"/>
                  </a:lnTo>
                  <a:cubicBezTo>
                    <a:pt x="2744625" y="83904"/>
                    <a:pt x="2742592" y="88813"/>
                    <a:pt x="2738973" y="92432"/>
                  </a:cubicBezTo>
                  <a:cubicBezTo>
                    <a:pt x="2735354" y="96051"/>
                    <a:pt x="2730445" y="98084"/>
                    <a:pt x="2725327" y="98084"/>
                  </a:cubicBezTo>
                  <a:lnTo>
                    <a:pt x="19299" y="98084"/>
                  </a:lnTo>
                  <a:cubicBezTo>
                    <a:pt x="14181" y="98084"/>
                    <a:pt x="9272" y="96051"/>
                    <a:pt x="5653" y="92432"/>
                  </a:cubicBezTo>
                  <a:cubicBezTo>
                    <a:pt x="2033" y="88813"/>
                    <a:pt x="0" y="83904"/>
                    <a:pt x="0" y="78785"/>
                  </a:cubicBezTo>
                  <a:lnTo>
                    <a:pt x="0" y="19299"/>
                  </a:lnTo>
                  <a:cubicBezTo>
                    <a:pt x="0" y="14181"/>
                    <a:pt x="2033" y="9272"/>
                    <a:pt x="5653" y="5653"/>
                  </a:cubicBezTo>
                  <a:cubicBezTo>
                    <a:pt x="9272" y="2033"/>
                    <a:pt x="14181" y="0"/>
                    <a:pt x="192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0000"/>
                  </a:srgbClr>
                </a:gs>
                <a:gs pos="100000">
                  <a:srgbClr val="FF914D">
                    <a:alpha val="9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744625" cy="117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7765" y="2411086"/>
            <a:ext cx="8023167" cy="6378128"/>
            <a:chOff x="0" y="0"/>
            <a:chExt cx="24762817" cy="1968554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762817" cy="19685544"/>
            </a:xfrm>
            <a:custGeom>
              <a:avLst/>
              <a:gdLst/>
              <a:ahLst/>
              <a:cxnLst/>
              <a:rect l="l" t="t" r="r" b="b"/>
              <a:pathLst>
                <a:path w="24762817" h="19685544">
                  <a:moveTo>
                    <a:pt x="2895" y="0"/>
                  </a:moveTo>
                  <a:lnTo>
                    <a:pt x="24759923" y="0"/>
                  </a:lnTo>
                  <a:cubicBezTo>
                    <a:pt x="24761521" y="0"/>
                    <a:pt x="24762817" y="1296"/>
                    <a:pt x="24762817" y="2895"/>
                  </a:cubicBezTo>
                  <a:lnTo>
                    <a:pt x="24762817" y="19682650"/>
                  </a:lnTo>
                  <a:cubicBezTo>
                    <a:pt x="24762817" y="19684248"/>
                    <a:pt x="24761521" y="19685544"/>
                    <a:pt x="24759923" y="19685544"/>
                  </a:cubicBezTo>
                  <a:lnTo>
                    <a:pt x="2895" y="19685544"/>
                  </a:lnTo>
                  <a:cubicBezTo>
                    <a:pt x="1296" y="19685544"/>
                    <a:pt x="0" y="19684248"/>
                    <a:pt x="0" y="19682650"/>
                  </a:cubicBezTo>
                  <a:lnTo>
                    <a:pt x="0" y="2895"/>
                  </a:lnTo>
                  <a:cubicBezTo>
                    <a:pt x="0" y="1296"/>
                    <a:pt x="1296" y="0"/>
                    <a:pt x="2895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4762817" cy="19723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624051" y="2133888"/>
            <a:ext cx="5669716" cy="260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9"/>
              </a:lnSpc>
              <a:spcBef>
                <a:spcPct val="0"/>
              </a:spcBef>
            </a:pPr>
            <a:r>
              <a:rPr lang="es-CL" sz="1773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Obj</a:t>
            </a:r>
            <a:r>
              <a:rPr lang="es-CL" sz="1773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etivos de la investigación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8277" y="2496854"/>
            <a:ext cx="7762143" cy="687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es-CL" sz="2000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Identificar causas inmediatas y básicas del evento:</a:t>
            </a:r>
          </a:p>
          <a:p>
            <a:pPr algn="just">
              <a:lnSpc>
                <a:spcPts val="2700"/>
              </a:lnSpc>
            </a:pPr>
            <a:endParaRPr lang="es-CL" sz="2000" b="1" noProof="0" dirty="0">
              <a:solidFill>
                <a:srgbClr val="545454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  <a:p>
            <a:pPr marL="431801" lvl="1" indent="-215900" algn="just">
              <a:lnSpc>
                <a:spcPts val="2700"/>
              </a:lnSpc>
              <a:buFont typeface="Arial"/>
              <a:buChar char="•"/>
            </a:pPr>
            <a:r>
              <a:rPr lang="es-CL" sz="2000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 Verificar la efectividad de los controles críticos aplicados.</a:t>
            </a:r>
          </a:p>
          <a:p>
            <a:pPr marL="431801" lvl="1" indent="-215900" algn="just">
              <a:lnSpc>
                <a:spcPts val="2700"/>
              </a:lnSpc>
              <a:buFont typeface="Arial"/>
              <a:buChar char="•"/>
            </a:pPr>
            <a:r>
              <a:rPr lang="es-CL" sz="2000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 Establecer acciones correctivas y preventivas SMART (específicas, medibles, alcanzables, realistas y con plazo definido).</a:t>
            </a:r>
          </a:p>
          <a:p>
            <a:pPr marL="431801" lvl="1" indent="-215900" algn="just">
              <a:lnSpc>
                <a:spcPts val="2700"/>
              </a:lnSpc>
              <a:buFont typeface="Arial"/>
              <a:buChar char="•"/>
            </a:pPr>
            <a:r>
              <a:rPr lang="es-CL" sz="2000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 Generar aprendizajes aplicables a la organización.</a:t>
            </a: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r>
              <a:rPr lang="es-CL" sz="2000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</a:t>
            </a:r>
            <a:r>
              <a:rPr lang="es-CL" sz="2000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 Determinar por qué el bloqueo eléctrico no se aplicó y establecer un plan de capacitación obligatoria para operadores eléctricos antes de abril 2025.</a:t>
            </a: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9785833" y="2124363"/>
            <a:ext cx="8023167" cy="286723"/>
            <a:chOff x="0" y="0"/>
            <a:chExt cx="2744625" cy="9808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744625" cy="98084"/>
            </a:xfrm>
            <a:custGeom>
              <a:avLst/>
              <a:gdLst/>
              <a:ahLst/>
              <a:cxnLst/>
              <a:rect l="l" t="t" r="r" b="b"/>
              <a:pathLst>
                <a:path w="2744625" h="98084">
                  <a:moveTo>
                    <a:pt x="19299" y="0"/>
                  </a:moveTo>
                  <a:lnTo>
                    <a:pt x="2725327" y="0"/>
                  </a:lnTo>
                  <a:cubicBezTo>
                    <a:pt x="2735985" y="0"/>
                    <a:pt x="2744625" y="8640"/>
                    <a:pt x="2744625" y="19299"/>
                  </a:cubicBezTo>
                  <a:lnTo>
                    <a:pt x="2744625" y="78785"/>
                  </a:lnTo>
                  <a:cubicBezTo>
                    <a:pt x="2744625" y="83904"/>
                    <a:pt x="2742592" y="88813"/>
                    <a:pt x="2738973" y="92432"/>
                  </a:cubicBezTo>
                  <a:cubicBezTo>
                    <a:pt x="2735354" y="96051"/>
                    <a:pt x="2730445" y="98084"/>
                    <a:pt x="2725327" y="98084"/>
                  </a:cubicBezTo>
                  <a:lnTo>
                    <a:pt x="19299" y="98084"/>
                  </a:lnTo>
                  <a:cubicBezTo>
                    <a:pt x="14181" y="98084"/>
                    <a:pt x="9272" y="96051"/>
                    <a:pt x="5653" y="92432"/>
                  </a:cubicBezTo>
                  <a:cubicBezTo>
                    <a:pt x="2033" y="88813"/>
                    <a:pt x="0" y="83904"/>
                    <a:pt x="0" y="78785"/>
                  </a:cubicBezTo>
                  <a:lnTo>
                    <a:pt x="0" y="19299"/>
                  </a:lnTo>
                  <a:cubicBezTo>
                    <a:pt x="0" y="14181"/>
                    <a:pt x="2033" y="9272"/>
                    <a:pt x="5653" y="5653"/>
                  </a:cubicBezTo>
                  <a:cubicBezTo>
                    <a:pt x="9272" y="2033"/>
                    <a:pt x="14181" y="0"/>
                    <a:pt x="192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0000"/>
                  </a:srgbClr>
                </a:gs>
                <a:gs pos="100000">
                  <a:srgbClr val="FF914D">
                    <a:alpha val="9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2744625" cy="117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85833" y="2411086"/>
            <a:ext cx="8023167" cy="6378128"/>
            <a:chOff x="0" y="0"/>
            <a:chExt cx="24762817" cy="1968554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4762817" cy="19685544"/>
            </a:xfrm>
            <a:custGeom>
              <a:avLst/>
              <a:gdLst/>
              <a:ahLst/>
              <a:cxnLst/>
              <a:rect l="l" t="t" r="r" b="b"/>
              <a:pathLst>
                <a:path w="24762817" h="19685544">
                  <a:moveTo>
                    <a:pt x="2895" y="0"/>
                  </a:moveTo>
                  <a:lnTo>
                    <a:pt x="24759923" y="0"/>
                  </a:lnTo>
                  <a:cubicBezTo>
                    <a:pt x="24761521" y="0"/>
                    <a:pt x="24762817" y="1296"/>
                    <a:pt x="24762817" y="2895"/>
                  </a:cubicBezTo>
                  <a:lnTo>
                    <a:pt x="24762817" y="19682650"/>
                  </a:lnTo>
                  <a:cubicBezTo>
                    <a:pt x="24762817" y="19684248"/>
                    <a:pt x="24761521" y="19685544"/>
                    <a:pt x="24759923" y="19685544"/>
                  </a:cubicBezTo>
                  <a:lnTo>
                    <a:pt x="2895" y="19685544"/>
                  </a:lnTo>
                  <a:cubicBezTo>
                    <a:pt x="1296" y="19685544"/>
                    <a:pt x="0" y="19684248"/>
                    <a:pt x="0" y="19682650"/>
                  </a:cubicBezTo>
                  <a:lnTo>
                    <a:pt x="0" y="2895"/>
                  </a:lnTo>
                  <a:cubicBezTo>
                    <a:pt x="0" y="1296"/>
                    <a:pt x="1296" y="0"/>
                    <a:pt x="2895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4762817" cy="19723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906785" y="2496854"/>
            <a:ext cx="7762143" cy="481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es-CL" sz="2000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Delimitar qué se incluye y qué no:</a:t>
            </a:r>
          </a:p>
          <a:p>
            <a:pPr algn="just">
              <a:lnSpc>
                <a:spcPts val="2700"/>
              </a:lnSpc>
            </a:pPr>
            <a:endParaRPr lang="es-CL" sz="2000" b="1" noProof="0" dirty="0">
              <a:solidFill>
                <a:srgbClr val="545454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  <a:p>
            <a:pPr algn="just">
              <a:lnSpc>
                <a:spcPts val="2700"/>
              </a:lnSpc>
            </a:pPr>
            <a:r>
              <a:rPr lang="es-CL" sz="2000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✅ Procesos, áreas, instalaciones y actividades involucradas directamente en el evento.</a:t>
            </a:r>
          </a:p>
          <a:p>
            <a:pPr algn="just">
              <a:lnSpc>
                <a:spcPts val="2700"/>
              </a:lnSpc>
            </a:pPr>
            <a:r>
              <a:rPr lang="es-CL" sz="2000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✅Verificación del cumplimiento de los controles críticos asociados al riesgo de fatalidad.</a:t>
            </a:r>
          </a:p>
          <a:p>
            <a:pPr algn="just">
              <a:lnSpc>
                <a:spcPts val="2700"/>
              </a:lnSpc>
            </a:pPr>
            <a:r>
              <a:rPr lang="es-CL" sz="2000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 ❌ Aspectos ajenos al evento o sin relación directa con la seguridad operacional.</a:t>
            </a: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r>
              <a:rPr lang="es-CL" sz="2000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</a:t>
            </a:r>
            <a:r>
              <a:rPr lang="es-CL" sz="2000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 El análisis considera el área de molienda y los procedimientos de bloqueo, pero no incluye procesos de mantenimiento en otras plantas.</a:t>
            </a: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952998" y="2150953"/>
            <a:ext cx="5669716" cy="260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9"/>
              </a:lnSpc>
              <a:spcBef>
                <a:spcPct val="0"/>
              </a:spcBef>
            </a:pPr>
            <a:r>
              <a:rPr lang="es-CL" sz="1773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Alcanc</a:t>
            </a:r>
            <a:r>
              <a:rPr lang="es-CL" sz="1773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es de la investigación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87763" y="9469154"/>
            <a:ext cx="10697606" cy="676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*Los objetivos y alcances deberán adaptarse según la magnitud y características específicas del evento investigado.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749527" y="313968"/>
            <a:ext cx="712945" cy="714732"/>
          </a:xfrm>
          <a:custGeom>
            <a:avLst/>
            <a:gdLst/>
            <a:ahLst/>
            <a:cxnLst/>
            <a:rect l="l" t="t" r="r" b="b"/>
            <a:pathLst>
              <a:path w="712945" h="714732">
                <a:moveTo>
                  <a:pt x="0" y="0"/>
                </a:moveTo>
                <a:lnTo>
                  <a:pt x="712946" y="0"/>
                </a:lnTo>
                <a:lnTo>
                  <a:pt x="712946" y="714732"/>
                </a:lnTo>
                <a:lnTo>
                  <a:pt x="0" y="714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605348" y="635256"/>
            <a:ext cx="6725073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PLAZOS Y COORDINACIÓN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5348" y="323493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PLANIFICACIÓN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62400" y="9480211"/>
            <a:ext cx="10697606" cy="343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* Tabla referencial, ajustable según criterios y necesidades de cada caso.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314E6CB4-D073-C2A4-E196-33395160E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815C1C3E-A94F-662A-F1FF-DBB0841CFE6D}"/>
              </a:ext>
            </a:extLst>
          </p:cNvPr>
          <p:cNvSpPr txBox="1"/>
          <p:nvPr/>
        </p:nvSpPr>
        <p:spPr>
          <a:xfrm>
            <a:off x="568277" y="2496854"/>
            <a:ext cx="17491122" cy="2755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es-CL" sz="2000" b="1" dirty="0">
                <a:solidFill>
                  <a:srgbClr val="545454"/>
                </a:solidFill>
                <a:latin typeface="Poppins 1 Bold"/>
                <a:ea typeface="Poppins 1"/>
                <a:cs typeface="Poppins 1 Bold"/>
                <a:sym typeface="Poppins 1 Bold"/>
              </a:rPr>
              <a:t>AGREGAR CARTA GANTT</a:t>
            </a: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700"/>
              </a:lnSpc>
            </a:pPr>
            <a:endParaRPr lang="es-CL" sz="2000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237355" y="0"/>
            <a:ext cx="8829538" cy="10324610"/>
            <a:chOff x="0" y="0"/>
            <a:chExt cx="2325475" cy="27192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25475" cy="2719239"/>
            </a:xfrm>
            <a:custGeom>
              <a:avLst/>
              <a:gdLst/>
              <a:ahLst/>
              <a:cxnLst/>
              <a:rect l="l" t="t" r="r" b="b"/>
              <a:pathLst>
                <a:path w="2325475" h="2719239">
                  <a:moveTo>
                    <a:pt x="0" y="0"/>
                  </a:moveTo>
                  <a:lnTo>
                    <a:pt x="2325475" y="0"/>
                  </a:lnTo>
                  <a:lnTo>
                    <a:pt x="2325475" y="2719239"/>
                  </a:lnTo>
                  <a:lnTo>
                    <a:pt x="0" y="2719239"/>
                  </a:lnTo>
                  <a:close/>
                </a:path>
              </a:pathLst>
            </a:custGeom>
            <a:solidFill>
              <a:srgbClr val="737373">
                <a:alpha val="43922"/>
              </a:srgbClr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325475" cy="2747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4"/>
                </a:lnSpc>
              </a:pPr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3510783" y="4623265"/>
            <a:ext cx="13382481" cy="173983"/>
          </a:xfrm>
          <a:custGeom>
            <a:avLst/>
            <a:gdLst/>
            <a:ahLst/>
            <a:cxnLst/>
            <a:rect l="l" t="t" r="r" b="b"/>
            <a:pathLst>
              <a:path w="13382481" h="173983">
                <a:moveTo>
                  <a:pt x="0" y="0"/>
                </a:moveTo>
                <a:lnTo>
                  <a:pt x="13382481" y="0"/>
                </a:lnTo>
                <a:lnTo>
                  <a:pt x="13382481" y="173982"/>
                </a:lnTo>
                <a:lnTo>
                  <a:pt x="0" y="173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60677" b="-158463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853683" y="825909"/>
            <a:ext cx="2473721" cy="1452172"/>
          </a:xfrm>
          <a:custGeom>
            <a:avLst/>
            <a:gdLst/>
            <a:ahLst/>
            <a:cxnLst/>
            <a:rect l="l" t="t" r="r" b="b"/>
            <a:pathLst>
              <a:path w="2473721" h="1452172">
                <a:moveTo>
                  <a:pt x="0" y="0"/>
                </a:moveTo>
                <a:lnTo>
                  <a:pt x="2473720" y="0"/>
                </a:lnTo>
                <a:lnTo>
                  <a:pt x="2473720" y="1452172"/>
                </a:lnTo>
                <a:lnTo>
                  <a:pt x="0" y="1452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3857270" y="825909"/>
            <a:ext cx="1707984" cy="1592695"/>
          </a:xfrm>
          <a:custGeom>
            <a:avLst/>
            <a:gdLst/>
            <a:ahLst/>
            <a:cxnLst/>
            <a:rect l="l" t="t" r="r" b="b"/>
            <a:pathLst>
              <a:path w="1707984" h="1592695">
                <a:moveTo>
                  <a:pt x="0" y="0"/>
                </a:moveTo>
                <a:lnTo>
                  <a:pt x="1707985" y="0"/>
                </a:lnTo>
                <a:lnTo>
                  <a:pt x="1707985" y="1592695"/>
                </a:lnTo>
                <a:lnTo>
                  <a:pt x="0" y="1592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3516137" y="1030415"/>
            <a:ext cx="0" cy="1221272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AutoShape 10"/>
          <p:cNvSpPr/>
          <p:nvPr/>
        </p:nvSpPr>
        <p:spPr>
          <a:xfrm flipH="1">
            <a:off x="11630603" y="8009242"/>
            <a:ext cx="1536" cy="474889"/>
          </a:xfrm>
          <a:prstGeom prst="line">
            <a:avLst/>
          </a:prstGeom>
          <a:ln w="66675" cap="rnd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1" name="Group 11"/>
          <p:cNvGrpSpPr/>
          <p:nvPr/>
        </p:nvGrpSpPr>
        <p:grpSpPr>
          <a:xfrm>
            <a:off x="13484029" y="1816903"/>
            <a:ext cx="1522016" cy="1260965"/>
            <a:chOff x="0" y="0"/>
            <a:chExt cx="2029354" cy="1681287"/>
          </a:xfrm>
        </p:grpSpPr>
        <p:grpSp>
          <p:nvGrpSpPr>
            <p:cNvPr id="12" name="Group 12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1300481" y="1804599"/>
            <a:ext cx="484780" cy="164601"/>
            <a:chOff x="0" y="0"/>
            <a:chExt cx="219260" cy="74447"/>
          </a:xfrm>
        </p:grpSpPr>
        <p:sp>
          <p:nvSpPr>
            <p:cNvPr id="19" name="Freeform 19"/>
            <p:cNvSpPr/>
            <p:nvPr/>
          </p:nvSpPr>
          <p:spPr>
            <a:xfrm>
              <a:off x="44159" y="14753"/>
              <a:ext cx="130942" cy="59693"/>
            </a:xfrm>
            <a:custGeom>
              <a:avLst/>
              <a:gdLst/>
              <a:ahLst/>
              <a:cxnLst/>
              <a:rect l="l" t="t" r="r" b="b"/>
              <a:pathLst>
                <a:path w="130942" h="59693">
                  <a:moveTo>
                    <a:pt x="120286" y="22470"/>
                  </a:moveTo>
                  <a:lnTo>
                    <a:pt x="120286" y="22470"/>
                  </a:lnTo>
                  <a:cubicBezTo>
                    <a:pt x="127685" y="27495"/>
                    <a:pt x="130942" y="36760"/>
                    <a:pt x="128313" y="45309"/>
                  </a:cubicBezTo>
                  <a:cubicBezTo>
                    <a:pt x="125685" y="53859"/>
                    <a:pt x="117786" y="59694"/>
                    <a:pt x="108842" y="59694"/>
                  </a:cubicBezTo>
                  <a:lnTo>
                    <a:pt x="22100" y="59694"/>
                  </a:lnTo>
                  <a:cubicBezTo>
                    <a:pt x="13155" y="59694"/>
                    <a:pt x="5257" y="53859"/>
                    <a:pt x="2629" y="45309"/>
                  </a:cubicBezTo>
                  <a:cubicBezTo>
                    <a:pt x="0" y="36760"/>
                    <a:pt x="3256" y="27495"/>
                    <a:pt x="10656" y="22470"/>
                  </a:cubicBezTo>
                  <a:lnTo>
                    <a:pt x="10656" y="22470"/>
                  </a:lnTo>
                  <a:cubicBezTo>
                    <a:pt x="43745" y="0"/>
                    <a:pt x="87197" y="0"/>
                    <a:pt x="120286" y="2247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259" y="5990"/>
              <a:ext cx="150741" cy="63140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34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839906" y="1925732"/>
            <a:ext cx="1471222" cy="1139832"/>
            <a:chOff x="0" y="0"/>
            <a:chExt cx="711694" cy="5513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1694" cy="551386"/>
            </a:xfrm>
            <a:custGeom>
              <a:avLst/>
              <a:gdLst/>
              <a:ahLst/>
              <a:cxnLst/>
              <a:rect l="l" t="t" r="r" b="b"/>
              <a:pathLst>
                <a:path w="711694" h="551386">
                  <a:moveTo>
                    <a:pt x="0" y="0"/>
                  </a:moveTo>
                  <a:lnTo>
                    <a:pt x="711694" y="0"/>
                  </a:lnTo>
                  <a:lnTo>
                    <a:pt x="711694" y="551386"/>
                  </a:lnTo>
                  <a:lnTo>
                    <a:pt x="0" y="551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711694" cy="579961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34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807" y="1804599"/>
            <a:ext cx="1522016" cy="1260965"/>
            <a:chOff x="0" y="0"/>
            <a:chExt cx="2029354" cy="1681287"/>
          </a:xfrm>
        </p:grpSpPr>
        <p:grpSp>
          <p:nvGrpSpPr>
            <p:cNvPr id="25" name="Group 25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36A4B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357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36A4B1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357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16192807" y="5158716"/>
            <a:ext cx="1522016" cy="1260965"/>
            <a:chOff x="0" y="0"/>
            <a:chExt cx="2029354" cy="1681287"/>
          </a:xfrm>
        </p:grpSpPr>
        <p:grpSp>
          <p:nvGrpSpPr>
            <p:cNvPr id="32" name="Group 32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0839906" y="5151530"/>
            <a:ext cx="1522016" cy="1260965"/>
            <a:chOff x="0" y="0"/>
            <a:chExt cx="2029354" cy="1681287"/>
          </a:xfrm>
        </p:grpSpPr>
        <p:grpSp>
          <p:nvGrpSpPr>
            <p:cNvPr id="39" name="Group 39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13497213" y="5151530"/>
            <a:ext cx="1522016" cy="1260965"/>
            <a:chOff x="0" y="0"/>
            <a:chExt cx="2029354" cy="1681287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10871131" y="8578834"/>
            <a:ext cx="1534035" cy="1139832"/>
            <a:chOff x="0" y="0"/>
            <a:chExt cx="742079" cy="55138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42079" cy="551386"/>
            </a:xfrm>
            <a:custGeom>
              <a:avLst/>
              <a:gdLst/>
              <a:ahLst/>
              <a:cxnLst/>
              <a:rect l="l" t="t" r="r" b="b"/>
              <a:pathLst>
                <a:path w="742079" h="551386">
                  <a:moveTo>
                    <a:pt x="0" y="0"/>
                  </a:moveTo>
                  <a:lnTo>
                    <a:pt x="742079" y="0"/>
                  </a:lnTo>
                  <a:lnTo>
                    <a:pt x="742079" y="551386"/>
                  </a:lnTo>
                  <a:lnTo>
                    <a:pt x="0" y="551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742079" cy="579961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50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388855" y="8457701"/>
            <a:ext cx="483136" cy="164601"/>
            <a:chOff x="0" y="0"/>
            <a:chExt cx="218516" cy="74447"/>
          </a:xfrm>
        </p:grpSpPr>
        <p:sp>
          <p:nvSpPr>
            <p:cNvPr id="56" name="Freeform 56"/>
            <p:cNvSpPr/>
            <p:nvPr/>
          </p:nvSpPr>
          <p:spPr>
            <a:xfrm>
              <a:off x="43994" y="14767"/>
              <a:ext cx="130528" cy="59680"/>
            </a:xfrm>
            <a:custGeom>
              <a:avLst/>
              <a:gdLst/>
              <a:ahLst/>
              <a:cxnLst/>
              <a:rect l="l" t="t" r="r" b="b"/>
              <a:pathLst>
                <a:path w="130528" h="59680">
                  <a:moveTo>
                    <a:pt x="119893" y="22456"/>
                  </a:moveTo>
                  <a:lnTo>
                    <a:pt x="119893" y="22456"/>
                  </a:lnTo>
                  <a:cubicBezTo>
                    <a:pt x="127284" y="27492"/>
                    <a:pt x="130528" y="36758"/>
                    <a:pt x="127893" y="45304"/>
                  </a:cubicBezTo>
                  <a:cubicBezTo>
                    <a:pt x="125258" y="53850"/>
                    <a:pt x="117360" y="59680"/>
                    <a:pt x="108417" y="59680"/>
                  </a:cubicBezTo>
                  <a:lnTo>
                    <a:pt x="22111" y="59680"/>
                  </a:lnTo>
                  <a:cubicBezTo>
                    <a:pt x="13168" y="59680"/>
                    <a:pt x="5270" y="53850"/>
                    <a:pt x="2635" y="45304"/>
                  </a:cubicBezTo>
                  <a:cubicBezTo>
                    <a:pt x="0" y="36758"/>
                    <a:pt x="3245" y="27492"/>
                    <a:pt x="10635" y="22456"/>
                  </a:cubicBezTo>
                  <a:lnTo>
                    <a:pt x="10635" y="22456"/>
                  </a:lnTo>
                  <a:cubicBezTo>
                    <a:pt x="43593" y="0"/>
                    <a:pt x="86936" y="0"/>
                    <a:pt x="119893" y="22456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143" y="5990"/>
              <a:ext cx="150230" cy="63140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50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170193" y="4838409"/>
            <a:ext cx="176057" cy="177782"/>
            <a:chOff x="0" y="0"/>
            <a:chExt cx="274676" cy="27736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544111" y="8144580"/>
            <a:ext cx="176057" cy="177782"/>
            <a:chOff x="0" y="0"/>
            <a:chExt cx="274676" cy="27736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6865786" y="4845595"/>
            <a:ext cx="176057" cy="177782"/>
            <a:chOff x="0" y="0"/>
            <a:chExt cx="274676" cy="27736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512885" y="4838409"/>
            <a:ext cx="176057" cy="177782"/>
            <a:chOff x="0" y="0"/>
            <a:chExt cx="274676" cy="277367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6865786" y="1491478"/>
            <a:ext cx="176057" cy="177782"/>
            <a:chOff x="0" y="0"/>
            <a:chExt cx="274676" cy="277367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36A4B1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2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157008" y="1503569"/>
            <a:ext cx="176057" cy="177782"/>
            <a:chOff x="0" y="0"/>
            <a:chExt cx="274676" cy="277367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462092" y="1491478"/>
            <a:ext cx="176057" cy="177782"/>
            <a:chOff x="0" y="0"/>
            <a:chExt cx="274676" cy="277367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156217" y="568334"/>
            <a:ext cx="787806" cy="787806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3851134" y="580638"/>
            <a:ext cx="787806" cy="787806"/>
            <a:chOff x="0" y="0"/>
            <a:chExt cx="812800" cy="812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3864318" y="3915265"/>
            <a:ext cx="787806" cy="787806"/>
            <a:chOff x="0" y="0"/>
            <a:chExt cx="812800" cy="812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1238236" y="7221436"/>
            <a:ext cx="787806" cy="787806"/>
            <a:chOff x="0" y="0"/>
            <a:chExt cx="812800" cy="8128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6559912" y="3922451"/>
            <a:ext cx="787806" cy="787806"/>
            <a:chOff x="0" y="0"/>
            <a:chExt cx="812800" cy="8128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1207011" y="3915265"/>
            <a:ext cx="787806" cy="787806"/>
            <a:chOff x="0" y="0"/>
            <a:chExt cx="812800" cy="8128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6559912" y="568334"/>
            <a:ext cx="787806" cy="787806"/>
            <a:chOff x="0" y="0"/>
            <a:chExt cx="812800" cy="8128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A4B1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2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100" name="Freeform 100"/>
          <p:cNvSpPr/>
          <p:nvPr/>
        </p:nvSpPr>
        <p:spPr>
          <a:xfrm>
            <a:off x="12723246" y="777833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1" name="Freeform 101"/>
          <p:cNvSpPr/>
          <p:nvPr/>
        </p:nvSpPr>
        <p:spPr>
          <a:xfrm>
            <a:off x="15418362" y="790060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2" name="Freeform 102"/>
          <p:cNvSpPr/>
          <p:nvPr/>
        </p:nvSpPr>
        <p:spPr>
          <a:xfrm rot="-10800000">
            <a:off x="15431686" y="4162537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3" name="Freeform 103"/>
          <p:cNvSpPr/>
          <p:nvPr/>
        </p:nvSpPr>
        <p:spPr>
          <a:xfrm rot="-10800000">
            <a:off x="12736231" y="4150310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5" y="0"/>
                </a:lnTo>
                <a:lnTo>
                  <a:pt x="348665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4" name="Freeform 104"/>
          <p:cNvSpPr/>
          <p:nvPr/>
        </p:nvSpPr>
        <p:spPr>
          <a:xfrm rot="5400000">
            <a:off x="11456091" y="6620258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5" name="Freeform 105"/>
          <p:cNvSpPr/>
          <p:nvPr/>
        </p:nvSpPr>
        <p:spPr>
          <a:xfrm rot="5400000">
            <a:off x="16779482" y="3297299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5" y="0"/>
                </a:lnTo>
                <a:lnTo>
                  <a:pt x="348665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6" name="TextBox 106"/>
          <p:cNvSpPr txBox="1"/>
          <p:nvPr/>
        </p:nvSpPr>
        <p:spPr>
          <a:xfrm>
            <a:off x="750114" y="4375843"/>
            <a:ext cx="7317043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0"/>
              </a:lnSpc>
            </a:pPr>
            <a:r>
              <a:rPr lang="es-CL" sz="5000" b="1" noProof="0" dirty="0">
                <a:solidFill>
                  <a:srgbClr val="36424A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PASO 3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20691" y="9945023"/>
            <a:ext cx="5344563" cy="23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63"/>
              </a:lnSpc>
            </a:pPr>
            <a:r>
              <a:rPr lang="es-CL" sz="1444" noProof="0" dirty="0">
                <a:solidFill>
                  <a:srgbClr val="737373"/>
                </a:solidFill>
                <a:latin typeface="Poppins 1"/>
                <a:ea typeface="Poppins 1"/>
                <a:cs typeface="Poppins 1"/>
                <a:sym typeface="Poppins 1"/>
              </a:rPr>
              <a:t>2025 CODELCO CHILE. TODOS LOS DERECHOS RESERVADOS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750114" y="5199155"/>
            <a:ext cx="7497117" cy="3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8"/>
              </a:lnSpc>
            </a:pPr>
            <a:r>
              <a:rPr lang="es-CL" sz="2800" noProof="0" dirty="0">
                <a:solidFill>
                  <a:srgbClr val="36424A"/>
                </a:solidFill>
                <a:latin typeface="Montserrat 1"/>
                <a:ea typeface="Montserrat 1"/>
                <a:cs typeface="Montserrat 1"/>
                <a:sym typeface="Montserrat 1"/>
              </a:rPr>
              <a:t>Recolección de Datos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4466861" y="8211567"/>
            <a:ext cx="3287149" cy="112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s-CL" sz="3995" b="1" noProof="0" dirty="0">
                <a:solidFill>
                  <a:srgbClr val="E9662D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PASOS</a:t>
            </a:r>
          </a:p>
          <a:p>
            <a:pPr algn="l">
              <a:lnSpc>
                <a:spcPts val="2393"/>
              </a:lnSpc>
            </a:pPr>
            <a:r>
              <a:rPr lang="es-CL" sz="2393" noProof="0" dirty="0">
                <a:solidFill>
                  <a:srgbClr val="E9662D"/>
                </a:solidFill>
                <a:latin typeface="Poppins 1"/>
                <a:ea typeface="Poppins 1"/>
                <a:cs typeface="Poppins 1"/>
                <a:sym typeface="Poppins 1"/>
              </a:rPr>
              <a:t>DE LA INVESTIGACIÓN</a:t>
            </a:r>
          </a:p>
          <a:p>
            <a:pPr algn="l">
              <a:lnSpc>
                <a:spcPts val="2393"/>
              </a:lnSpc>
            </a:pPr>
            <a:r>
              <a:rPr lang="es-CL" sz="2393" noProof="0" dirty="0">
                <a:solidFill>
                  <a:srgbClr val="E9662D"/>
                </a:solidFill>
                <a:latin typeface="Poppins 1"/>
                <a:ea typeface="Poppins 1"/>
                <a:cs typeface="Poppins 1"/>
                <a:sym typeface="Poppins 1"/>
              </a:rPr>
              <a:t>ICAM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839906" y="2249079"/>
            <a:ext cx="1471222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Inmediatas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3472010" y="2132346"/>
            <a:ext cx="1534035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Planificación</a:t>
            </a:r>
          </a:p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de la Investigación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6352144" y="2326188"/>
            <a:ext cx="1227295" cy="398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6"/>
              </a:lnSpc>
              <a:spcBef>
                <a:spcPct val="0"/>
              </a:spcBef>
            </a:pPr>
            <a:r>
              <a:rPr lang="es-CL" sz="1208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Recolección de Datos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1300481" y="639680"/>
            <a:ext cx="470895" cy="65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1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4004790" y="651984"/>
            <a:ext cx="470895" cy="65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2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6730343" y="743704"/>
            <a:ext cx="470895" cy="55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70"/>
              </a:lnSpc>
              <a:spcBef>
                <a:spcPct val="0"/>
              </a:spcBef>
            </a:pPr>
            <a:r>
              <a:rPr lang="es-CL" sz="3703" b="1" u="none" strike="noStrike" noProof="0" dirty="0">
                <a:solidFill>
                  <a:srgbClr val="0099A8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3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6703971" y="3993952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4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4003579" y="3986767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5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1358515" y="3986767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6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1401096" y="7292938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7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6266495" y="5603196"/>
            <a:ext cx="1406902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Organización de Datos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3704898" y="5472864"/>
            <a:ext cx="1068258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Análisis Causal (ICAM)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915205" y="5466973"/>
            <a:ext cx="1396045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preventivas y correctivas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913398" y="8773144"/>
            <a:ext cx="1438850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Informe de investigación</a:t>
            </a:r>
          </a:p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y aprendizaje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3431377" y="7584746"/>
            <a:ext cx="1723445" cy="209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52"/>
              </a:lnSpc>
            </a:pPr>
            <a:r>
              <a:rPr lang="es-CL" sz="15752" noProof="0" dirty="0">
                <a:solidFill>
                  <a:srgbClr val="E9662D"/>
                </a:solidFill>
                <a:latin typeface="Anton"/>
                <a:ea typeface="Anton"/>
                <a:cs typeface="Anton"/>
                <a:sym typeface="Anton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-114300"/>
            <a:ext cx="8958189" cy="13217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631517" y="277358"/>
            <a:ext cx="745230" cy="696790"/>
          </a:xfrm>
          <a:custGeom>
            <a:avLst/>
            <a:gdLst/>
            <a:ahLst/>
            <a:cxnLst/>
            <a:rect l="l" t="t" r="r" b="b"/>
            <a:pathLst>
              <a:path w="745230" h="696790">
                <a:moveTo>
                  <a:pt x="0" y="0"/>
                </a:moveTo>
                <a:lnTo>
                  <a:pt x="745231" y="0"/>
                </a:lnTo>
                <a:lnTo>
                  <a:pt x="745231" y="696790"/>
                </a:lnTo>
                <a:lnTo>
                  <a:pt x="0" y="6967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1" name="Group 11"/>
          <p:cNvGrpSpPr/>
          <p:nvPr/>
        </p:nvGrpSpPr>
        <p:grpSpPr>
          <a:xfrm>
            <a:off x="1140286" y="1996414"/>
            <a:ext cx="1629002" cy="1611823"/>
            <a:chOff x="0" y="0"/>
            <a:chExt cx="416208" cy="411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6208" cy="411819"/>
            </a:xfrm>
            <a:custGeom>
              <a:avLst/>
              <a:gdLst/>
              <a:ahLst/>
              <a:cxnLst/>
              <a:rect l="l" t="t" r="r" b="b"/>
              <a:pathLst>
                <a:path w="416208" h="411819">
                  <a:moveTo>
                    <a:pt x="205909" y="0"/>
                  </a:moveTo>
                  <a:lnTo>
                    <a:pt x="210299" y="0"/>
                  </a:lnTo>
                  <a:cubicBezTo>
                    <a:pt x="324019" y="0"/>
                    <a:pt x="416208" y="92189"/>
                    <a:pt x="416208" y="205909"/>
                  </a:cubicBezTo>
                  <a:lnTo>
                    <a:pt x="416208" y="205909"/>
                  </a:lnTo>
                  <a:cubicBezTo>
                    <a:pt x="416208" y="260520"/>
                    <a:pt x="394514" y="312894"/>
                    <a:pt x="355898" y="351509"/>
                  </a:cubicBezTo>
                  <a:cubicBezTo>
                    <a:pt x="317283" y="390125"/>
                    <a:pt x="264909" y="411819"/>
                    <a:pt x="210299" y="411819"/>
                  </a:cubicBezTo>
                  <a:lnTo>
                    <a:pt x="205909" y="411819"/>
                  </a:lnTo>
                  <a:cubicBezTo>
                    <a:pt x="92189" y="411819"/>
                    <a:pt x="0" y="319630"/>
                    <a:pt x="0" y="205909"/>
                  </a:cubicBezTo>
                  <a:lnTo>
                    <a:pt x="0" y="205909"/>
                  </a:lnTo>
                  <a:cubicBezTo>
                    <a:pt x="0" y="92189"/>
                    <a:pt x="92189" y="0"/>
                    <a:pt x="205909" y="0"/>
                  </a:cubicBezTo>
                  <a:close/>
                </a:path>
              </a:pathLst>
            </a:custGeom>
            <a:solidFill>
              <a:srgbClr val="3747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416208" cy="392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60"/>
                </a:lnSpc>
              </a:pPr>
              <a:r>
                <a:rPr lang="es-CL" sz="6000" b="1" noProof="0" dirty="0">
                  <a:solidFill>
                    <a:srgbClr val="D9D9D9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P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05348" y="635256"/>
            <a:ext cx="6725073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RESUMEN PEEPO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5348" y="323493"/>
            <a:ext cx="6087726" cy="27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RECOLECCIÓN DE DATOS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3634" y="3258089"/>
            <a:ext cx="962306" cy="18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1"/>
              </a:lnSpc>
            </a:pPr>
            <a:r>
              <a:rPr lang="es-CL" sz="1237" b="1" noProof="0" dirty="0">
                <a:solidFill>
                  <a:srgbClr val="D9D9D9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PERSONAS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817163" y="1996414"/>
            <a:ext cx="1629002" cy="1611823"/>
            <a:chOff x="0" y="0"/>
            <a:chExt cx="416208" cy="411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6208" cy="411819"/>
            </a:xfrm>
            <a:custGeom>
              <a:avLst/>
              <a:gdLst/>
              <a:ahLst/>
              <a:cxnLst/>
              <a:rect l="l" t="t" r="r" b="b"/>
              <a:pathLst>
                <a:path w="416208" h="411819">
                  <a:moveTo>
                    <a:pt x="205909" y="0"/>
                  </a:moveTo>
                  <a:lnTo>
                    <a:pt x="210299" y="0"/>
                  </a:lnTo>
                  <a:cubicBezTo>
                    <a:pt x="324019" y="0"/>
                    <a:pt x="416208" y="92189"/>
                    <a:pt x="416208" y="205909"/>
                  </a:cubicBezTo>
                  <a:lnTo>
                    <a:pt x="416208" y="205909"/>
                  </a:lnTo>
                  <a:cubicBezTo>
                    <a:pt x="416208" y="260520"/>
                    <a:pt x="394514" y="312894"/>
                    <a:pt x="355898" y="351509"/>
                  </a:cubicBezTo>
                  <a:cubicBezTo>
                    <a:pt x="317283" y="390125"/>
                    <a:pt x="264909" y="411819"/>
                    <a:pt x="210299" y="411819"/>
                  </a:cubicBezTo>
                  <a:lnTo>
                    <a:pt x="205909" y="411819"/>
                  </a:lnTo>
                  <a:cubicBezTo>
                    <a:pt x="92189" y="411819"/>
                    <a:pt x="0" y="319630"/>
                    <a:pt x="0" y="205909"/>
                  </a:cubicBezTo>
                  <a:lnTo>
                    <a:pt x="0" y="205909"/>
                  </a:lnTo>
                  <a:cubicBezTo>
                    <a:pt x="0" y="92189"/>
                    <a:pt x="92189" y="0"/>
                    <a:pt x="205909" y="0"/>
                  </a:cubicBezTo>
                  <a:close/>
                </a:path>
              </a:pathLst>
            </a:custGeom>
            <a:solidFill>
              <a:srgbClr val="3747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416208" cy="392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60"/>
                </a:lnSpc>
              </a:pPr>
              <a:r>
                <a:rPr lang="es-CL" sz="6000" b="1" noProof="0" dirty="0">
                  <a:solidFill>
                    <a:srgbClr val="D9D9D9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E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150511" y="3258089"/>
            <a:ext cx="962306" cy="18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1"/>
              </a:lnSpc>
            </a:pPr>
            <a:r>
              <a:rPr lang="es-CL" sz="1237" b="1" noProof="0" dirty="0">
                <a:solidFill>
                  <a:srgbClr val="D9D9D9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ENTORNO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162825" y="1996414"/>
            <a:ext cx="1629002" cy="1611823"/>
            <a:chOff x="0" y="0"/>
            <a:chExt cx="416208" cy="411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6208" cy="411819"/>
            </a:xfrm>
            <a:custGeom>
              <a:avLst/>
              <a:gdLst/>
              <a:ahLst/>
              <a:cxnLst/>
              <a:rect l="l" t="t" r="r" b="b"/>
              <a:pathLst>
                <a:path w="416208" h="411819">
                  <a:moveTo>
                    <a:pt x="205909" y="0"/>
                  </a:moveTo>
                  <a:lnTo>
                    <a:pt x="210299" y="0"/>
                  </a:lnTo>
                  <a:cubicBezTo>
                    <a:pt x="324019" y="0"/>
                    <a:pt x="416208" y="92189"/>
                    <a:pt x="416208" y="205909"/>
                  </a:cubicBezTo>
                  <a:lnTo>
                    <a:pt x="416208" y="205909"/>
                  </a:lnTo>
                  <a:cubicBezTo>
                    <a:pt x="416208" y="260520"/>
                    <a:pt x="394514" y="312894"/>
                    <a:pt x="355898" y="351509"/>
                  </a:cubicBezTo>
                  <a:cubicBezTo>
                    <a:pt x="317283" y="390125"/>
                    <a:pt x="264909" y="411819"/>
                    <a:pt x="210299" y="411819"/>
                  </a:cubicBezTo>
                  <a:lnTo>
                    <a:pt x="205909" y="411819"/>
                  </a:lnTo>
                  <a:cubicBezTo>
                    <a:pt x="92189" y="411819"/>
                    <a:pt x="0" y="319630"/>
                    <a:pt x="0" y="205909"/>
                  </a:cubicBezTo>
                  <a:lnTo>
                    <a:pt x="0" y="205909"/>
                  </a:lnTo>
                  <a:cubicBezTo>
                    <a:pt x="0" y="92189"/>
                    <a:pt x="92189" y="0"/>
                    <a:pt x="205909" y="0"/>
                  </a:cubicBezTo>
                  <a:close/>
                </a:path>
              </a:pathLst>
            </a:custGeom>
            <a:solidFill>
              <a:srgbClr val="3747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9050"/>
              <a:ext cx="416208" cy="392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60"/>
                </a:lnSpc>
              </a:pPr>
              <a:r>
                <a:rPr lang="es-CL" sz="6000" b="1" noProof="0" dirty="0">
                  <a:solidFill>
                    <a:srgbClr val="D9D9D9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E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496173" y="3258089"/>
            <a:ext cx="962306" cy="18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1"/>
              </a:lnSpc>
            </a:pPr>
            <a:r>
              <a:rPr lang="es-CL" sz="1237" b="1" noProof="0" dirty="0">
                <a:solidFill>
                  <a:srgbClr val="D9D9D9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EQUIPO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841835" y="1996414"/>
            <a:ext cx="1629002" cy="1611823"/>
            <a:chOff x="0" y="0"/>
            <a:chExt cx="416208" cy="411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16208" cy="411819"/>
            </a:xfrm>
            <a:custGeom>
              <a:avLst/>
              <a:gdLst/>
              <a:ahLst/>
              <a:cxnLst/>
              <a:rect l="l" t="t" r="r" b="b"/>
              <a:pathLst>
                <a:path w="416208" h="411819">
                  <a:moveTo>
                    <a:pt x="205909" y="0"/>
                  </a:moveTo>
                  <a:lnTo>
                    <a:pt x="210299" y="0"/>
                  </a:lnTo>
                  <a:cubicBezTo>
                    <a:pt x="324019" y="0"/>
                    <a:pt x="416208" y="92189"/>
                    <a:pt x="416208" y="205909"/>
                  </a:cubicBezTo>
                  <a:lnTo>
                    <a:pt x="416208" y="205909"/>
                  </a:lnTo>
                  <a:cubicBezTo>
                    <a:pt x="416208" y="260520"/>
                    <a:pt x="394514" y="312894"/>
                    <a:pt x="355898" y="351509"/>
                  </a:cubicBezTo>
                  <a:cubicBezTo>
                    <a:pt x="317283" y="390125"/>
                    <a:pt x="264909" y="411819"/>
                    <a:pt x="210299" y="411819"/>
                  </a:cubicBezTo>
                  <a:lnTo>
                    <a:pt x="205909" y="411819"/>
                  </a:lnTo>
                  <a:cubicBezTo>
                    <a:pt x="92189" y="411819"/>
                    <a:pt x="0" y="319630"/>
                    <a:pt x="0" y="205909"/>
                  </a:cubicBezTo>
                  <a:lnTo>
                    <a:pt x="0" y="205909"/>
                  </a:lnTo>
                  <a:cubicBezTo>
                    <a:pt x="0" y="92189"/>
                    <a:pt x="92189" y="0"/>
                    <a:pt x="205909" y="0"/>
                  </a:cubicBezTo>
                  <a:close/>
                </a:path>
              </a:pathLst>
            </a:custGeom>
            <a:solidFill>
              <a:srgbClr val="3747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416208" cy="392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60"/>
                </a:lnSpc>
              </a:pPr>
              <a:r>
                <a:rPr lang="es-CL" sz="6000" b="1" noProof="0" dirty="0">
                  <a:solidFill>
                    <a:srgbClr val="D9D9D9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P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001991" y="3258089"/>
            <a:ext cx="1308690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1"/>
              </a:lnSpc>
            </a:pPr>
            <a:r>
              <a:rPr lang="es-CL" sz="1100" b="1" noProof="0" dirty="0">
                <a:solidFill>
                  <a:srgbClr val="D9D9D9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PROCEDIMIENTO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5518712" y="1996414"/>
            <a:ext cx="1629002" cy="1611823"/>
            <a:chOff x="0" y="0"/>
            <a:chExt cx="416208" cy="41181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16208" cy="411819"/>
            </a:xfrm>
            <a:custGeom>
              <a:avLst/>
              <a:gdLst/>
              <a:ahLst/>
              <a:cxnLst/>
              <a:rect l="l" t="t" r="r" b="b"/>
              <a:pathLst>
                <a:path w="416208" h="411819">
                  <a:moveTo>
                    <a:pt x="205909" y="0"/>
                  </a:moveTo>
                  <a:lnTo>
                    <a:pt x="210299" y="0"/>
                  </a:lnTo>
                  <a:cubicBezTo>
                    <a:pt x="324019" y="0"/>
                    <a:pt x="416208" y="92189"/>
                    <a:pt x="416208" y="205909"/>
                  </a:cubicBezTo>
                  <a:lnTo>
                    <a:pt x="416208" y="205909"/>
                  </a:lnTo>
                  <a:cubicBezTo>
                    <a:pt x="416208" y="260520"/>
                    <a:pt x="394514" y="312894"/>
                    <a:pt x="355898" y="351509"/>
                  </a:cubicBezTo>
                  <a:cubicBezTo>
                    <a:pt x="317283" y="390125"/>
                    <a:pt x="264909" y="411819"/>
                    <a:pt x="210299" y="411819"/>
                  </a:cubicBezTo>
                  <a:lnTo>
                    <a:pt x="205909" y="411819"/>
                  </a:lnTo>
                  <a:cubicBezTo>
                    <a:pt x="92189" y="411819"/>
                    <a:pt x="0" y="319630"/>
                    <a:pt x="0" y="205909"/>
                  </a:cubicBezTo>
                  <a:lnTo>
                    <a:pt x="0" y="205909"/>
                  </a:lnTo>
                  <a:cubicBezTo>
                    <a:pt x="0" y="92189"/>
                    <a:pt x="92189" y="0"/>
                    <a:pt x="205909" y="0"/>
                  </a:cubicBezTo>
                  <a:close/>
                </a:path>
              </a:pathLst>
            </a:custGeom>
            <a:solidFill>
              <a:srgbClr val="3747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19050"/>
              <a:ext cx="416208" cy="392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60"/>
                </a:lnSpc>
              </a:pPr>
              <a:r>
                <a:rPr lang="es-CL" sz="6000" b="1" noProof="0" dirty="0">
                  <a:solidFill>
                    <a:srgbClr val="D9D9D9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O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5678868" y="3258089"/>
            <a:ext cx="1308690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1"/>
              </a:lnSpc>
            </a:pPr>
            <a:r>
              <a:rPr lang="es-CL" sz="1100" b="1" noProof="0" dirty="0">
                <a:solidFill>
                  <a:srgbClr val="D9D9D9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ORGANIZACIÓN</a:t>
            </a:r>
          </a:p>
        </p:txBody>
      </p:sp>
      <p:sp>
        <p:nvSpPr>
          <p:cNvPr id="34" name="AutoShape 34"/>
          <p:cNvSpPr/>
          <p:nvPr/>
        </p:nvSpPr>
        <p:spPr>
          <a:xfrm flipV="1">
            <a:off x="3793226" y="1996414"/>
            <a:ext cx="0" cy="7261886"/>
          </a:xfrm>
          <a:prstGeom prst="line">
            <a:avLst/>
          </a:prstGeom>
          <a:ln w="38100" cap="flat">
            <a:solidFill>
              <a:srgbClr val="3747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AutoShape 35"/>
          <p:cNvSpPr/>
          <p:nvPr/>
        </p:nvSpPr>
        <p:spPr>
          <a:xfrm flipV="1">
            <a:off x="7304495" y="1996414"/>
            <a:ext cx="0" cy="7261886"/>
          </a:xfrm>
          <a:prstGeom prst="line">
            <a:avLst/>
          </a:prstGeom>
          <a:ln w="38100" cap="flat">
            <a:solidFill>
              <a:srgbClr val="3747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6" name="AutoShape 36"/>
          <p:cNvSpPr/>
          <p:nvPr/>
        </p:nvSpPr>
        <p:spPr>
          <a:xfrm flipH="1" flipV="1">
            <a:off x="10896909" y="1996414"/>
            <a:ext cx="0" cy="7261886"/>
          </a:xfrm>
          <a:prstGeom prst="line">
            <a:avLst/>
          </a:prstGeom>
          <a:ln w="38100" cap="flat">
            <a:solidFill>
              <a:srgbClr val="3747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7" name="AutoShape 37"/>
          <p:cNvSpPr/>
          <p:nvPr/>
        </p:nvSpPr>
        <p:spPr>
          <a:xfrm flipV="1">
            <a:off x="14499537" y="1996414"/>
            <a:ext cx="0" cy="7261886"/>
          </a:xfrm>
          <a:prstGeom prst="line">
            <a:avLst/>
          </a:prstGeom>
          <a:ln w="38100" cap="flat">
            <a:solidFill>
              <a:srgbClr val="3747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38" name="Group 38"/>
          <p:cNvGrpSpPr/>
          <p:nvPr/>
        </p:nvGrpSpPr>
        <p:grpSpPr>
          <a:xfrm>
            <a:off x="414283" y="4006325"/>
            <a:ext cx="3081009" cy="5251975"/>
            <a:chOff x="0" y="0"/>
            <a:chExt cx="9509269" cy="1620977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509269" cy="16209772"/>
            </a:xfrm>
            <a:custGeom>
              <a:avLst/>
              <a:gdLst/>
              <a:ahLst/>
              <a:cxnLst/>
              <a:rect l="l" t="t" r="r" b="b"/>
              <a:pathLst>
                <a:path w="9509269" h="16209772">
                  <a:moveTo>
                    <a:pt x="7538" y="0"/>
                  </a:moveTo>
                  <a:lnTo>
                    <a:pt x="9501731" y="0"/>
                  </a:lnTo>
                  <a:cubicBezTo>
                    <a:pt x="9503730" y="0"/>
                    <a:pt x="9505648" y="794"/>
                    <a:pt x="9507062" y="2208"/>
                  </a:cubicBezTo>
                  <a:cubicBezTo>
                    <a:pt x="9508475" y="3622"/>
                    <a:pt x="9509269" y="5539"/>
                    <a:pt x="9509269" y="7538"/>
                  </a:cubicBezTo>
                  <a:lnTo>
                    <a:pt x="9509269" y="16202234"/>
                  </a:lnTo>
                  <a:cubicBezTo>
                    <a:pt x="9509269" y="16206397"/>
                    <a:pt x="9505894" y="16209772"/>
                    <a:pt x="9501731" y="16209772"/>
                  </a:cubicBezTo>
                  <a:lnTo>
                    <a:pt x="7538" y="16209772"/>
                  </a:lnTo>
                  <a:cubicBezTo>
                    <a:pt x="5539" y="16209772"/>
                    <a:pt x="3622" y="16208978"/>
                    <a:pt x="2208" y="16207564"/>
                  </a:cubicBezTo>
                  <a:cubicBezTo>
                    <a:pt x="794" y="16206150"/>
                    <a:pt x="0" y="16204233"/>
                    <a:pt x="0" y="16202234"/>
                  </a:cubicBezTo>
                  <a:lnTo>
                    <a:pt x="0" y="7538"/>
                  </a:lnTo>
                  <a:cubicBezTo>
                    <a:pt x="0" y="5539"/>
                    <a:pt x="794" y="3622"/>
                    <a:pt x="2208" y="2208"/>
                  </a:cubicBezTo>
                  <a:cubicBezTo>
                    <a:pt x="3622" y="794"/>
                    <a:pt x="5539" y="0"/>
                    <a:pt x="7538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9509269" cy="16247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478784" y="4138944"/>
            <a:ext cx="2755918" cy="2676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Involucrados directos e indirectos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Testigos y roles en la tarea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Línea de mando presente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4008356" y="4006325"/>
            <a:ext cx="3081009" cy="5251975"/>
            <a:chOff x="0" y="0"/>
            <a:chExt cx="9509269" cy="1620977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509269" cy="16209772"/>
            </a:xfrm>
            <a:custGeom>
              <a:avLst/>
              <a:gdLst/>
              <a:ahLst/>
              <a:cxnLst/>
              <a:rect l="l" t="t" r="r" b="b"/>
              <a:pathLst>
                <a:path w="9509269" h="16209772">
                  <a:moveTo>
                    <a:pt x="7538" y="0"/>
                  </a:moveTo>
                  <a:lnTo>
                    <a:pt x="9501731" y="0"/>
                  </a:lnTo>
                  <a:cubicBezTo>
                    <a:pt x="9503730" y="0"/>
                    <a:pt x="9505648" y="794"/>
                    <a:pt x="9507062" y="2208"/>
                  </a:cubicBezTo>
                  <a:cubicBezTo>
                    <a:pt x="9508475" y="3622"/>
                    <a:pt x="9509269" y="5539"/>
                    <a:pt x="9509269" y="7538"/>
                  </a:cubicBezTo>
                  <a:lnTo>
                    <a:pt x="9509269" y="16202234"/>
                  </a:lnTo>
                  <a:cubicBezTo>
                    <a:pt x="9509269" y="16206397"/>
                    <a:pt x="9505894" y="16209772"/>
                    <a:pt x="9501731" y="16209772"/>
                  </a:cubicBezTo>
                  <a:lnTo>
                    <a:pt x="7538" y="16209772"/>
                  </a:lnTo>
                  <a:cubicBezTo>
                    <a:pt x="5539" y="16209772"/>
                    <a:pt x="3622" y="16208978"/>
                    <a:pt x="2208" y="16207564"/>
                  </a:cubicBezTo>
                  <a:cubicBezTo>
                    <a:pt x="794" y="16206150"/>
                    <a:pt x="0" y="16204233"/>
                    <a:pt x="0" y="16202234"/>
                  </a:cubicBezTo>
                  <a:lnTo>
                    <a:pt x="0" y="7538"/>
                  </a:lnTo>
                  <a:cubicBezTo>
                    <a:pt x="0" y="5539"/>
                    <a:pt x="794" y="3622"/>
                    <a:pt x="2208" y="2208"/>
                  </a:cubicBezTo>
                  <a:cubicBezTo>
                    <a:pt x="3622" y="794"/>
                    <a:pt x="5539" y="0"/>
                    <a:pt x="7538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9509269" cy="16247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4072857" y="4138944"/>
            <a:ext cx="2755918" cy="3676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Condiciones ambientales (clima, ruido, iluminación, espacio)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Condiciones de orden y limpieza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Riesgos concurrentes o simultáneos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7560198" y="4006325"/>
            <a:ext cx="3081009" cy="5251975"/>
            <a:chOff x="0" y="0"/>
            <a:chExt cx="9509269" cy="1620977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509269" cy="16209772"/>
            </a:xfrm>
            <a:custGeom>
              <a:avLst/>
              <a:gdLst/>
              <a:ahLst/>
              <a:cxnLst/>
              <a:rect l="l" t="t" r="r" b="b"/>
              <a:pathLst>
                <a:path w="9509269" h="16209772">
                  <a:moveTo>
                    <a:pt x="7538" y="0"/>
                  </a:moveTo>
                  <a:lnTo>
                    <a:pt x="9501731" y="0"/>
                  </a:lnTo>
                  <a:cubicBezTo>
                    <a:pt x="9503730" y="0"/>
                    <a:pt x="9505648" y="794"/>
                    <a:pt x="9507062" y="2208"/>
                  </a:cubicBezTo>
                  <a:cubicBezTo>
                    <a:pt x="9508475" y="3622"/>
                    <a:pt x="9509269" y="5539"/>
                    <a:pt x="9509269" y="7538"/>
                  </a:cubicBezTo>
                  <a:lnTo>
                    <a:pt x="9509269" y="16202234"/>
                  </a:lnTo>
                  <a:cubicBezTo>
                    <a:pt x="9509269" y="16206397"/>
                    <a:pt x="9505894" y="16209772"/>
                    <a:pt x="9501731" y="16209772"/>
                  </a:cubicBezTo>
                  <a:lnTo>
                    <a:pt x="7538" y="16209772"/>
                  </a:lnTo>
                  <a:cubicBezTo>
                    <a:pt x="5539" y="16209772"/>
                    <a:pt x="3622" y="16208978"/>
                    <a:pt x="2208" y="16207564"/>
                  </a:cubicBezTo>
                  <a:cubicBezTo>
                    <a:pt x="794" y="16206150"/>
                    <a:pt x="0" y="16204233"/>
                    <a:pt x="0" y="16202234"/>
                  </a:cubicBezTo>
                  <a:lnTo>
                    <a:pt x="0" y="7538"/>
                  </a:lnTo>
                  <a:cubicBezTo>
                    <a:pt x="0" y="5539"/>
                    <a:pt x="794" y="3622"/>
                    <a:pt x="2208" y="2208"/>
                  </a:cubicBezTo>
                  <a:cubicBezTo>
                    <a:pt x="3622" y="794"/>
                    <a:pt x="5539" y="0"/>
                    <a:pt x="7538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9509269" cy="16247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7624699" y="4138944"/>
            <a:ext cx="2755918" cy="334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Maquinaria, herramientas y equipos utilizados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Estado de funcionamiento y mantenimiento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Condiciones técnicas observadas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50" name="Group 50"/>
          <p:cNvGrpSpPr/>
          <p:nvPr/>
        </p:nvGrpSpPr>
        <p:grpSpPr>
          <a:xfrm>
            <a:off x="11154084" y="4006325"/>
            <a:ext cx="3081009" cy="5251975"/>
            <a:chOff x="0" y="0"/>
            <a:chExt cx="9509269" cy="1620977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509269" cy="16209772"/>
            </a:xfrm>
            <a:custGeom>
              <a:avLst/>
              <a:gdLst/>
              <a:ahLst/>
              <a:cxnLst/>
              <a:rect l="l" t="t" r="r" b="b"/>
              <a:pathLst>
                <a:path w="9509269" h="16209772">
                  <a:moveTo>
                    <a:pt x="7538" y="0"/>
                  </a:moveTo>
                  <a:lnTo>
                    <a:pt x="9501731" y="0"/>
                  </a:lnTo>
                  <a:cubicBezTo>
                    <a:pt x="9503730" y="0"/>
                    <a:pt x="9505648" y="794"/>
                    <a:pt x="9507062" y="2208"/>
                  </a:cubicBezTo>
                  <a:cubicBezTo>
                    <a:pt x="9508475" y="3622"/>
                    <a:pt x="9509269" y="5539"/>
                    <a:pt x="9509269" y="7538"/>
                  </a:cubicBezTo>
                  <a:lnTo>
                    <a:pt x="9509269" y="16202234"/>
                  </a:lnTo>
                  <a:cubicBezTo>
                    <a:pt x="9509269" y="16206397"/>
                    <a:pt x="9505894" y="16209772"/>
                    <a:pt x="9501731" y="16209772"/>
                  </a:cubicBezTo>
                  <a:lnTo>
                    <a:pt x="7538" y="16209772"/>
                  </a:lnTo>
                  <a:cubicBezTo>
                    <a:pt x="5539" y="16209772"/>
                    <a:pt x="3622" y="16208978"/>
                    <a:pt x="2208" y="16207564"/>
                  </a:cubicBezTo>
                  <a:cubicBezTo>
                    <a:pt x="794" y="16206150"/>
                    <a:pt x="0" y="16204233"/>
                    <a:pt x="0" y="16202234"/>
                  </a:cubicBezTo>
                  <a:lnTo>
                    <a:pt x="0" y="7538"/>
                  </a:lnTo>
                  <a:cubicBezTo>
                    <a:pt x="0" y="5539"/>
                    <a:pt x="794" y="3622"/>
                    <a:pt x="2208" y="2208"/>
                  </a:cubicBezTo>
                  <a:cubicBezTo>
                    <a:pt x="3622" y="794"/>
                    <a:pt x="5539" y="0"/>
                    <a:pt x="7538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9509269" cy="16247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218585" y="4138944"/>
            <a:ext cx="2755918" cy="3010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Procedimientos / ART aplicables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Instrucciones de trabajo y estándares vigentes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Cumplimiento real vs. esperado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54" name="Group 54"/>
          <p:cNvGrpSpPr/>
          <p:nvPr/>
        </p:nvGrpSpPr>
        <p:grpSpPr>
          <a:xfrm>
            <a:off x="14823387" y="4006325"/>
            <a:ext cx="3081009" cy="5251975"/>
            <a:chOff x="0" y="0"/>
            <a:chExt cx="9509269" cy="1620977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509269" cy="16209772"/>
            </a:xfrm>
            <a:custGeom>
              <a:avLst/>
              <a:gdLst/>
              <a:ahLst/>
              <a:cxnLst/>
              <a:rect l="l" t="t" r="r" b="b"/>
              <a:pathLst>
                <a:path w="9509269" h="16209772">
                  <a:moveTo>
                    <a:pt x="7538" y="0"/>
                  </a:moveTo>
                  <a:lnTo>
                    <a:pt x="9501731" y="0"/>
                  </a:lnTo>
                  <a:cubicBezTo>
                    <a:pt x="9503730" y="0"/>
                    <a:pt x="9505648" y="794"/>
                    <a:pt x="9507062" y="2208"/>
                  </a:cubicBezTo>
                  <a:cubicBezTo>
                    <a:pt x="9508475" y="3622"/>
                    <a:pt x="9509269" y="5539"/>
                    <a:pt x="9509269" y="7538"/>
                  </a:cubicBezTo>
                  <a:lnTo>
                    <a:pt x="9509269" y="16202234"/>
                  </a:lnTo>
                  <a:cubicBezTo>
                    <a:pt x="9509269" y="16206397"/>
                    <a:pt x="9505894" y="16209772"/>
                    <a:pt x="9501731" y="16209772"/>
                  </a:cubicBezTo>
                  <a:lnTo>
                    <a:pt x="7538" y="16209772"/>
                  </a:lnTo>
                  <a:cubicBezTo>
                    <a:pt x="5539" y="16209772"/>
                    <a:pt x="3622" y="16208978"/>
                    <a:pt x="2208" y="16207564"/>
                  </a:cubicBezTo>
                  <a:cubicBezTo>
                    <a:pt x="794" y="16206150"/>
                    <a:pt x="0" y="16204233"/>
                    <a:pt x="0" y="16202234"/>
                  </a:cubicBezTo>
                  <a:lnTo>
                    <a:pt x="0" y="7538"/>
                  </a:lnTo>
                  <a:cubicBezTo>
                    <a:pt x="0" y="5539"/>
                    <a:pt x="794" y="3622"/>
                    <a:pt x="2208" y="2208"/>
                  </a:cubicBezTo>
                  <a:cubicBezTo>
                    <a:pt x="3622" y="794"/>
                    <a:pt x="5539" y="0"/>
                    <a:pt x="7538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9509269" cy="16247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4887888" y="4138944"/>
            <a:ext cx="2755918" cy="3676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Supervisión presente y liderazgo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Roles y responsabilidades definidos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Modelos de gestión y controles críticos asociados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631517" y="277358"/>
            <a:ext cx="745230" cy="696790"/>
          </a:xfrm>
          <a:custGeom>
            <a:avLst/>
            <a:gdLst/>
            <a:ahLst/>
            <a:cxnLst/>
            <a:rect l="l" t="t" r="r" b="b"/>
            <a:pathLst>
              <a:path w="745230" h="696790">
                <a:moveTo>
                  <a:pt x="0" y="0"/>
                </a:moveTo>
                <a:lnTo>
                  <a:pt x="745231" y="0"/>
                </a:lnTo>
                <a:lnTo>
                  <a:pt x="745231" y="696790"/>
                </a:lnTo>
                <a:lnTo>
                  <a:pt x="0" y="6967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605348" y="635256"/>
            <a:ext cx="6725073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PERSONAS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5348" y="323493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PEEPO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754393" y="2193640"/>
            <a:ext cx="11130976" cy="7302194"/>
            <a:chOff x="0" y="0"/>
            <a:chExt cx="34354803" cy="225375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354802" cy="22537595"/>
            </a:xfrm>
            <a:custGeom>
              <a:avLst/>
              <a:gdLst/>
              <a:ahLst/>
              <a:cxnLst/>
              <a:rect l="l" t="t" r="r" b="b"/>
              <a:pathLst>
                <a:path w="34354802" h="22537595">
                  <a:moveTo>
                    <a:pt x="2087" y="0"/>
                  </a:moveTo>
                  <a:lnTo>
                    <a:pt x="34352716" y="0"/>
                  </a:lnTo>
                  <a:cubicBezTo>
                    <a:pt x="34353869" y="0"/>
                    <a:pt x="34354802" y="934"/>
                    <a:pt x="34354802" y="2087"/>
                  </a:cubicBezTo>
                  <a:lnTo>
                    <a:pt x="34354802" y="22535508"/>
                  </a:lnTo>
                  <a:cubicBezTo>
                    <a:pt x="34354802" y="22536062"/>
                    <a:pt x="34354582" y="22536592"/>
                    <a:pt x="34354191" y="22536984"/>
                  </a:cubicBezTo>
                  <a:cubicBezTo>
                    <a:pt x="34353801" y="22537375"/>
                    <a:pt x="34353271" y="22537595"/>
                    <a:pt x="34352716" y="22537595"/>
                  </a:cubicBezTo>
                  <a:lnTo>
                    <a:pt x="2087" y="22537595"/>
                  </a:lnTo>
                  <a:cubicBezTo>
                    <a:pt x="1533" y="22537595"/>
                    <a:pt x="1002" y="22537375"/>
                    <a:pt x="611" y="22536984"/>
                  </a:cubicBezTo>
                  <a:cubicBezTo>
                    <a:pt x="220" y="22536592"/>
                    <a:pt x="0" y="22536062"/>
                    <a:pt x="0" y="22535508"/>
                  </a:cubicBezTo>
                  <a:lnTo>
                    <a:pt x="0" y="2087"/>
                  </a:lnTo>
                  <a:cubicBezTo>
                    <a:pt x="0" y="1533"/>
                    <a:pt x="220" y="1002"/>
                    <a:pt x="611" y="611"/>
                  </a:cubicBezTo>
                  <a:cubicBezTo>
                    <a:pt x="1002" y="220"/>
                    <a:pt x="1533" y="0"/>
                    <a:pt x="2087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4354803" cy="22575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341632" y="2377957"/>
            <a:ext cx="9956498" cy="234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Contenido en la lámina (ejemplo de ítems a listar):</a:t>
            </a:r>
          </a:p>
          <a:p>
            <a:pPr algn="just">
              <a:lnSpc>
                <a:spcPts val="2688"/>
              </a:lnSpc>
            </a:pPr>
            <a:endParaRPr lang="es-CL" sz="1991" b="1" noProof="0" dirty="0">
              <a:solidFill>
                <a:srgbClr val="545454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Involucrados directos e indirectos.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Testigos del evento.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Roles en la tarea.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Línea de mando presente.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0" y="9661258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PERSONAS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631517" y="277358"/>
            <a:ext cx="745230" cy="696790"/>
          </a:xfrm>
          <a:custGeom>
            <a:avLst/>
            <a:gdLst/>
            <a:ahLst/>
            <a:cxnLst/>
            <a:rect l="l" t="t" r="r" b="b"/>
            <a:pathLst>
              <a:path w="745230" h="696790">
                <a:moveTo>
                  <a:pt x="0" y="0"/>
                </a:moveTo>
                <a:lnTo>
                  <a:pt x="745231" y="0"/>
                </a:lnTo>
                <a:lnTo>
                  <a:pt x="745231" y="696790"/>
                </a:lnTo>
                <a:lnTo>
                  <a:pt x="0" y="6967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605348" y="635256"/>
            <a:ext cx="6725073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ENTORNO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5348" y="323493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PEEPO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754393" y="2193640"/>
            <a:ext cx="11130976" cy="7302194"/>
            <a:chOff x="0" y="0"/>
            <a:chExt cx="34354803" cy="225375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354802" cy="22537595"/>
            </a:xfrm>
            <a:custGeom>
              <a:avLst/>
              <a:gdLst/>
              <a:ahLst/>
              <a:cxnLst/>
              <a:rect l="l" t="t" r="r" b="b"/>
              <a:pathLst>
                <a:path w="34354802" h="22537595">
                  <a:moveTo>
                    <a:pt x="2087" y="0"/>
                  </a:moveTo>
                  <a:lnTo>
                    <a:pt x="34352716" y="0"/>
                  </a:lnTo>
                  <a:cubicBezTo>
                    <a:pt x="34353869" y="0"/>
                    <a:pt x="34354802" y="934"/>
                    <a:pt x="34354802" y="2087"/>
                  </a:cubicBezTo>
                  <a:lnTo>
                    <a:pt x="34354802" y="22535508"/>
                  </a:lnTo>
                  <a:cubicBezTo>
                    <a:pt x="34354802" y="22536062"/>
                    <a:pt x="34354582" y="22536592"/>
                    <a:pt x="34354191" y="22536984"/>
                  </a:cubicBezTo>
                  <a:cubicBezTo>
                    <a:pt x="34353801" y="22537375"/>
                    <a:pt x="34353271" y="22537595"/>
                    <a:pt x="34352716" y="22537595"/>
                  </a:cubicBezTo>
                  <a:lnTo>
                    <a:pt x="2087" y="22537595"/>
                  </a:lnTo>
                  <a:cubicBezTo>
                    <a:pt x="1533" y="22537595"/>
                    <a:pt x="1002" y="22537375"/>
                    <a:pt x="611" y="22536984"/>
                  </a:cubicBezTo>
                  <a:cubicBezTo>
                    <a:pt x="220" y="22536592"/>
                    <a:pt x="0" y="22536062"/>
                    <a:pt x="0" y="22535508"/>
                  </a:cubicBezTo>
                  <a:lnTo>
                    <a:pt x="0" y="2087"/>
                  </a:lnTo>
                  <a:cubicBezTo>
                    <a:pt x="0" y="1533"/>
                    <a:pt x="220" y="1002"/>
                    <a:pt x="611" y="611"/>
                  </a:cubicBezTo>
                  <a:cubicBezTo>
                    <a:pt x="1002" y="220"/>
                    <a:pt x="1533" y="0"/>
                    <a:pt x="2087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4354803" cy="22575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341632" y="2377957"/>
            <a:ext cx="9956498" cy="234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Contenido en la lámina:</a:t>
            </a:r>
          </a:p>
          <a:p>
            <a:pPr algn="just">
              <a:lnSpc>
                <a:spcPts val="2688"/>
              </a:lnSpc>
            </a:pPr>
            <a:endParaRPr lang="es-CL" sz="1991" b="1" noProof="0" dirty="0">
              <a:solidFill>
                <a:srgbClr val="545454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Condiciones ambientales (clima, ruido, iluminación, espacio).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Orden y limpieza del área.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Factores de interferencia.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Riesgos concurrentes o simultáneos.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0" y="9661258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ENTORNO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631517" y="277358"/>
            <a:ext cx="745230" cy="696790"/>
          </a:xfrm>
          <a:custGeom>
            <a:avLst/>
            <a:gdLst/>
            <a:ahLst/>
            <a:cxnLst/>
            <a:rect l="l" t="t" r="r" b="b"/>
            <a:pathLst>
              <a:path w="745230" h="696790">
                <a:moveTo>
                  <a:pt x="0" y="0"/>
                </a:moveTo>
                <a:lnTo>
                  <a:pt x="745231" y="0"/>
                </a:lnTo>
                <a:lnTo>
                  <a:pt x="745231" y="696790"/>
                </a:lnTo>
                <a:lnTo>
                  <a:pt x="0" y="6967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605348" y="635256"/>
            <a:ext cx="6725073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EQUIPO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5348" y="323493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PEEPO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754393" y="2193640"/>
            <a:ext cx="11130976" cy="7302194"/>
            <a:chOff x="0" y="0"/>
            <a:chExt cx="34354803" cy="225375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354802" cy="22537595"/>
            </a:xfrm>
            <a:custGeom>
              <a:avLst/>
              <a:gdLst/>
              <a:ahLst/>
              <a:cxnLst/>
              <a:rect l="l" t="t" r="r" b="b"/>
              <a:pathLst>
                <a:path w="34354802" h="22537595">
                  <a:moveTo>
                    <a:pt x="2087" y="0"/>
                  </a:moveTo>
                  <a:lnTo>
                    <a:pt x="34352716" y="0"/>
                  </a:lnTo>
                  <a:cubicBezTo>
                    <a:pt x="34353869" y="0"/>
                    <a:pt x="34354802" y="934"/>
                    <a:pt x="34354802" y="2087"/>
                  </a:cubicBezTo>
                  <a:lnTo>
                    <a:pt x="34354802" y="22535508"/>
                  </a:lnTo>
                  <a:cubicBezTo>
                    <a:pt x="34354802" y="22536062"/>
                    <a:pt x="34354582" y="22536592"/>
                    <a:pt x="34354191" y="22536984"/>
                  </a:cubicBezTo>
                  <a:cubicBezTo>
                    <a:pt x="34353801" y="22537375"/>
                    <a:pt x="34353271" y="22537595"/>
                    <a:pt x="34352716" y="22537595"/>
                  </a:cubicBezTo>
                  <a:lnTo>
                    <a:pt x="2087" y="22537595"/>
                  </a:lnTo>
                  <a:cubicBezTo>
                    <a:pt x="1533" y="22537595"/>
                    <a:pt x="1002" y="22537375"/>
                    <a:pt x="611" y="22536984"/>
                  </a:cubicBezTo>
                  <a:cubicBezTo>
                    <a:pt x="220" y="22536592"/>
                    <a:pt x="0" y="22536062"/>
                    <a:pt x="0" y="22535508"/>
                  </a:cubicBezTo>
                  <a:lnTo>
                    <a:pt x="0" y="2087"/>
                  </a:lnTo>
                  <a:cubicBezTo>
                    <a:pt x="0" y="1533"/>
                    <a:pt x="220" y="1002"/>
                    <a:pt x="611" y="611"/>
                  </a:cubicBezTo>
                  <a:cubicBezTo>
                    <a:pt x="1002" y="220"/>
                    <a:pt x="1533" y="0"/>
                    <a:pt x="2087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4354803" cy="22575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341632" y="2377957"/>
            <a:ext cx="9956498" cy="234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Contenido en la lámina:</a:t>
            </a:r>
          </a:p>
          <a:p>
            <a:pPr algn="just">
              <a:lnSpc>
                <a:spcPts val="2688"/>
              </a:lnSpc>
            </a:pPr>
            <a:endParaRPr lang="es-CL" sz="1991" b="1" noProof="0" dirty="0">
              <a:solidFill>
                <a:srgbClr val="545454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Herramientas, maquinarias y equipos utilizados.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Estado de funcionamiento y mantenimiento.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Condiciones técnicas observadas.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Certificaciones vigentes (si aplica).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0" y="9661258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EQUIPO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631517" y="277358"/>
            <a:ext cx="745230" cy="696790"/>
          </a:xfrm>
          <a:custGeom>
            <a:avLst/>
            <a:gdLst/>
            <a:ahLst/>
            <a:cxnLst/>
            <a:rect l="l" t="t" r="r" b="b"/>
            <a:pathLst>
              <a:path w="745230" h="696790">
                <a:moveTo>
                  <a:pt x="0" y="0"/>
                </a:moveTo>
                <a:lnTo>
                  <a:pt x="745231" y="0"/>
                </a:lnTo>
                <a:lnTo>
                  <a:pt x="745231" y="696790"/>
                </a:lnTo>
                <a:lnTo>
                  <a:pt x="0" y="6967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605348" y="635256"/>
            <a:ext cx="6725073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PROCEDIMIENTO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5348" y="323493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PEEPO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754393" y="2193640"/>
            <a:ext cx="11130976" cy="7302194"/>
            <a:chOff x="0" y="0"/>
            <a:chExt cx="34354803" cy="225375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354802" cy="22537595"/>
            </a:xfrm>
            <a:custGeom>
              <a:avLst/>
              <a:gdLst/>
              <a:ahLst/>
              <a:cxnLst/>
              <a:rect l="l" t="t" r="r" b="b"/>
              <a:pathLst>
                <a:path w="34354802" h="22537595">
                  <a:moveTo>
                    <a:pt x="2087" y="0"/>
                  </a:moveTo>
                  <a:lnTo>
                    <a:pt x="34352716" y="0"/>
                  </a:lnTo>
                  <a:cubicBezTo>
                    <a:pt x="34353869" y="0"/>
                    <a:pt x="34354802" y="934"/>
                    <a:pt x="34354802" y="2087"/>
                  </a:cubicBezTo>
                  <a:lnTo>
                    <a:pt x="34354802" y="22535508"/>
                  </a:lnTo>
                  <a:cubicBezTo>
                    <a:pt x="34354802" y="22536062"/>
                    <a:pt x="34354582" y="22536592"/>
                    <a:pt x="34354191" y="22536984"/>
                  </a:cubicBezTo>
                  <a:cubicBezTo>
                    <a:pt x="34353801" y="22537375"/>
                    <a:pt x="34353271" y="22537595"/>
                    <a:pt x="34352716" y="22537595"/>
                  </a:cubicBezTo>
                  <a:lnTo>
                    <a:pt x="2087" y="22537595"/>
                  </a:lnTo>
                  <a:cubicBezTo>
                    <a:pt x="1533" y="22537595"/>
                    <a:pt x="1002" y="22537375"/>
                    <a:pt x="611" y="22536984"/>
                  </a:cubicBezTo>
                  <a:cubicBezTo>
                    <a:pt x="220" y="22536592"/>
                    <a:pt x="0" y="22536062"/>
                    <a:pt x="0" y="22535508"/>
                  </a:cubicBezTo>
                  <a:lnTo>
                    <a:pt x="0" y="2087"/>
                  </a:lnTo>
                  <a:cubicBezTo>
                    <a:pt x="0" y="1533"/>
                    <a:pt x="220" y="1002"/>
                    <a:pt x="611" y="611"/>
                  </a:cubicBezTo>
                  <a:cubicBezTo>
                    <a:pt x="1002" y="220"/>
                    <a:pt x="1533" y="0"/>
                    <a:pt x="2087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4354803" cy="22575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341632" y="2377957"/>
            <a:ext cx="9956498" cy="234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Contenido en la lámina:</a:t>
            </a:r>
          </a:p>
          <a:p>
            <a:pPr algn="just">
              <a:lnSpc>
                <a:spcPts val="2688"/>
              </a:lnSpc>
            </a:pPr>
            <a:endParaRPr lang="es-CL" sz="1991" b="1" noProof="0" dirty="0">
              <a:solidFill>
                <a:srgbClr val="545454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ART, procedimientos o instructivos aplicables.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Estándares vigentes para la tarea.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Cumplimiento real vs. esperado.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Existencia de capacitaciones asociadas.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0" y="9661258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PROCEDIMIENTO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631517" y="277358"/>
            <a:ext cx="745230" cy="696790"/>
          </a:xfrm>
          <a:custGeom>
            <a:avLst/>
            <a:gdLst/>
            <a:ahLst/>
            <a:cxnLst/>
            <a:rect l="l" t="t" r="r" b="b"/>
            <a:pathLst>
              <a:path w="745230" h="696790">
                <a:moveTo>
                  <a:pt x="0" y="0"/>
                </a:moveTo>
                <a:lnTo>
                  <a:pt x="745231" y="0"/>
                </a:lnTo>
                <a:lnTo>
                  <a:pt x="745231" y="696790"/>
                </a:lnTo>
                <a:lnTo>
                  <a:pt x="0" y="6967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605348" y="635256"/>
            <a:ext cx="6725073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ORGANIZACIÓN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5348" y="323493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PEEPO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754393" y="2193640"/>
            <a:ext cx="11130976" cy="7302194"/>
            <a:chOff x="0" y="0"/>
            <a:chExt cx="34354803" cy="225375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354802" cy="22537595"/>
            </a:xfrm>
            <a:custGeom>
              <a:avLst/>
              <a:gdLst/>
              <a:ahLst/>
              <a:cxnLst/>
              <a:rect l="l" t="t" r="r" b="b"/>
              <a:pathLst>
                <a:path w="34354802" h="22537595">
                  <a:moveTo>
                    <a:pt x="2087" y="0"/>
                  </a:moveTo>
                  <a:lnTo>
                    <a:pt x="34352716" y="0"/>
                  </a:lnTo>
                  <a:cubicBezTo>
                    <a:pt x="34353869" y="0"/>
                    <a:pt x="34354802" y="934"/>
                    <a:pt x="34354802" y="2087"/>
                  </a:cubicBezTo>
                  <a:lnTo>
                    <a:pt x="34354802" y="22535508"/>
                  </a:lnTo>
                  <a:cubicBezTo>
                    <a:pt x="34354802" y="22536062"/>
                    <a:pt x="34354582" y="22536592"/>
                    <a:pt x="34354191" y="22536984"/>
                  </a:cubicBezTo>
                  <a:cubicBezTo>
                    <a:pt x="34353801" y="22537375"/>
                    <a:pt x="34353271" y="22537595"/>
                    <a:pt x="34352716" y="22537595"/>
                  </a:cubicBezTo>
                  <a:lnTo>
                    <a:pt x="2087" y="22537595"/>
                  </a:lnTo>
                  <a:cubicBezTo>
                    <a:pt x="1533" y="22537595"/>
                    <a:pt x="1002" y="22537375"/>
                    <a:pt x="611" y="22536984"/>
                  </a:cubicBezTo>
                  <a:cubicBezTo>
                    <a:pt x="220" y="22536592"/>
                    <a:pt x="0" y="22536062"/>
                    <a:pt x="0" y="22535508"/>
                  </a:cubicBezTo>
                  <a:lnTo>
                    <a:pt x="0" y="2087"/>
                  </a:lnTo>
                  <a:cubicBezTo>
                    <a:pt x="0" y="1533"/>
                    <a:pt x="220" y="1002"/>
                    <a:pt x="611" y="611"/>
                  </a:cubicBezTo>
                  <a:cubicBezTo>
                    <a:pt x="1002" y="220"/>
                    <a:pt x="1533" y="0"/>
                    <a:pt x="2087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4354803" cy="22575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341632" y="2377957"/>
            <a:ext cx="9956498" cy="234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Contenido en la lámina:</a:t>
            </a:r>
          </a:p>
          <a:p>
            <a:pPr algn="just">
              <a:lnSpc>
                <a:spcPts val="2688"/>
              </a:lnSpc>
            </a:pPr>
            <a:endParaRPr lang="es-CL" sz="1991" b="1" noProof="0" dirty="0">
              <a:solidFill>
                <a:srgbClr val="545454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Supervisión y liderazgo presentes.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Roles y responsabilidades definidos.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Modelos de gestión aplicables.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Controles críticos asociados.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0" y="9661258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ORGANIZACIÓN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237355" y="0"/>
            <a:ext cx="8065395" cy="10324610"/>
            <a:chOff x="0" y="0"/>
            <a:chExt cx="2325475" cy="27192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25475" cy="2719239"/>
            </a:xfrm>
            <a:custGeom>
              <a:avLst/>
              <a:gdLst/>
              <a:ahLst/>
              <a:cxnLst/>
              <a:rect l="l" t="t" r="r" b="b"/>
              <a:pathLst>
                <a:path w="2325475" h="2719239">
                  <a:moveTo>
                    <a:pt x="0" y="0"/>
                  </a:moveTo>
                  <a:lnTo>
                    <a:pt x="2325475" y="0"/>
                  </a:lnTo>
                  <a:lnTo>
                    <a:pt x="2325475" y="2719239"/>
                  </a:lnTo>
                  <a:lnTo>
                    <a:pt x="0" y="2719239"/>
                  </a:lnTo>
                  <a:close/>
                </a:path>
              </a:pathLst>
            </a:custGeom>
            <a:solidFill>
              <a:srgbClr val="737373">
                <a:alpha val="43922"/>
              </a:srgbClr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325475" cy="2747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4"/>
                </a:lnSpc>
              </a:pPr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3510783" y="4623265"/>
            <a:ext cx="13382481" cy="173983"/>
          </a:xfrm>
          <a:custGeom>
            <a:avLst/>
            <a:gdLst/>
            <a:ahLst/>
            <a:cxnLst/>
            <a:rect l="l" t="t" r="r" b="b"/>
            <a:pathLst>
              <a:path w="13382481" h="173983">
                <a:moveTo>
                  <a:pt x="0" y="0"/>
                </a:moveTo>
                <a:lnTo>
                  <a:pt x="13382481" y="0"/>
                </a:lnTo>
                <a:lnTo>
                  <a:pt x="13382481" y="173982"/>
                </a:lnTo>
                <a:lnTo>
                  <a:pt x="0" y="173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60677" b="-158463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853683" y="825909"/>
            <a:ext cx="2473721" cy="1452172"/>
          </a:xfrm>
          <a:custGeom>
            <a:avLst/>
            <a:gdLst/>
            <a:ahLst/>
            <a:cxnLst/>
            <a:rect l="l" t="t" r="r" b="b"/>
            <a:pathLst>
              <a:path w="2473721" h="1452172">
                <a:moveTo>
                  <a:pt x="0" y="0"/>
                </a:moveTo>
                <a:lnTo>
                  <a:pt x="2473720" y="0"/>
                </a:lnTo>
                <a:lnTo>
                  <a:pt x="2473720" y="1452172"/>
                </a:lnTo>
                <a:lnTo>
                  <a:pt x="0" y="1452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3857270" y="825909"/>
            <a:ext cx="1707984" cy="1592695"/>
          </a:xfrm>
          <a:custGeom>
            <a:avLst/>
            <a:gdLst/>
            <a:ahLst/>
            <a:cxnLst/>
            <a:rect l="l" t="t" r="r" b="b"/>
            <a:pathLst>
              <a:path w="1707984" h="1592695">
                <a:moveTo>
                  <a:pt x="0" y="0"/>
                </a:moveTo>
                <a:lnTo>
                  <a:pt x="1707985" y="0"/>
                </a:lnTo>
                <a:lnTo>
                  <a:pt x="1707985" y="1592695"/>
                </a:lnTo>
                <a:lnTo>
                  <a:pt x="0" y="1592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3516137" y="1030415"/>
            <a:ext cx="0" cy="1221272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AutoShape 10"/>
          <p:cNvSpPr/>
          <p:nvPr/>
        </p:nvSpPr>
        <p:spPr>
          <a:xfrm flipH="1">
            <a:off x="11630603" y="8009242"/>
            <a:ext cx="1536" cy="474889"/>
          </a:xfrm>
          <a:prstGeom prst="line">
            <a:avLst/>
          </a:prstGeom>
          <a:ln w="66675" cap="rnd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1" name="Group 11"/>
          <p:cNvGrpSpPr/>
          <p:nvPr/>
        </p:nvGrpSpPr>
        <p:grpSpPr>
          <a:xfrm>
            <a:off x="13484029" y="1816903"/>
            <a:ext cx="1522016" cy="1260965"/>
            <a:chOff x="0" y="0"/>
            <a:chExt cx="2029354" cy="1681287"/>
          </a:xfrm>
        </p:grpSpPr>
        <p:grpSp>
          <p:nvGrpSpPr>
            <p:cNvPr id="12" name="Group 12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1300481" y="1804599"/>
            <a:ext cx="484780" cy="164601"/>
            <a:chOff x="0" y="0"/>
            <a:chExt cx="219260" cy="74447"/>
          </a:xfrm>
        </p:grpSpPr>
        <p:sp>
          <p:nvSpPr>
            <p:cNvPr id="19" name="Freeform 19"/>
            <p:cNvSpPr/>
            <p:nvPr/>
          </p:nvSpPr>
          <p:spPr>
            <a:xfrm>
              <a:off x="44159" y="14753"/>
              <a:ext cx="130942" cy="59693"/>
            </a:xfrm>
            <a:custGeom>
              <a:avLst/>
              <a:gdLst/>
              <a:ahLst/>
              <a:cxnLst/>
              <a:rect l="l" t="t" r="r" b="b"/>
              <a:pathLst>
                <a:path w="130942" h="59693">
                  <a:moveTo>
                    <a:pt x="120286" y="22470"/>
                  </a:moveTo>
                  <a:lnTo>
                    <a:pt x="120286" y="22470"/>
                  </a:lnTo>
                  <a:cubicBezTo>
                    <a:pt x="127685" y="27495"/>
                    <a:pt x="130942" y="36760"/>
                    <a:pt x="128313" y="45309"/>
                  </a:cubicBezTo>
                  <a:cubicBezTo>
                    <a:pt x="125685" y="53859"/>
                    <a:pt x="117786" y="59694"/>
                    <a:pt x="108842" y="59694"/>
                  </a:cubicBezTo>
                  <a:lnTo>
                    <a:pt x="22100" y="59694"/>
                  </a:lnTo>
                  <a:cubicBezTo>
                    <a:pt x="13155" y="59694"/>
                    <a:pt x="5257" y="53859"/>
                    <a:pt x="2629" y="45309"/>
                  </a:cubicBezTo>
                  <a:cubicBezTo>
                    <a:pt x="0" y="36760"/>
                    <a:pt x="3256" y="27495"/>
                    <a:pt x="10656" y="22470"/>
                  </a:cubicBezTo>
                  <a:lnTo>
                    <a:pt x="10656" y="22470"/>
                  </a:lnTo>
                  <a:cubicBezTo>
                    <a:pt x="43745" y="0"/>
                    <a:pt x="87197" y="0"/>
                    <a:pt x="120286" y="2247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259" y="5990"/>
              <a:ext cx="150741" cy="63140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34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839906" y="1925732"/>
            <a:ext cx="1471222" cy="1139832"/>
            <a:chOff x="0" y="0"/>
            <a:chExt cx="711694" cy="5513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1694" cy="551386"/>
            </a:xfrm>
            <a:custGeom>
              <a:avLst/>
              <a:gdLst/>
              <a:ahLst/>
              <a:cxnLst/>
              <a:rect l="l" t="t" r="r" b="b"/>
              <a:pathLst>
                <a:path w="711694" h="551386">
                  <a:moveTo>
                    <a:pt x="0" y="0"/>
                  </a:moveTo>
                  <a:lnTo>
                    <a:pt x="711694" y="0"/>
                  </a:lnTo>
                  <a:lnTo>
                    <a:pt x="711694" y="551386"/>
                  </a:lnTo>
                  <a:lnTo>
                    <a:pt x="0" y="551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711694" cy="579961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34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807" y="1804599"/>
            <a:ext cx="1522016" cy="1260965"/>
            <a:chOff x="0" y="0"/>
            <a:chExt cx="2029354" cy="1681287"/>
          </a:xfrm>
        </p:grpSpPr>
        <p:grpSp>
          <p:nvGrpSpPr>
            <p:cNvPr id="25" name="Group 25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16192807" y="5158716"/>
            <a:ext cx="1522016" cy="1260965"/>
            <a:chOff x="0" y="0"/>
            <a:chExt cx="2029354" cy="1681287"/>
          </a:xfrm>
        </p:grpSpPr>
        <p:grpSp>
          <p:nvGrpSpPr>
            <p:cNvPr id="32" name="Group 32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0069A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357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0069A7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357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0839906" y="5151530"/>
            <a:ext cx="1522016" cy="1260965"/>
            <a:chOff x="0" y="0"/>
            <a:chExt cx="2029354" cy="1681287"/>
          </a:xfrm>
        </p:grpSpPr>
        <p:grpSp>
          <p:nvGrpSpPr>
            <p:cNvPr id="39" name="Group 39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13497213" y="5151530"/>
            <a:ext cx="1522016" cy="1260965"/>
            <a:chOff x="0" y="0"/>
            <a:chExt cx="2029354" cy="1681287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10871131" y="8578834"/>
            <a:ext cx="1534035" cy="1139832"/>
            <a:chOff x="0" y="0"/>
            <a:chExt cx="742079" cy="55138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42079" cy="551386"/>
            </a:xfrm>
            <a:custGeom>
              <a:avLst/>
              <a:gdLst/>
              <a:ahLst/>
              <a:cxnLst/>
              <a:rect l="l" t="t" r="r" b="b"/>
              <a:pathLst>
                <a:path w="742079" h="551386">
                  <a:moveTo>
                    <a:pt x="0" y="0"/>
                  </a:moveTo>
                  <a:lnTo>
                    <a:pt x="742079" y="0"/>
                  </a:lnTo>
                  <a:lnTo>
                    <a:pt x="742079" y="551386"/>
                  </a:lnTo>
                  <a:lnTo>
                    <a:pt x="0" y="551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742079" cy="579961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50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388855" y="8457701"/>
            <a:ext cx="483136" cy="164601"/>
            <a:chOff x="0" y="0"/>
            <a:chExt cx="218516" cy="74447"/>
          </a:xfrm>
        </p:grpSpPr>
        <p:sp>
          <p:nvSpPr>
            <p:cNvPr id="56" name="Freeform 56"/>
            <p:cNvSpPr/>
            <p:nvPr/>
          </p:nvSpPr>
          <p:spPr>
            <a:xfrm>
              <a:off x="43994" y="14767"/>
              <a:ext cx="130528" cy="59680"/>
            </a:xfrm>
            <a:custGeom>
              <a:avLst/>
              <a:gdLst/>
              <a:ahLst/>
              <a:cxnLst/>
              <a:rect l="l" t="t" r="r" b="b"/>
              <a:pathLst>
                <a:path w="130528" h="59680">
                  <a:moveTo>
                    <a:pt x="119893" y="22456"/>
                  </a:moveTo>
                  <a:lnTo>
                    <a:pt x="119893" y="22456"/>
                  </a:lnTo>
                  <a:cubicBezTo>
                    <a:pt x="127284" y="27492"/>
                    <a:pt x="130528" y="36758"/>
                    <a:pt x="127893" y="45304"/>
                  </a:cubicBezTo>
                  <a:cubicBezTo>
                    <a:pt x="125258" y="53850"/>
                    <a:pt x="117360" y="59680"/>
                    <a:pt x="108417" y="59680"/>
                  </a:cubicBezTo>
                  <a:lnTo>
                    <a:pt x="22111" y="59680"/>
                  </a:lnTo>
                  <a:cubicBezTo>
                    <a:pt x="13168" y="59680"/>
                    <a:pt x="5270" y="53850"/>
                    <a:pt x="2635" y="45304"/>
                  </a:cubicBezTo>
                  <a:cubicBezTo>
                    <a:pt x="0" y="36758"/>
                    <a:pt x="3245" y="27492"/>
                    <a:pt x="10635" y="22456"/>
                  </a:cubicBezTo>
                  <a:lnTo>
                    <a:pt x="10635" y="22456"/>
                  </a:lnTo>
                  <a:cubicBezTo>
                    <a:pt x="43593" y="0"/>
                    <a:pt x="86936" y="0"/>
                    <a:pt x="119893" y="22456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143" y="5990"/>
              <a:ext cx="150230" cy="63140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50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170193" y="4838409"/>
            <a:ext cx="176057" cy="177782"/>
            <a:chOff x="0" y="0"/>
            <a:chExt cx="274676" cy="27736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544111" y="8144580"/>
            <a:ext cx="176057" cy="177782"/>
            <a:chOff x="0" y="0"/>
            <a:chExt cx="274676" cy="27736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6865786" y="4845595"/>
            <a:ext cx="176057" cy="177782"/>
            <a:chOff x="0" y="0"/>
            <a:chExt cx="274676" cy="27736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0069A7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2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512885" y="4838409"/>
            <a:ext cx="176057" cy="177782"/>
            <a:chOff x="0" y="0"/>
            <a:chExt cx="274676" cy="277367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6865786" y="1491478"/>
            <a:ext cx="176057" cy="177782"/>
            <a:chOff x="0" y="0"/>
            <a:chExt cx="274676" cy="277367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157008" y="1503569"/>
            <a:ext cx="176057" cy="177782"/>
            <a:chOff x="0" y="0"/>
            <a:chExt cx="274676" cy="277367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462092" y="1491478"/>
            <a:ext cx="176057" cy="177782"/>
            <a:chOff x="0" y="0"/>
            <a:chExt cx="274676" cy="277367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156217" y="568334"/>
            <a:ext cx="787806" cy="787806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3851134" y="580638"/>
            <a:ext cx="787806" cy="787806"/>
            <a:chOff x="0" y="0"/>
            <a:chExt cx="812800" cy="812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3864318" y="3915265"/>
            <a:ext cx="787806" cy="787806"/>
            <a:chOff x="0" y="0"/>
            <a:chExt cx="812800" cy="812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1238236" y="7221436"/>
            <a:ext cx="787806" cy="787806"/>
            <a:chOff x="0" y="0"/>
            <a:chExt cx="812800" cy="8128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6559912" y="3922451"/>
            <a:ext cx="787806" cy="787806"/>
            <a:chOff x="0" y="0"/>
            <a:chExt cx="812800" cy="8128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9A7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2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1207011" y="3915265"/>
            <a:ext cx="787806" cy="787806"/>
            <a:chOff x="0" y="0"/>
            <a:chExt cx="812800" cy="8128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6559912" y="568334"/>
            <a:ext cx="787806" cy="787806"/>
            <a:chOff x="0" y="0"/>
            <a:chExt cx="812800" cy="8128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100" name="Freeform 100"/>
          <p:cNvSpPr/>
          <p:nvPr/>
        </p:nvSpPr>
        <p:spPr>
          <a:xfrm>
            <a:off x="12723246" y="777833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1" name="Freeform 101"/>
          <p:cNvSpPr/>
          <p:nvPr/>
        </p:nvSpPr>
        <p:spPr>
          <a:xfrm>
            <a:off x="15418362" y="790060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2" name="Freeform 102"/>
          <p:cNvSpPr/>
          <p:nvPr/>
        </p:nvSpPr>
        <p:spPr>
          <a:xfrm rot="-10800000">
            <a:off x="15431686" y="4162537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3" name="Freeform 103"/>
          <p:cNvSpPr/>
          <p:nvPr/>
        </p:nvSpPr>
        <p:spPr>
          <a:xfrm rot="-10800000">
            <a:off x="12736231" y="4150310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5" y="0"/>
                </a:lnTo>
                <a:lnTo>
                  <a:pt x="348665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4" name="Freeform 104"/>
          <p:cNvSpPr/>
          <p:nvPr/>
        </p:nvSpPr>
        <p:spPr>
          <a:xfrm rot="5400000">
            <a:off x="11456091" y="6620258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5" name="Freeform 105"/>
          <p:cNvSpPr/>
          <p:nvPr/>
        </p:nvSpPr>
        <p:spPr>
          <a:xfrm rot="5400000">
            <a:off x="16779482" y="3297299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5" y="0"/>
                </a:lnTo>
                <a:lnTo>
                  <a:pt x="348665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6" name="TextBox 106"/>
          <p:cNvSpPr txBox="1"/>
          <p:nvPr/>
        </p:nvSpPr>
        <p:spPr>
          <a:xfrm>
            <a:off x="853683" y="4473330"/>
            <a:ext cx="7317043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0"/>
              </a:lnSpc>
            </a:pPr>
            <a:r>
              <a:rPr lang="es-CL" sz="5000" b="1" noProof="0" dirty="0">
                <a:solidFill>
                  <a:srgbClr val="36424A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PASO 4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20691" y="9945023"/>
            <a:ext cx="5344563" cy="23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63"/>
              </a:lnSpc>
            </a:pPr>
            <a:r>
              <a:rPr lang="es-CL" sz="1444" noProof="0" dirty="0">
                <a:solidFill>
                  <a:srgbClr val="737373"/>
                </a:solidFill>
                <a:latin typeface="Poppins 1"/>
                <a:ea typeface="Poppins 1"/>
                <a:cs typeface="Poppins 1"/>
                <a:sym typeface="Poppins 1"/>
              </a:rPr>
              <a:t>2025 CODELCO CHILE. TODOS LOS DERECHOS RESERVADOS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962704" y="5325721"/>
            <a:ext cx="7497117" cy="3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8"/>
              </a:lnSpc>
            </a:pPr>
            <a:r>
              <a:rPr lang="es-CL" sz="2800" noProof="0" dirty="0">
                <a:solidFill>
                  <a:srgbClr val="36424A"/>
                </a:solidFill>
                <a:latin typeface="Montserrat 1"/>
                <a:ea typeface="Montserrat 1"/>
                <a:cs typeface="Montserrat 1"/>
                <a:sym typeface="Montserrat 1"/>
              </a:rPr>
              <a:t>Organización de Datos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4466861" y="8211567"/>
            <a:ext cx="3287149" cy="112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s-CL" sz="3995" b="1" noProof="0" dirty="0">
                <a:solidFill>
                  <a:srgbClr val="E9662D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PASOS</a:t>
            </a:r>
          </a:p>
          <a:p>
            <a:pPr algn="l">
              <a:lnSpc>
                <a:spcPts val="2393"/>
              </a:lnSpc>
            </a:pPr>
            <a:r>
              <a:rPr lang="es-CL" sz="2393" noProof="0" dirty="0">
                <a:solidFill>
                  <a:srgbClr val="E9662D"/>
                </a:solidFill>
                <a:latin typeface="Poppins 1"/>
                <a:ea typeface="Poppins 1"/>
                <a:cs typeface="Poppins 1"/>
                <a:sym typeface="Poppins 1"/>
              </a:rPr>
              <a:t>DE LA INVESTIGACIÓN</a:t>
            </a:r>
          </a:p>
          <a:p>
            <a:pPr algn="l">
              <a:lnSpc>
                <a:spcPts val="2393"/>
              </a:lnSpc>
            </a:pPr>
            <a:r>
              <a:rPr lang="es-CL" sz="2393" noProof="0" dirty="0">
                <a:solidFill>
                  <a:srgbClr val="E9662D"/>
                </a:solidFill>
                <a:latin typeface="Poppins 1"/>
                <a:ea typeface="Poppins 1"/>
                <a:cs typeface="Poppins 1"/>
                <a:sym typeface="Poppins 1"/>
              </a:rPr>
              <a:t>ICAM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839906" y="2249079"/>
            <a:ext cx="1471222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Inmediatas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3472010" y="2132346"/>
            <a:ext cx="1534035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Planificación</a:t>
            </a:r>
          </a:p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de la Investigación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6352144" y="2249079"/>
            <a:ext cx="1227295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Recolección de Datos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1300481" y="639680"/>
            <a:ext cx="470895" cy="65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1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4004790" y="651984"/>
            <a:ext cx="470895" cy="65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2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6730343" y="639835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3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6703971" y="4097821"/>
            <a:ext cx="470895" cy="55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70"/>
              </a:lnSpc>
              <a:spcBef>
                <a:spcPct val="0"/>
              </a:spcBef>
            </a:pPr>
            <a:r>
              <a:rPr lang="es-CL" sz="3703" b="1" u="none" strike="noStrike" noProof="0" dirty="0">
                <a:solidFill>
                  <a:srgbClr val="15649F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4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4003579" y="3986767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5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1358515" y="3986767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6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1401096" y="7292938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7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6266495" y="5680305"/>
            <a:ext cx="1406902" cy="398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6"/>
              </a:lnSpc>
              <a:spcBef>
                <a:spcPct val="0"/>
              </a:spcBef>
            </a:pPr>
            <a:r>
              <a:rPr lang="es-CL" sz="1208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Organización de Datos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3704898" y="5472864"/>
            <a:ext cx="1068258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Análisis Causal (ICAM)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915205" y="5466973"/>
            <a:ext cx="1396045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preventivas y correctivas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913398" y="8773144"/>
            <a:ext cx="1438850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Informe de investigación</a:t>
            </a:r>
          </a:p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y aprendizaje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3431377" y="7584746"/>
            <a:ext cx="1723445" cy="209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52"/>
              </a:lnSpc>
            </a:pPr>
            <a:r>
              <a:rPr lang="es-CL" sz="15752" noProof="0" dirty="0">
                <a:solidFill>
                  <a:srgbClr val="E9662D"/>
                </a:solidFill>
                <a:latin typeface="Anton"/>
                <a:ea typeface="Anton"/>
                <a:cs typeface="Anton"/>
                <a:sym typeface="Anton"/>
              </a:rPr>
              <a:t>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898" y="-4198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-145359"/>
            <a:ext cx="8958189" cy="1352819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AutoShape 10"/>
          <p:cNvSpPr/>
          <p:nvPr/>
        </p:nvSpPr>
        <p:spPr>
          <a:xfrm>
            <a:off x="798891" y="7281278"/>
            <a:ext cx="16138092" cy="0"/>
          </a:xfrm>
          <a:prstGeom prst="line">
            <a:avLst/>
          </a:prstGeom>
          <a:ln w="57150" cap="flat">
            <a:solidFill>
              <a:srgbClr val="F4A7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1" name="Group 11"/>
          <p:cNvGrpSpPr/>
          <p:nvPr/>
        </p:nvGrpSpPr>
        <p:grpSpPr>
          <a:xfrm>
            <a:off x="1864921" y="7138403"/>
            <a:ext cx="285750" cy="285750"/>
            <a:chOff x="0" y="0"/>
            <a:chExt cx="1108765" cy="11087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08765" cy="1108765"/>
            </a:xfrm>
            <a:custGeom>
              <a:avLst/>
              <a:gdLst/>
              <a:ahLst/>
              <a:cxnLst/>
              <a:rect l="l" t="t" r="r" b="b"/>
              <a:pathLst>
                <a:path w="1108765" h="1108765">
                  <a:moveTo>
                    <a:pt x="554383" y="0"/>
                  </a:moveTo>
                  <a:cubicBezTo>
                    <a:pt x="248206" y="0"/>
                    <a:pt x="0" y="248206"/>
                    <a:pt x="0" y="554383"/>
                  </a:cubicBezTo>
                  <a:cubicBezTo>
                    <a:pt x="0" y="860560"/>
                    <a:pt x="248206" y="1108765"/>
                    <a:pt x="554383" y="1108765"/>
                  </a:cubicBezTo>
                  <a:cubicBezTo>
                    <a:pt x="860560" y="1108765"/>
                    <a:pt x="1108765" y="860560"/>
                    <a:pt x="1108765" y="554383"/>
                  </a:cubicBezTo>
                  <a:cubicBezTo>
                    <a:pt x="1108765" y="248206"/>
                    <a:pt x="860560" y="0"/>
                    <a:pt x="554383" y="0"/>
                  </a:cubicBezTo>
                  <a:close/>
                </a:path>
              </a:pathLst>
            </a:custGeom>
            <a:solidFill>
              <a:srgbClr val="E96C28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947" y="65847"/>
              <a:ext cx="900872" cy="938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64347" y="7138403"/>
            <a:ext cx="285750" cy="285750"/>
            <a:chOff x="0" y="0"/>
            <a:chExt cx="1108765" cy="110876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8765" cy="1108765"/>
            </a:xfrm>
            <a:custGeom>
              <a:avLst/>
              <a:gdLst/>
              <a:ahLst/>
              <a:cxnLst/>
              <a:rect l="l" t="t" r="r" b="b"/>
              <a:pathLst>
                <a:path w="1108765" h="1108765">
                  <a:moveTo>
                    <a:pt x="554383" y="0"/>
                  </a:moveTo>
                  <a:cubicBezTo>
                    <a:pt x="248206" y="0"/>
                    <a:pt x="0" y="248206"/>
                    <a:pt x="0" y="554383"/>
                  </a:cubicBezTo>
                  <a:cubicBezTo>
                    <a:pt x="0" y="860560"/>
                    <a:pt x="248206" y="1108765"/>
                    <a:pt x="554383" y="1108765"/>
                  </a:cubicBezTo>
                  <a:cubicBezTo>
                    <a:pt x="860560" y="1108765"/>
                    <a:pt x="1108765" y="860560"/>
                    <a:pt x="1108765" y="554383"/>
                  </a:cubicBezTo>
                  <a:cubicBezTo>
                    <a:pt x="1108765" y="248206"/>
                    <a:pt x="860560" y="0"/>
                    <a:pt x="554383" y="0"/>
                  </a:cubicBezTo>
                  <a:close/>
                </a:path>
              </a:pathLst>
            </a:custGeom>
            <a:solidFill>
              <a:srgbClr val="F4A700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947" y="65847"/>
              <a:ext cx="900872" cy="938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3773" y="7138403"/>
            <a:ext cx="285750" cy="285750"/>
            <a:chOff x="0" y="0"/>
            <a:chExt cx="1108765" cy="11087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08765" cy="1108765"/>
            </a:xfrm>
            <a:custGeom>
              <a:avLst/>
              <a:gdLst/>
              <a:ahLst/>
              <a:cxnLst/>
              <a:rect l="l" t="t" r="r" b="b"/>
              <a:pathLst>
                <a:path w="1108765" h="1108765">
                  <a:moveTo>
                    <a:pt x="554383" y="0"/>
                  </a:moveTo>
                  <a:cubicBezTo>
                    <a:pt x="248206" y="0"/>
                    <a:pt x="0" y="248206"/>
                    <a:pt x="0" y="554383"/>
                  </a:cubicBezTo>
                  <a:cubicBezTo>
                    <a:pt x="0" y="860560"/>
                    <a:pt x="248206" y="1108765"/>
                    <a:pt x="554383" y="1108765"/>
                  </a:cubicBezTo>
                  <a:cubicBezTo>
                    <a:pt x="860560" y="1108765"/>
                    <a:pt x="1108765" y="860560"/>
                    <a:pt x="1108765" y="554383"/>
                  </a:cubicBezTo>
                  <a:cubicBezTo>
                    <a:pt x="1108765" y="248206"/>
                    <a:pt x="860560" y="0"/>
                    <a:pt x="554383" y="0"/>
                  </a:cubicBezTo>
                  <a:close/>
                </a:path>
              </a:pathLst>
            </a:custGeom>
            <a:solidFill>
              <a:srgbClr val="209EB0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947" y="65847"/>
              <a:ext cx="900872" cy="938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763200" y="7138403"/>
            <a:ext cx="285750" cy="285750"/>
            <a:chOff x="0" y="0"/>
            <a:chExt cx="1108765" cy="11087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08765" cy="1108765"/>
            </a:xfrm>
            <a:custGeom>
              <a:avLst/>
              <a:gdLst/>
              <a:ahLst/>
              <a:cxnLst/>
              <a:rect l="l" t="t" r="r" b="b"/>
              <a:pathLst>
                <a:path w="1108765" h="1108765">
                  <a:moveTo>
                    <a:pt x="554383" y="0"/>
                  </a:moveTo>
                  <a:cubicBezTo>
                    <a:pt x="248206" y="0"/>
                    <a:pt x="0" y="248206"/>
                    <a:pt x="0" y="554383"/>
                  </a:cubicBezTo>
                  <a:cubicBezTo>
                    <a:pt x="0" y="860560"/>
                    <a:pt x="248206" y="1108765"/>
                    <a:pt x="554383" y="1108765"/>
                  </a:cubicBezTo>
                  <a:cubicBezTo>
                    <a:pt x="860560" y="1108765"/>
                    <a:pt x="1108765" y="860560"/>
                    <a:pt x="1108765" y="554383"/>
                  </a:cubicBezTo>
                  <a:cubicBezTo>
                    <a:pt x="1108765" y="248206"/>
                    <a:pt x="860560" y="0"/>
                    <a:pt x="554383" y="0"/>
                  </a:cubicBezTo>
                  <a:close/>
                </a:path>
              </a:pathLst>
            </a:custGeom>
            <a:solidFill>
              <a:srgbClr val="76151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947" y="65847"/>
              <a:ext cx="900872" cy="938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062626" y="7138403"/>
            <a:ext cx="285750" cy="285750"/>
            <a:chOff x="0" y="0"/>
            <a:chExt cx="1108765" cy="110876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08765" cy="1108765"/>
            </a:xfrm>
            <a:custGeom>
              <a:avLst/>
              <a:gdLst/>
              <a:ahLst/>
              <a:cxnLst/>
              <a:rect l="l" t="t" r="r" b="b"/>
              <a:pathLst>
                <a:path w="1108765" h="1108765">
                  <a:moveTo>
                    <a:pt x="554383" y="0"/>
                  </a:moveTo>
                  <a:cubicBezTo>
                    <a:pt x="248206" y="0"/>
                    <a:pt x="0" y="248206"/>
                    <a:pt x="0" y="554383"/>
                  </a:cubicBezTo>
                  <a:cubicBezTo>
                    <a:pt x="0" y="860560"/>
                    <a:pt x="248206" y="1108765"/>
                    <a:pt x="554383" y="1108765"/>
                  </a:cubicBezTo>
                  <a:cubicBezTo>
                    <a:pt x="860560" y="1108765"/>
                    <a:pt x="1108765" y="860560"/>
                    <a:pt x="1108765" y="554383"/>
                  </a:cubicBezTo>
                  <a:cubicBezTo>
                    <a:pt x="1108765" y="248206"/>
                    <a:pt x="860560" y="0"/>
                    <a:pt x="554383" y="0"/>
                  </a:cubicBezTo>
                  <a:close/>
                </a:path>
              </a:pathLst>
            </a:custGeom>
            <a:solidFill>
              <a:srgbClr val="209EB0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947" y="65847"/>
              <a:ext cx="900872" cy="938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362053" y="7138403"/>
            <a:ext cx="285750" cy="285750"/>
            <a:chOff x="0" y="0"/>
            <a:chExt cx="1108765" cy="110876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08765" cy="1108765"/>
            </a:xfrm>
            <a:custGeom>
              <a:avLst/>
              <a:gdLst/>
              <a:ahLst/>
              <a:cxnLst/>
              <a:rect l="l" t="t" r="r" b="b"/>
              <a:pathLst>
                <a:path w="1108765" h="1108765">
                  <a:moveTo>
                    <a:pt x="554383" y="0"/>
                  </a:moveTo>
                  <a:cubicBezTo>
                    <a:pt x="248206" y="0"/>
                    <a:pt x="0" y="248206"/>
                    <a:pt x="0" y="554383"/>
                  </a:cubicBezTo>
                  <a:cubicBezTo>
                    <a:pt x="0" y="860560"/>
                    <a:pt x="248206" y="1108765"/>
                    <a:pt x="554383" y="1108765"/>
                  </a:cubicBezTo>
                  <a:cubicBezTo>
                    <a:pt x="860560" y="1108765"/>
                    <a:pt x="1108765" y="860560"/>
                    <a:pt x="1108765" y="554383"/>
                  </a:cubicBezTo>
                  <a:cubicBezTo>
                    <a:pt x="1108765" y="248206"/>
                    <a:pt x="860560" y="0"/>
                    <a:pt x="554383" y="0"/>
                  </a:cubicBezTo>
                  <a:close/>
                </a:path>
              </a:pathLst>
            </a:custGeom>
            <a:solidFill>
              <a:srgbClr val="F4A700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947" y="65847"/>
              <a:ext cx="900872" cy="938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86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661479" y="7138403"/>
            <a:ext cx="285750" cy="285750"/>
            <a:chOff x="0" y="0"/>
            <a:chExt cx="1108765" cy="110876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08765" cy="1108765"/>
            </a:xfrm>
            <a:custGeom>
              <a:avLst/>
              <a:gdLst/>
              <a:ahLst/>
              <a:cxnLst/>
              <a:rect l="l" t="t" r="r" b="b"/>
              <a:pathLst>
                <a:path w="1108765" h="1108765">
                  <a:moveTo>
                    <a:pt x="554383" y="0"/>
                  </a:moveTo>
                  <a:cubicBezTo>
                    <a:pt x="248206" y="0"/>
                    <a:pt x="0" y="248206"/>
                    <a:pt x="0" y="554383"/>
                  </a:cubicBezTo>
                  <a:cubicBezTo>
                    <a:pt x="0" y="860560"/>
                    <a:pt x="248206" y="1108765"/>
                    <a:pt x="554383" y="1108765"/>
                  </a:cubicBezTo>
                  <a:cubicBezTo>
                    <a:pt x="860560" y="1108765"/>
                    <a:pt x="1108765" y="860560"/>
                    <a:pt x="1108765" y="554383"/>
                  </a:cubicBezTo>
                  <a:cubicBezTo>
                    <a:pt x="1108765" y="248206"/>
                    <a:pt x="860560" y="0"/>
                    <a:pt x="554383" y="0"/>
                  </a:cubicBezTo>
                  <a:close/>
                </a:path>
              </a:pathLst>
            </a:custGeom>
            <a:solidFill>
              <a:srgbClr val="E96C28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947" y="65847"/>
              <a:ext cx="900872" cy="938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86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4502" y="2544187"/>
            <a:ext cx="1930312" cy="4421760"/>
            <a:chOff x="0" y="0"/>
            <a:chExt cx="379877" cy="67339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79877" cy="664076"/>
            </a:xfrm>
            <a:custGeom>
              <a:avLst/>
              <a:gdLst/>
              <a:ahLst/>
              <a:cxnLst/>
              <a:rect l="l" t="t" r="r" b="b"/>
              <a:pathLst>
                <a:path w="379877" h="664076">
                  <a:moveTo>
                    <a:pt x="379877" y="47001"/>
                  </a:moveTo>
                  <a:lnTo>
                    <a:pt x="379877" y="512099"/>
                  </a:lnTo>
                  <a:cubicBezTo>
                    <a:pt x="379877" y="541264"/>
                    <a:pt x="364595" y="568296"/>
                    <a:pt x="339606" y="583333"/>
                  </a:cubicBezTo>
                  <a:lnTo>
                    <a:pt x="230210" y="649165"/>
                  </a:lnTo>
                  <a:cubicBezTo>
                    <a:pt x="205432" y="664076"/>
                    <a:pt x="174445" y="664076"/>
                    <a:pt x="149668" y="649165"/>
                  </a:cubicBezTo>
                  <a:lnTo>
                    <a:pt x="40271" y="583333"/>
                  </a:lnTo>
                  <a:cubicBezTo>
                    <a:pt x="15282" y="568296"/>
                    <a:pt x="0" y="541264"/>
                    <a:pt x="0" y="512099"/>
                  </a:cubicBezTo>
                  <a:lnTo>
                    <a:pt x="0" y="47001"/>
                  </a:lnTo>
                  <a:cubicBezTo>
                    <a:pt x="0" y="21043"/>
                    <a:pt x="21043" y="0"/>
                    <a:pt x="47001" y="0"/>
                  </a:cubicBezTo>
                  <a:lnTo>
                    <a:pt x="332877" y="0"/>
                  </a:lnTo>
                  <a:cubicBezTo>
                    <a:pt x="358834" y="0"/>
                    <a:pt x="379877" y="21043"/>
                    <a:pt x="379877" y="47001"/>
                  </a:cubicBezTo>
                  <a:close/>
                </a:path>
              </a:pathLst>
            </a:custGeom>
            <a:solidFill>
              <a:srgbClr val="E4E8F1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79877" cy="597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303928" y="2544187"/>
            <a:ext cx="1930312" cy="4421760"/>
            <a:chOff x="0" y="0"/>
            <a:chExt cx="379877" cy="67339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79877" cy="664076"/>
            </a:xfrm>
            <a:custGeom>
              <a:avLst/>
              <a:gdLst/>
              <a:ahLst/>
              <a:cxnLst/>
              <a:rect l="l" t="t" r="r" b="b"/>
              <a:pathLst>
                <a:path w="379877" h="664076">
                  <a:moveTo>
                    <a:pt x="379877" y="47001"/>
                  </a:moveTo>
                  <a:lnTo>
                    <a:pt x="379877" y="512099"/>
                  </a:lnTo>
                  <a:cubicBezTo>
                    <a:pt x="379877" y="541264"/>
                    <a:pt x="364595" y="568296"/>
                    <a:pt x="339606" y="583333"/>
                  </a:cubicBezTo>
                  <a:lnTo>
                    <a:pt x="230210" y="649165"/>
                  </a:lnTo>
                  <a:cubicBezTo>
                    <a:pt x="205432" y="664076"/>
                    <a:pt x="174445" y="664076"/>
                    <a:pt x="149668" y="649165"/>
                  </a:cubicBezTo>
                  <a:lnTo>
                    <a:pt x="40271" y="583333"/>
                  </a:lnTo>
                  <a:cubicBezTo>
                    <a:pt x="15282" y="568296"/>
                    <a:pt x="0" y="541264"/>
                    <a:pt x="0" y="512099"/>
                  </a:cubicBezTo>
                  <a:lnTo>
                    <a:pt x="0" y="47001"/>
                  </a:lnTo>
                  <a:cubicBezTo>
                    <a:pt x="0" y="21043"/>
                    <a:pt x="21043" y="0"/>
                    <a:pt x="47001" y="0"/>
                  </a:cubicBezTo>
                  <a:lnTo>
                    <a:pt x="332877" y="0"/>
                  </a:lnTo>
                  <a:cubicBezTo>
                    <a:pt x="358834" y="0"/>
                    <a:pt x="379877" y="21043"/>
                    <a:pt x="379877" y="47001"/>
                  </a:cubicBezTo>
                  <a:close/>
                </a:path>
              </a:pathLst>
            </a:custGeom>
            <a:solidFill>
              <a:srgbClr val="E4E8F1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79877" cy="597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03355" y="2544187"/>
            <a:ext cx="1930312" cy="4421760"/>
            <a:chOff x="0" y="0"/>
            <a:chExt cx="379877" cy="67339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79877" cy="664076"/>
            </a:xfrm>
            <a:custGeom>
              <a:avLst/>
              <a:gdLst/>
              <a:ahLst/>
              <a:cxnLst/>
              <a:rect l="l" t="t" r="r" b="b"/>
              <a:pathLst>
                <a:path w="379877" h="664076">
                  <a:moveTo>
                    <a:pt x="379877" y="47001"/>
                  </a:moveTo>
                  <a:lnTo>
                    <a:pt x="379877" y="512099"/>
                  </a:lnTo>
                  <a:cubicBezTo>
                    <a:pt x="379877" y="541264"/>
                    <a:pt x="364595" y="568296"/>
                    <a:pt x="339606" y="583333"/>
                  </a:cubicBezTo>
                  <a:lnTo>
                    <a:pt x="230210" y="649165"/>
                  </a:lnTo>
                  <a:cubicBezTo>
                    <a:pt x="205432" y="664076"/>
                    <a:pt x="174445" y="664076"/>
                    <a:pt x="149668" y="649165"/>
                  </a:cubicBezTo>
                  <a:lnTo>
                    <a:pt x="40271" y="583333"/>
                  </a:lnTo>
                  <a:cubicBezTo>
                    <a:pt x="15282" y="568296"/>
                    <a:pt x="0" y="541264"/>
                    <a:pt x="0" y="512099"/>
                  </a:cubicBezTo>
                  <a:lnTo>
                    <a:pt x="0" y="47001"/>
                  </a:lnTo>
                  <a:cubicBezTo>
                    <a:pt x="0" y="21043"/>
                    <a:pt x="21043" y="0"/>
                    <a:pt x="47001" y="0"/>
                  </a:cubicBezTo>
                  <a:lnTo>
                    <a:pt x="332877" y="0"/>
                  </a:lnTo>
                  <a:cubicBezTo>
                    <a:pt x="358834" y="0"/>
                    <a:pt x="379877" y="21043"/>
                    <a:pt x="379877" y="47001"/>
                  </a:cubicBezTo>
                  <a:close/>
                </a:path>
              </a:pathLst>
            </a:custGeom>
            <a:solidFill>
              <a:srgbClr val="E4E8F1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79877" cy="597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902781" y="2544187"/>
            <a:ext cx="1930312" cy="4421759"/>
            <a:chOff x="0" y="0"/>
            <a:chExt cx="379877" cy="67339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79877" cy="664076"/>
            </a:xfrm>
            <a:custGeom>
              <a:avLst/>
              <a:gdLst/>
              <a:ahLst/>
              <a:cxnLst/>
              <a:rect l="l" t="t" r="r" b="b"/>
              <a:pathLst>
                <a:path w="379877" h="664076">
                  <a:moveTo>
                    <a:pt x="379877" y="47001"/>
                  </a:moveTo>
                  <a:lnTo>
                    <a:pt x="379877" y="512099"/>
                  </a:lnTo>
                  <a:cubicBezTo>
                    <a:pt x="379877" y="541264"/>
                    <a:pt x="364595" y="568296"/>
                    <a:pt x="339606" y="583333"/>
                  </a:cubicBezTo>
                  <a:lnTo>
                    <a:pt x="230210" y="649165"/>
                  </a:lnTo>
                  <a:cubicBezTo>
                    <a:pt x="205432" y="664076"/>
                    <a:pt x="174445" y="664076"/>
                    <a:pt x="149668" y="649165"/>
                  </a:cubicBezTo>
                  <a:lnTo>
                    <a:pt x="40271" y="583333"/>
                  </a:lnTo>
                  <a:cubicBezTo>
                    <a:pt x="15282" y="568296"/>
                    <a:pt x="0" y="541264"/>
                    <a:pt x="0" y="512099"/>
                  </a:cubicBezTo>
                  <a:lnTo>
                    <a:pt x="0" y="47001"/>
                  </a:lnTo>
                  <a:cubicBezTo>
                    <a:pt x="0" y="21043"/>
                    <a:pt x="21043" y="0"/>
                    <a:pt x="47001" y="0"/>
                  </a:cubicBezTo>
                  <a:lnTo>
                    <a:pt x="332877" y="0"/>
                  </a:lnTo>
                  <a:cubicBezTo>
                    <a:pt x="358834" y="0"/>
                    <a:pt x="379877" y="21043"/>
                    <a:pt x="379877" y="47001"/>
                  </a:cubicBezTo>
                  <a:close/>
                </a:path>
              </a:pathLst>
            </a:custGeom>
            <a:solidFill>
              <a:srgbClr val="FC3E00">
                <a:alpha val="40784"/>
              </a:srgbClr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379877" cy="597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202207" y="2544187"/>
            <a:ext cx="1930312" cy="4421759"/>
            <a:chOff x="0" y="0"/>
            <a:chExt cx="379877" cy="67339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79877" cy="664076"/>
            </a:xfrm>
            <a:custGeom>
              <a:avLst/>
              <a:gdLst/>
              <a:ahLst/>
              <a:cxnLst/>
              <a:rect l="l" t="t" r="r" b="b"/>
              <a:pathLst>
                <a:path w="379877" h="664076">
                  <a:moveTo>
                    <a:pt x="379877" y="47001"/>
                  </a:moveTo>
                  <a:lnTo>
                    <a:pt x="379877" y="512099"/>
                  </a:lnTo>
                  <a:cubicBezTo>
                    <a:pt x="379877" y="541264"/>
                    <a:pt x="364595" y="568296"/>
                    <a:pt x="339606" y="583333"/>
                  </a:cubicBezTo>
                  <a:lnTo>
                    <a:pt x="230210" y="649165"/>
                  </a:lnTo>
                  <a:cubicBezTo>
                    <a:pt x="205432" y="664076"/>
                    <a:pt x="174445" y="664076"/>
                    <a:pt x="149668" y="649165"/>
                  </a:cubicBezTo>
                  <a:lnTo>
                    <a:pt x="40271" y="583333"/>
                  </a:lnTo>
                  <a:cubicBezTo>
                    <a:pt x="15282" y="568296"/>
                    <a:pt x="0" y="541264"/>
                    <a:pt x="0" y="512099"/>
                  </a:cubicBezTo>
                  <a:lnTo>
                    <a:pt x="0" y="47001"/>
                  </a:lnTo>
                  <a:cubicBezTo>
                    <a:pt x="0" y="21043"/>
                    <a:pt x="21043" y="0"/>
                    <a:pt x="47001" y="0"/>
                  </a:cubicBezTo>
                  <a:lnTo>
                    <a:pt x="332877" y="0"/>
                  </a:lnTo>
                  <a:cubicBezTo>
                    <a:pt x="358834" y="0"/>
                    <a:pt x="379877" y="21043"/>
                    <a:pt x="379877" y="47001"/>
                  </a:cubicBezTo>
                  <a:close/>
                </a:path>
              </a:pathLst>
            </a:custGeom>
            <a:solidFill>
              <a:srgbClr val="E4E8F1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379877" cy="597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501634" y="2544187"/>
            <a:ext cx="1930312" cy="4421759"/>
            <a:chOff x="0" y="0"/>
            <a:chExt cx="379877" cy="67339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79877" cy="664076"/>
            </a:xfrm>
            <a:custGeom>
              <a:avLst/>
              <a:gdLst/>
              <a:ahLst/>
              <a:cxnLst/>
              <a:rect l="l" t="t" r="r" b="b"/>
              <a:pathLst>
                <a:path w="379877" h="664076">
                  <a:moveTo>
                    <a:pt x="379877" y="47001"/>
                  </a:moveTo>
                  <a:lnTo>
                    <a:pt x="379877" y="512099"/>
                  </a:lnTo>
                  <a:cubicBezTo>
                    <a:pt x="379877" y="541264"/>
                    <a:pt x="364595" y="568296"/>
                    <a:pt x="339606" y="583333"/>
                  </a:cubicBezTo>
                  <a:lnTo>
                    <a:pt x="230210" y="649165"/>
                  </a:lnTo>
                  <a:cubicBezTo>
                    <a:pt x="205432" y="664076"/>
                    <a:pt x="174445" y="664076"/>
                    <a:pt x="149668" y="649165"/>
                  </a:cubicBezTo>
                  <a:lnTo>
                    <a:pt x="40271" y="583333"/>
                  </a:lnTo>
                  <a:cubicBezTo>
                    <a:pt x="15282" y="568296"/>
                    <a:pt x="0" y="541264"/>
                    <a:pt x="0" y="512099"/>
                  </a:cubicBezTo>
                  <a:lnTo>
                    <a:pt x="0" y="47001"/>
                  </a:lnTo>
                  <a:cubicBezTo>
                    <a:pt x="0" y="21043"/>
                    <a:pt x="21043" y="0"/>
                    <a:pt x="47001" y="0"/>
                  </a:cubicBezTo>
                  <a:lnTo>
                    <a:pt x="332877" y="0"/>
                  </a:lnTo>
                  <a:cubicBezTo>
                    <a:pt x="358834" y="0"/>
                    <a:pt x="379877" y="21043"/>
                    <a:pt x="379877" y="47001"/>
                  </a:cubicBezTo>
                  <a:close/>
                </a:path>
              </a:pathLst>
            </a:custGeom>
            <a:solidFill>
              <a:srgbClr val="E4E8F1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379877" cy="597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4801060" y="2544187"/>
            <a:ext cx="1930312" cy="4421759"/>
            <a:chOff x="0" y="0"/>
            <a:chExt cx="379877" cy="67339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79877" cy="664076"/>
            </a:xfrm>
            <a:custGeom>
              <a:avLst/>
              <a:gdLst/>
              <a:ahLst/>
              <a:cxnLst/>
              <a:rect l="l" t="t" r="r" b="b"/>
              <a:pathLst>
                <a:path w="379877" h="664076">
                  <a:moveTo>
                    <a:pt x="379877" y="47001"/>
                  </a:moveTo>
                  <a:lnTo>
                    <a:pt x="379877" y="512099"/>
                  </a:lnTo>
                  <a:cubicBezTo>
                    <a:pt x="379877" y="541264"/>
                    <a:pt x="364595" y="568296"/>
                    <a:pt x="339606" y="583333"/>
                  </a:cubicBezTo>
                  <a:lnTo>
                    <a:pt x="230210" y="649165"/>
                  </a:lnTo>
                  <a:cubicBezTo>
                    <a:pt x="205432" y="664076"/>
                    <a:pt x="174445" y="664076"/>
                    <a:pt x="149668" y="649165"/>
                  </a:cubicBezTo>
                  <a:lnTo>
                    <a:pt x="40271" y="583333"/>
                  </a:lnTo>
                  <a:cubicBezTo>
                    <a:pt x="15282" y="568296"/>
                    <a:pt x="0" y="541264"/>
                    <a:pt x="0" y="512099"/>
                  </a:cubicBezTo>
                  <a:lnTo>
                    <a:pt x="0" y="47001"/>
                  </a:lnTo>
                  <a:cubicBezTo>
                    <a:pt x="0" y="21043"/>
                    <a:pt x="21043" y="0"/>
                    <a:pt x="47001" y="0"/>
                  </a:cubicBezTo>
                  <a:lnTo>
                    <a:pt x="332877" y="0"/>
                  </a:lnTo>
                  <a:cubicBezTo>
                    <a:pt x="358834" y="0"/>
                    <a:pt x="379877" y="21043"/>
                    <a:pt x="379877" y="47001"/>
                  </a:cubicBezTo>
                  <a:close/>
                </a:path>
              </a:pathLst>
            </a:custGeom>
            <a:solidFill>
              <a:srgbClr val="E4E8F1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379877" cy="597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306610" y="1842716"/>
            <a:ext cx="1035704" cy="1035704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86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56" name="Freeform 56"/>
          <p:cNvSpPr/>
          <p:nvPr/>
        </p:nvSpPr>
        <p:spPr>
          <a:xfrm>
            <a:off x="8462244" y="1964762"/>
            <a:ext cx="724436" cy="626966"/>
          </a:xfrm>
          <a:custGeom>
            <a:avLst/>
            <a:gdLst/>
            <a:ahLst/>
            <a:cxnLst/>
            <a:rect l="l" t="t" r="r" b="b"/>
            <a:pathLst>
              <a:path w="724436" h="626966">
                <a:moveTo>
                  <a:pt x="0" y="0"/>
                </a:moveTo>
                <a:lnTo>
                  <a:pt x="724436" y="0"/>
                </a:lnTo>
                <a:lnTo>
                  <a:pt x="724436" y="626967"/>
                </a:lnTo>
                <a:lnTo>
                  <a:pt x="0" y="6269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7" name="Freeform 57"/>
          <p:cNvSpPr/>
          <p:nvPr/>
        </p:nvSpPr>
        <p:spPr>
          <a:xfrm>
            <a:off x="702854" y="270351"/>
            <a:ext cx="603295" cy="710805"/>
          </a:xfrm>
          <a:custGeom>
            <a:avLst/>
            <a:gdLst/>
            <a:ahLst/>
            <a:cxnLst/>
            <a:rect l="l" t="t" r="r" b="b"/>
            <a:pathLst>
              <a:path w="603295" h="710805">
                <a:moveTo>
                  <a:pt x="0" y="0"/>
                </a:moveTo>
                <a:lnTo>
                  <a:pt x="603295" y="0"/>
                </a:lnTo>
                <a:lnTo>
                  <a:pt x="603295" y="710804"/>
                </a:lnTo>
                <a:lnTo>
                  <a:pt x="0" y="7108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8" name="TextBox 58"/>
          <p:cNvSpPr txBox="1"/>
          <p:nvPr/>
        </p:nvSpPr>
        <p:spPr>
          <a:xfrm>
            <a:off x="1605348" y="635256"/>
            <a:ext cx="6725073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LÍNEA DE TIEMPO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605348" y="323493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ORGANIZACIÓN DE DATOS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33368" y="4351769"/>
            <a:ext cx="1604079" cy="159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Hora de inicio de la tarea.</a:t>
            </a:r>
          </a:p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Reunión de seguridad o charla previa.</a:t>
            </a:r>
          </a:p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Condiciones iniciales observadas en el área.</a:t>
            </a:r>
          </a:p>
          <a:p>
            <a:pPr algn="ctr">
              <a:lnSpc>
                <a:spcPts val="1615"/>
              </a:lnSpc>
            </a:pPr>
            <a:endParaRPr lang="es-CL" sz="985" noProof="0" dirty="0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3501295" y="4323296"/>
            <a:ext cx="1535578" cy="159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Revisión de equipos y herramientas.</a:t>
            </a:r>
          </a:p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Disponibilidad y uso de EPP.</a:t>
            </a:r>
          </a:p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Ejecución de procedimientos o ART.</a:t>
            </a:r>
          </a:p>
          <a:p>
            <a:pPr algn="ctr">
              <a:lnSpc>
                <a:spcPts val="1615"/>
              </a:lnSpc>
            </a:pPr>
            <a:endParaRPr lang="es-CL" sz="985" noProof="0" dirty="0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1201869" y="3726291"/>
            <a:ext cx="1535578" cy="45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  <a:spcBef>
                <a:spcPct val="0"/>
              </a:spcBef>
            </a:pPr>
            <a:r>
              <a:rPr lang="es-CL" sz="1400" b="1" u="none" strike="noStrike" noProof="0" dirty="0">
                <a:solidFill>
                  <a:srgbClr val="E96C28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Inicio de la jornada / turno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01869" y="7617701"/>
            <a:ext cx="1535578" cy="29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75"/>
              </a:lnSpc>
            </a:pPr>
            <a:r>
              <a:rPr lang="es-CL" sz="1699" b="1" noProof="0" dirty="0">
                <a:solidFill>
                  <a:srgbClr val="E96C28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14:00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539433" y="3726291"/>
            <a:ext cx="1535578" cy="45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  <a:spcBef>
                <a:spcPct val="0"/>
              </a:spcBef>
            </a:pPr>
            <a:r>
              <a:rPr lang="es-CL" sz="1400" b="1" dirty="0">
                <a:solidFill>
                  <a:srgbClr val="F4A7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</a:t>
            </a:r>
            <a:r>
              <a:rPr lang="es-CL" sz="1400" b="1" u="none" strike="noStrike" noProof="0" dirty="0">
                <a:solidFill>
                  <a:srgbClr val="F4A7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reparación de la tarea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501295" y="7617701"/>
            <a:ext cx="1535578" cy="29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75"/>
              </a:lnSpc>
            </a:pPr>
            <a:r>
              <a:rPr lang="es-CL" sz="1699" b="1" noProof="0" dirty="0">
                <a:solidFill>
                  <a:srgbClr val="F4A7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15:00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796215" y="3726291"/>
            <a:ext cx="1535578" cy="45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  <a:spcBef>
                <a:spcPct val="0"/>
              </a:spcBef>
            </a:pPr>
            <a:r>
              <a:rPr lang="es-CL" sz="1400" b="1" u="none" strike="noStrike" noProof="0" dirty="0">
                <a:solidFill>
                  <a:srgbClr val="209EB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Desarrollo previo al evento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800721" y="7617701"/>
            <a:ext cx="1535578" cy="29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75"/>
              </a:lnSpc>
            </a:pPr>
            <a:r>
              <a:rPr lang="es-CL" sz="1699" b="1" noProof="0" dirty="0">
                <a:solidFill>
                  <a:srgbClr val="209EB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15:35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100148" y="3911308"/>
            <a:ext cx="1535578" cy="89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  <a:spcBef>
                <a:spcPct val="0"/>
              </a:spcBef>
            </a:pPr>
            <a:r>
              <a:rPr lang="es-CL" sz="1400" b="1" u="none" strike="noStrike" noProof="0" dirty="0">
                <a:solidFill>
                  <a:srgbClr val="76151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Momento del evento (accidente / incidente)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100148" y="7617701"/>
            <a:ext cx="1535578" cy="29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75"/>
              </a:lnSpc>
            </a:pPr>
            <a:r>
              <a:rPr lang="es-CL" sz="1699" b="1" noProof="0" dirty="0">
                <a:solidFill>
                  <a:srgbClr val="76151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15:50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395068" y="3726291"/>
            <a:ext cx="1535578" cy="45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  <a:spcBef>
                <a:spcPct val="0"/>
              </a:spcBef>
            </a:pPr>
            <a:r>
              <a:rPr lang="es-CL" sz="1400" b="1" u="none" strike="noStrike" noProof="0" dirty="0">
                <a:solidFill>
                  <a:srgbClr val="209EB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inmediatas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399574" y="7617701"/>
            <a:ext cx="1535578" cy="29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75"/>
              </a:lnSpc>
              <a:spcBef>
                <a:spcPct val="0"/>
              </a:spcBef>
            </a:pPr>
            <a:r>
              <a:rPr lang="es-CL" sz="1699" b="1" u="none" strike="noStrike" noProof="0" dirty="0">
                <a:solidFill>
                  <a:srgbClr val="209EB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16:00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2699001" y="3726291"/>
            <a:ext cx="1535578" cy="45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  <a:spcBef>
                <a:spcPct val="0"/>
              </a:spcBef>
            </a:pPr>
            <a:r>
              <a:rPr lang="es-CL" sz="1400" b="1" u="none" strike="noStrike" noProof="0" dirty="0">
                <a:solidFill>
                  <a:srgbClr val="F4A7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Comunicación y control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2699001" y="7617701"/>
            <a:ext cx="1535578" cy="29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75"/>
              </a:lnSpc>
              <a:spcBef>
                <a:spcPct val="0"/>
              </a:spcBef>
            </a:pPr>
            <a:r>
              <a:rPr lang="es-CL" sz="1699" b="1" u="none" strike="noStrike" noProof="0" dirty="0">
                <a:solidFill>
                  <a:srgbClr val="F4A7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16:23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5036565" y="3764714"/>
            <a:ext cx="1535578" cy="233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  <a:spcBef>
                <a:spcPct val="0"/>
              </a:spcBef>
            </a:pPr>
            <a:r>
              <a:rPr lang="es-CL" sz="1400" b="1" u="none" strike="noStrike" noProof="0" dirty="0">
                <a:solidFill>
                  <a:srgbClr val="E96C28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Cierre inicial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4998427" y="7617701"/>
            <a:ext cx="1535578" cy="29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75"/>
              </a:lnSpc>
              <a:spcBef>
                <a:spcPct val="0"/>
              </a:spcBef>
            </a:pPr>
            <a:r>
              <a:rPr lang="es-CL" sz="1699" b="1" u="none" strike="noStrike" noProof="0" dirty="0">
                <a:solidFill>
                  <a:srgbClr val="E96C28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17:20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796215" y="4249927"/>
            <a:ext cx="1535578" cy="2392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Actividades críticas realizadas antes del hecho.</a:t>
            </a:r>
          </a:p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Factores de entorno presentes (clima, orden, riesgos concurrentes).</a:t>
            </a:r>
          </a:p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Participación de trabajadores y supervisión en terreno.</a:t>
            </a:r>
          </a:p>
          <a:p>
            <a:pPr algn="ctr">
              <a:lnSpc>
                <a:spcPts val="1615"/>
              </a:lnSpc>
            </a:pPr>
            <a:endParaRPr lang="es-CL" sz="985" noProof="0" dirty="0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8095641" y="4855541"/>
            <a:ext cx="1535578" cy="179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Hora exacta de ocurrencia.</a:t>
            </a:r>
          </a:p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Descripción breve y objetiva de lo sucedido.</a:t>
            </a:r>
          </a:p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Controles críticos que fallaron o no estaban presentes.</a:t>
            </a:r>
          </a:p>
          <a:p>
            <a:pPr algn="ctr">
              <a:lnSpc>
                <a:spcPts val="1615"/>
              </a:lnSpc>
            </a:pPr>
            <a:endParaRPr lang="es-CL" sz="985" noProof="0" dirty="0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10395068" y="4418635"/>
            <a:ext cx="1535578" cy="1992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Primeras medidas adoptadas en el lugar.</a:t>
            </a:r>
          </a:p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Atención de personas involucradas.</a:t>
            </a:r>
          </a:p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Detención o continuidad de la tarea.</a:t>
            </a:r>
          </a:p>
          <a:p>
            <a:pPr algn="ctr">
              <a:lnSpc>
                <a:spcPts val="1615"/>
              </a:lnSpc>
            </a:pPr>
            <a:endParaRPr lang="es-CL" sz="985" noProof="0" dirty="0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12694494" y="4474613"/>
            <a:ext cx="1535578" cy="1992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Aviso a supervisores, emergencia o seguridad.</a:t>
            </a:r>
          </a:p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Activación de protocolos internos.</a:t>
            </a:r>
          </a:p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Coordinación con empresa contratista o área correspondiente.</a:t>
            </a:r>
          </a:p>
          <a:p>
            <a:pPr algn="ctr">
              <a:lnSpc>
                <a:spcPts val="1615"/>
              </a:lnSpc>
            </a:pPr>
            <a:endParaRPr lang="es-CL" sz="985" noProof="0" dirty="0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14944232" y="4551794"/>
            <a:ext cx="1535578" cy="1392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Aseguramiento del área.</a:t>
            </a:r>
          </a:p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Inicio de la investigación formal.</a:t>
            </a:r>
          </a:p>
          <a:p>
            <a:pPr marL="212663" lvl="1" indent="-106331" algn="ctr">
              <a:lnSpc>
                <a:spcPts val="1615"/>
              </a:lnSpc>
              <a:buFont typeface="Arial"/>
              <a:buChar char="•"/>
            </a:pPr>
            <a:r>
              <a:rPr lang="es-CL" sz="985" noProof="0" dirty="0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Reporte preliminar o informe flash.</a:t>
            </a:r>
          </a:p>
          <a:p>
            <a:pPr algn="ctr">
              <a:lnSpc>
                <a:spcPts val="1615"/>
              </a:lnSpc>
            </a:pPr>
            <a:endParaRPr lang="es-CL" sz="985" noProof="0" dirty="0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3795197" y="9388518"/>
            <a:ext cx="10697606" cy="676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* La línea de tiempo es referencial y puede ser modificada según las características de cada caso.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605348" y="635256"/>
            <a:ext cx="6725073" cy="56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WAI -WAD</a:t>
            </a:r>
          </a:p>
          <a:p>
            <a:pPr algn="l">
              <a:lnSpc>
                <a:spcPts val="2120"/>
              </a:lnSpc>
            </a:pPr>
            <a:endParaRPr lang="es-CL" sz="2000" b="1" noProof="0" dirty="0">
              <a:solidFill>
                <a:srgbClr val="FFFFFF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05348" y="323493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ORGANIZACIÓN DE DATOS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34058" y="2001442"/>
            <a:ext cx="16443885" cy="1988189"/>
            <a:chOff x="0" y="0"/>
            <a:chExt cx="4167700" cy="50390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67700" cy="503906"/>
            </a:xfrm>
            <a:custGeom>
              <a:avLst/>
              <a:gdLst/>
              <a:ahLst/>
              <a:cxnLst/>
              <a:rect l="l" t="t" r="r" b="b"/>
              <a:pathLst>
                <a:path w="4167700" h="503906">
                  <a:moveTo>
                    <a:pt x="3766" y="0"/>
                  </a:moveTo>
                  <a:lnTo>
                    <a:pt x="4163934" y="0"/>
                  </a:lnTo>
                  <a:cubicBezTo>
                    <a:pt x="4166014" y="0"/>
                    <a:pt x="4167700" y="1686"/>
                    <a:pt x="4167700" y="3766"/>
                  </a:cubicBezTo>
                  <a:lnTo>
                    <a:pt x="4167700" y="500140"/>
                  </a:lnTo>
                  <a:cubicBezTo>
                    <a:pt x="4167700" y="502220"/>
                    <a:pt x="4166014" y="503906"/>
                    <a:pt x="4163934" y="503906"/>
                  </a:cubicBezTo>
                  <a:lnTo>
                    <a:pt x="3766" y="503906"/>
                  </a:lnTo>
                  <a:cubicBezTo>
                    <a:pt x="1686" y="503906"/>
                    <a:pt x="0" y="502220"/>
                    <a:pt x="0" y="500140"/>
                  </a:cubicBezTo>
                  <a:lnTo>
                    <a:pt x="0" y="3766"/>
                  </a:lnTo>
                  <a:cubicBezTo>
                    <a:pt x="0" y="1686"/>
                    <a:pt x="1686" y="0"/>
                    <a:pt x="376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6A6A6"/>
              </a:solidFill>
              <a:prstDash val="sysDot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167700" cy="542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2"/>
                </a:lnSpc>
              </a:pPr>
              <a:endParaRPr lang="es-CL" noProof="0" dirty="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5969" y="1824899"/>
            <a:ext cx="3042806" cy="607135"/>
            <a:chOff x="0" y="0"/>
            <a:chExt cx="4057074" cy="8095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6111" cy="809513"/>
            </a:xfrm>
            <a:custGeom>
              <a:avLst/>
              <a:gdLst/>
              <a:ahLst/>
              <a:cxnLst/>
              <a:rect l="l" t="t" r="r" b="b"/>
              <a:pathLst>
                <a:path w="1286111" h="809513">
                  <a:moveTo>
                    <a:pt x="0" y="0"/>
                  </a:moveTo>
                  <a:lnTo>
                    <a:pt x="1286111" y="0"/>
                  </a:lnTo>
                  <a:lnTo>
                    <a:pt x="1286111" y="809513"/>
                  </a:lnTo>
                  <a:lnTo>
                    <a:pt x="0" y="809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85506" b="-234754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673785" y="0"/>
              <a:ext cx="3383290" cy="622839"/>
              <a:chOff x="0" y="0"/>
              <a:chExt cx="2207583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19970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199704" h="406400">
                    <a:moveTo>
                      <a:pt x="1985360" y="0"/>
                    </a:moveTo>
                    <a:lnTo>
                      <a:pt x="19023" y="0"/>
                    </a:lnTo>
                    <a:cubicBezTo>
                      <a:pt x="13978" y="0"/>
                      <a:pt x="9139" y="2004"/>
                      <a:pt x="5572" y="5572"/>
                    </a:cubicBezTo>
                    <a:cubicBezTo>
                      <a:pt x="2004" y="9139"/>
                      <a:pt x="0" y="13978"/>
                      <a:pt x="0" y="19023"/>
                    </a:cubicBezTo>
                    <a:lnTo>
                      <a:pt x="0" y="387377"/>
                    </a:lnTo>
                    <a:cubicBezTo>
                      <a:pt x="0" y="392422"/>
                      <a:pt x="2004" y="397261"/>
                      <a:pt x="5572" y="400828"/>
                    </a:cubicBezTo>
                    <a:cubicBezTo>
                      <a:pt x="9139" y="404396"/>
                      <a:pt x="13978" y="406400"/>
                      <a:pt x="19023" y="406400"/>
                    </a:cubicBezTo>
                    <a:lnTo>
                      <a:pt x="1985360" y="406400"/>
                    </a:lnTo>
                    <a:cubicBezTo>
                      <a:pt x="1997540" y="406400"/>
                      <a:pt x="2009222" y="401561"/>
                      <a:pt x="2017835" y="392949"/>
                    </a:cubicBezTo>
                    <a:lnTo>
                      <a:pt x="2194132" y="216651"/>
                    </a:lnTo>
                    <a:cubicBezTo>
                      <a:pt x="2197699" y="213084"/>
                      <a:pt x="2199704" y="208245"/>
                      <a:pt x="2199704" y="203200"/>
                    </a:cubicBezTo>
                    <a:cubicBezTo>
                      <a:pt x="2199704" y="198155"/>
                      <a:pt x="2197699" y="193316"/>
                      <a:pt x="2194132" y="189749"/>
                    </a:cubicBezTo>
                    <a:lnTo>
                      <a:pt x="2017835" y="13451"/>
                    </a:lnTo>
                    <a:cubicBezTo>
                      <a:pt x="2009222" y="4839"/>
                      <a:pt x="1997540" y="0"/>
                      <a:pt x="1985360" y="0"/>
                    </a:cubicBezTo>
                    <a:close/>
                  </a:path>
                </a:pathLst>
              </a:custGeom>
              <a:solidFill>
                <a:srgbClr val="0098AA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2093283" cy="425450"/>
              </a:xfrm>
              <a:prstGeom prst="rect">
                <a:avLst/>
              </a:prstGeom>
            </p:spPr>
            <p:txBody>
              <a:bodyPr lIns="25099" tIns="25099" rIns="25099" bIns="25099" rtlCol="0" anchor="ctr"/>
              <a:lstStyle/>
              <a:p>
                <a:pPr algn="ctr">
                  <a:lnSpc>
                    <a:spcPts val="2242"/>
                  </a:lnSpc>
                </a:pPr>
                <a:endParaRPr lang="es-CL" noProof="0" dirty="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815415" y="2362837"/>
            <a:ext cx="5683355" cy="2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5"/>
              </a:lnSpc>
            </a:pPr>
            <a:r>
              <a:rPr lang="es-CL" sz="1668" b="1" i="1" noProof="0" dirty="0">
                <a:solidFill>
                  <a:srgbClr val="0098AA"/>
                </a:solidFill>
                <a:latin typeface="Poppins 2 Bold Italics"/>
                <a:ea typeface="Poppins 2 Bold Italics"/>
                <a:cs typeface="Poppins 2 Bold Italics"/>
                <a:sym typeface="Poppins 2 Bold Italics"/>
              </a:rPr>
              <a:t>(Work as Imagined – Trabajo como se imaginó):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0481" y="1805849"/>
            <a:ext cx="2607721" cy="476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24"/>
              </a:lnSpc>
              <a:spcBef>
                <a:spcPct val="0"/>
              </a:spcBef>
            </a:pPr>
            <a:r>
              <a:rPr lang="es-CL" sz="3065" b="1" noProof="0" dirty="0">
                <a:solidFill>
                  <a:srgbClr val="FFFFFF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WAI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15415" y="4783613"/>
            <a:ext cx="16362529" cy="1988189"/>
            <a:chOff x="0" y="0"/>
            <a:chExt cx="4147081" cy="50390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147081" cy="503906"/>
            </a:xfrm>
            <a:custGeom>
              <a:avLst/>
              <a:gdLst/>
              <a:ahLst/>
              <a:cxnLst/>
              <a:rect l="l" t="t" r="r" b="b"/>
              <a:pathLst>
                <a:path w="4147081" h="503906">
                  <a:moveTo>
                    <a:pt x="3785" y="0"/>
                  </a:moveTo>
                  <a:lnTo>
                    <a:pt x="4143296" y="0"/>
                  </a:lnTo>
                  <a:cubicBezTo>
                    <a:pt x="4145386" y="0"/>
                    <a:pt x="4147081" y="1695"/>
                    <a:pt x="4147081" y="3785"/>
                  </a:cubicBezTo>
                  <a:lnTo>
                    <a:pt x="4147081" y="500121"/>
                  </a:lnTo>
                  <a:cubicBezTo>
                    <a:pt x="4147081" y="501125"/>
                    <a:pt x="4146682" y="502088"/>
                    <a:pt x="4145972" y="502798"/>
                  </a:cubicBezTo>
                  <a:cubicBezTo>
                    <a:pt x="4145262" y="503507"/>
                    <a:pt x="4144299" y="503906"/>
                    <a:pt x="4143296" y="503906"/>
                  </a:cubicBezTo>
                  <a:lnTo>
                    <a:pt x="3785" y="503906"/>
                  </a:lnTo>
                  <a:cubicBezTo>
                    <a:pt x="2781" y="503906"/>
                    <a:pt x="1819" y="503507"/>
                    <a:pt x="1109" y="502798"/>
                  </a:cubicBezTo>
                  <a:cubicBezTo>
                    <a:pt x="399" y="502088"/>
                    <a:pt x="0" y="501125"/>
                    <a:pt x="0" y="500121"/>
                  </a:cubicBezTo>
                  <a:lnTo>
                    <a:pt x="0" y="3785"/>
                  </a:lnTo>
                  <a:cubicBezTo>
                    <a:pt x="0" y="2781"/>
                    <a:pt x="399" y="1819"/>
                    <a:pt x="1109" y="1109"/>
                  </a:cubicBezTo>
                  <a:cubicBezTo>
                    <a:pt x="1819" y="399"/>
                    <a:pt x="2781" y="0"/>
                    <a:pt x="378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6A6A6"/>
              </a:solidFill>
              <a:prstDash val="sysDot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147081" cy="542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2"/>
                </a:lnSpc>
              </a:pPr>
              <a:endParaRPr lang="es-CL" noProof="0" dirty="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47325" y="4607070"/>
            <a:ext cx="3042806" cy="607135"/>
            <a:chOff x="0" y="0"/>
            <a:chExt cx="4057074" cy="80951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86111" cy="809513"/>
            </a:xfrm>
            <a:custGeom>
              <a:avLst/>
              <a:gdLst/>
              <a:ahLst/>
              <a:cxnLst/>
              <a:rect l="l" t="t" r="r" b="b"/>
              <a:pathLst>
                <a:path w="1286111" h="809513">
                  <a:moveTo>
                    <a:pt x="0" y="0"/>
                  </a:moveTo>
                  <a:lnTo>
                    <a:pt x="1286111" y="0"/>
                  </a:lnTo>
                  <a:lnTo>
                    <a:pt x="1286111" y="809513"/>
                  </a:lnTo>
                  <a:lnTo>
                    <a:pt x="0" y="809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85506" b="-234754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73785" y="0"/>
              <a:ext cx="3383290" cy="622839"/>
              <a:chOff x="0" y="0"/>
              <a:chExt cx="2207583" cy="4064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19970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199704" h="406400">
                    <a:moveTo>
                      <a:pt x="1985360" y="0"/>
                    </a:moveTo>
                    <a:lnTo>
                      <a:pt x="19023" y="0"/>
                    </a:lnTo>
                    <a:cubicBezTo>
                      <a:pt x="13978" y="0"/>
                      <a:pt x="9139" y="2004"/>
                      <a:pt x="5572" y="5572"/>
                    </a:cubicBezTo>
                    <a:cubicBezTo>
                      <a:pt x="2004" y="9139"/>
                      <a:pt x="0" y="13978"/>
                      <a:pt x="0" y="19023"/>
                    </a:cubicBezTo>
                    <a:lnTo>
                      <a:pt x="0" y="387377"/>
                    </a:lnTo>
                    <a:cubicBezTo>
                      <a:pt x="0" y="392422"/>
                      <a:pt x="2004" y="397261"/>
                      <a:pt x="5572" y="400828"/>
                    </a:cubicBezTo>
                    <a:cubicBezTo>
                      <a:pt x="9139" y="404396"/>
                      <a:pt x="13978" y="406400"/>
                      <a:pt x="19023" y="406400"/>
                    </a:cubicBezTo>
                    <a:lnTo>
                      <a:pt x="1985360" y="406400"/>
                    </a:lnTo>
                    <a:cubicBezTo>
                      <a:pt x="1997540" y="406400"/>
                      <a:pt x="2009222" y="401561"/>
                      <a:pt x="2017835" y="392949"/>
                    </a:cubicBezTo>
                    <a:lnTo>
                      <a:pt x="2194132" y="216651"/>
                    </a:lnTo>
                    <a:cubicBezTo>
                      <a:pt x="2197699" y="213084"/>
                      <a:pt x="2199704" y="208245"/>
                      <a:pt x="2199704" y="203200"/>
                    </a:cubicBezTo>
                    <a:cubicBezTo>
                      <a:pt x="2199704" y="198155"/>
                      <a:pt x="2197699" y="193316"/>
                      <a:pt x="2194132" y="189749"/>
                    </a:cubicBezTo>
                    <a:lnTo>
                      <a:pt x="2017835" y="13451"/>
                    </a:lnTo>
                    <a:cubicBezTo>
                      <a:pt x="2009222" y="4839"/>
                      <a:pt x="1997540" y="0"/>
                      <a:pt x="1985360" y="0"/>
                    </a:cubicBezTo>
                    <a:close/>
                  </a:path>
                </a:pathLst>
              </a:custGeom>
              <a:solidFill>
                <a:srgbClr val="F4A700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2093283" cy="425450"/>
              </a:xfrm>
              <a:prstGeom prst="rect">
                <a:avLst/>
              </a:prstGeom>
            </p:spPr>
            <p:txBody>
              <a:bodyPr lIns="25099" tIns="25099" rIns="25099" bIns="25099" rtlCol="0" anchor="ctr"/>
              <a:lstStyle/>
              <a:p>
                <a:pPr algn="ctr">
                  <a:lnSpc>
                    <a:spcPts val="2242"/>
                  </a:lnSpc>
                </a:pPr>
                <a:endParaRPr lang="es-CL" noProof="0" dirty="0"/>
              </a:p>
            </p:txBody>
          </p:sp>
        </p:grpSp>
      </p:grpSp>
      <p:sp>
        <p:nvSpPr>
          <p:cNvPr id="31" name="TextBox 31"/>
          <p:cNvSpPr txBox="1"/>
          <p:nvPr/>
        </p:nvSpPr>
        <p:spPr>
          <a:xfrm>
            <a:off x="591837" y="4588020"/>
            <a:ext cx="2607721" cy="476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24"/>
              </a:lnSpc>
              <a:spcBef>
                <a:spcPct val="0"/>
              </a:spcBef>
            </a:pPr>
            <a:r>
              <a:rPr lang="es-CL" sz="3065" b="1" noProof="0" dirty="0">
                <a:solidFill>
                  <a:srgbClr val="FFFFFF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WAD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878570" y="7738920"/>
            <a:ext cx="16299374" cy="1988189"/>
            <a:chOff x="0" y="0"/>
            <a:chExt cx="4131074" cy="50390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131074" cy="503906"/>
            </a:xfrm>
            <a:custGeom>
              <a:avLst/>
              <a:gdLst/>
              <a:ahLst/>
              <a:cxnLst/>
              <a:rect l="l" t="t" r="r" b="b"/>
              <a:pathLst>
                <a:path w="4131074" h="503906">
                  <a:moveTo>
                    <a:pt x="3800" y="0"/>
                  </a:moveTo>
                  <a:lnTo>
                    <a:pt x="4127274" y="0"/>
                  </a:lnTo>
                  <a:cubicBezTo>
                    <a:pt x="4129373" y="0"/>
                    <a:pt x="4131074" y="1701"/>
                    <a:pt x="4131074" y="3800"/>
                  </a:cubicBezTo>
                  <a:lnTo>
                    <a:pt x="4131074" y="500106"/>
                  </a:lnTo>
                  <a:cubicBezTo>
                    <a:pt x="4131074" y="502205"/>
                    <a:pt x="4129373" y="503906"/>
                    <a:pt x="4127274" y="503906"/>
                  </a:cubicBezTo>
                  <a:lnTo>
                    <a:pt x="3800" y="503906"/>
                  </a:lnTo>
                  <a:cubicBezTo>
                    <a:pt x="1701" y="503906"/>
                    <a:pt x="0" y="502205"/>
                    <a:pt x="0" y="500106"/>
                  </a:cubicBezTo>
                  <a:lnTo>
                    <a:pt x="0" y="3800"/>
                  </a:lnTo>
                  <a:cubicBezTo>
                    <a:pt x="0" y="1701"/>
                    <a:pt x="1701" y="0"/>
                    <a:pt x="3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6A6A6"/>
              </a:solidFill>
              <a:prstDash val="sysDot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131074" cy="542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2"/>
                </a:lnSpc>
              </a:pPr>
              <a:endParaRPr lang="es-CL" noProof="0" dirty="0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0481" y="7562377"/>
            <a:ext cx="3042806" cy="607135"/>
            <a:chOff x="0" y="0"/>
            <a:chExt cx="4057074" cy="80951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86111" cy="809513"/>
            </a:xfrm>
            <a:custGeom>
              <a:avLst/>
              <a:gdLst/>
              <a:ahLst/>
              <a:cxnLst/>
              <a:rect l="l" t="t" r="r" b="b"/>
              <a:pathLst>
                <a:path w="1286111" h="809513">
                  <a:moveTo>
                    <a:pt x="0" y="0"/>
                  </a:moveTo>
                  <a:lnTo>
                    <a:pt x="1286111" y="0"/>
                  </a:lnTo>
                  <a:lnTo>
                    <a:pt x="1286111" y="809513"/>
                  </a:lnTo>
                  <a:lnTo>
                    <a:pt x="0" y="809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85506" b="-234754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73785" y="0"/>
              <a:ext cx="3383290" cy="622839"/>
              <a:chOff x="0" y="0"/>
              <a:chExt cx="2207583" cy="4064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219970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199704" h="406400">
                    <a:moveTo>
                      <a:pt x="1985360" y="0"/>
                    </a:moveTo>
                    <a:lnTo>
                      <a:pt x="19023" y="0"/>
                    </a:lnTo>
                    <a:cubicBezTo>
                      <a:pt x="13978" y="0"/>
                      <a:pt x="9139" y="2004"/>
                      <a:pt x="5572" y="5572"/>
                    </a:cubicBezTo>
                    <a:cubicBezTo>
                      <a:pt x="2004" y="9139"/>
                      <a:pt x="0" y="13978"/>
                      <a:pt x="0" y="19023"/>
                    </a:cubicBezTo>
                    <a:lnTo>
                      <a:pt x="0" y="387377"/>
                    </a:lnTo>
                    <a:cubicBezTo>
                      <a:pt x="0" y="392422"/>
                      <a:pt x="2004" y="397261"/>
                      <a:pt x="5572" y="400828"/>
                    </a:cubicBezTo>
                    <a:cubicBezTo>
                      <a:pt x="9139" y="404396"/>
                      <a:pt x="13978" y="406400"/>
                      <a:pt x="19023" y="406400"/>
                    </a:cubicBezTo>
                    <a:lnTo>
                      <a:pt x="1985360" y="406400"/>
                    </a:lnTo>
                    <a:cubicBezTo>
                      <a:pt x="1997540" y="406400"/>
                      <a:pt x="2009222" y="401561"/>
                      <a:pt x="2017835" y="392949"/>
                    </a:cubicBezTo>
                    <a:lnTo>
                      <a:pt x="2194132" y="216651"/>
                    </a:lnTo>
                    <a:cubicBezTo>
                      <a:pt x="2197699" y="213084"/>
                      <a:pt x="2199704" y="208245"/>
                      <a:pt x="2199704" y="203200"/>
                    </a:cubicBezTo>
                    <a:cubicBezTo>
                      <a:pt x="2199704" y="198155"/>
                      <a:pt x="2197699" y="193316"/>
                      <a:pt x="2194132" y="189749"/>
                    </a:cubicBezTo>
                    <a:lnTo>
                      <a:pt x="2017835" y="13451"/>
                    </a:lnTo>
                    <a:cubicBezTo>
                      <a:pt x="2009222" y="4839"/>
                      <a:pt x="1997540" y="0"/>
                      <a:pt x="1985360" y="0"/>
                    </a:cubicBezTo>
                    <a:close/>
                  </a:path>
                </a:pathLst>
              </a:custGeom>
              <a:solidFill>
                <a:srgbClr val="E96C28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19050"/>
                <a:ext cx="2093283" cy="425450"/>
              </a:xfrm>
              <a:prstGeom prst="rect">
                <a:avLst/>
              </a:prstGeom>
            </p:spPr>
            <p:txBody>
              <a:bodyPr lIns="25099" tIns="25099" rIns="25099" bIns="25099" rtlCol="0" anchor="ctr"/>
              <a:lstStyle/>
              <a:p>
                <a:pPr algn="ctr">
                  <a:lnSpc>
                    <a:spcPts val="2242"/>
                  </a:lnSpc>
                </a:pPr>
                <a:endParaRPr lang="es-CL" noProof="0" dirty="0"/>
              </a:p>
            </p:txBody>
          </p:sp>
        </p:grpSp>
      </p:grpSp>
      <p:sp>
        <p:nvSpPr>
          <p:cNvPr id="40" name="TextBox 40"/>
          <p:cNvSpPr txBox="1"/>
          <p:nvPr/>
        </p:nvSpPr>
        <p:spPr>
          <a:xfrm>
            <a:off x="654992" y="7543327"/>
            <a:ext cx="2607721" cy="476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24"/>
              </a:lnSpc>
              <a:spcBef>
                <a:spcPct val="0"/>
              </a:spcBef>
            </a:pPr>
            <a:r>
              <a:rPr lang="es-CL" sz="3065" b="1" noProof="0" dirty="0">
                <a:solidFill>
                  <a:srgbClr val="FFFFFF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WAD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8570" y="2757212"/>
            <a:ext cx="7451850" cy="695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7082" lvl="1" indent="-158541" algn="l">
              <a:lnSpc>
                <a:spcPts val="1835"/>
              </a:lnSpc>
              <a:buFont typeface="Arial"/>
              <a:buChar char="•"/>
            </a:pPr>
            <a:r>
              <a:rPr lang="es-CL" sz="1468" b="1" i="1" noProof="0" dirty="0">
                <a:solidFill>
                  <a:srgbClr val="3B4652"/>
                </a:solidFill>
                <a:latin typeface="Poppins 2 Bold Italics"/>
                <a:ea typeface="Poppins 2 Bold Italics"/>
                <a:cs typeface="Poppins 2 Bold Italics"/>
                <a:sym typeface="Poppins 2 Bold Italics"/>
              </a:rPr>
              <a:t>Describir cómo estaba diseñado, planificado o instruido el trabajo.</a:t>
            </a:r>
          </a:p>
          <a:p>
            <a:pPr marL="317082" lvl="1" indent="-158541" algn="l">
              <a:lnSpc>
                <a:spcPts val="1835"/>
              </a:lnSpc>
              <a:buFont typeface="Arial"/>
              <a:buChar char="•"/>
            </a:pPr>
            <a:r>
              <a:rPr lang="es-CL" sz="1468" b="1" i="1" noProof="0" dirty="0">
                <a:solidFill>
                  <a:srgbClr val="3B4652"/>
                </a:solidFill>
                <a:latin typeface="Poppins 2 Bold Italics"/>
                <a:ea typeface="Poppins 2 Bold Italics"/>
                <a:cs typeface="Poppins 2 Bold Italics"/>
                <a:sym typeface="Poppins 2 Bold Italics"/>
              </a:rPr>
              <a:t>Referencias a procedimientos, instructivos, ART, capacitaciones.</a:t>
            </a:r>
          </a:p>
          <a:p>
            <a:pPr algn="l">
              <a:lnSpc>
                <a:spcPts val="1835"/>
              </a:lnSpc>
            </a:pPr>
            <a:endParaRPr lang="es-CL" sz="1468" b="1" i="1" noProof="0" dirty="0">
              <a:solidFill>
                <a:srgbClr val="3B4652"/>
              </a:solidFill>
              <a:latin typeface="Poppins 2 Bold Italics"/>
              <a:ea typeface="Poppins 2 Bold Italics"/>
              <a:cs typeface="Poppins 2 Bold Italics"/>
              <a:sym typeface="Poppins 2 Bold Italic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073420" y="5195155"/>
            <a:ext cx="5683355" cy="2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5"/>
              </a:lnSpc>
            </a:pPr>
            <a:r>
              <a:rPr lang="es-CL" sz="1668" b="1" i="1" noProof="0" dirty="0">
                <a:solidFill>
                  <a:srgbClr val="0098AA"/>
                </a:solidFill>
                <a:latin typeface="Poppins 2 Bold Italics"/>
                <a:ea typeface="Poppins 2 Bold Italics"/>
                <a:cs typeface="Poppins 2 Bold Italics"/>
                <a:sym typeface="Poppins 2 Bold Italics"/>
              </a:rPr>
              <a:t>(Work as Done – Trabajo como se hizo):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6576" y="5589530"/>
            <a:ext cx="7451850" cy="92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7082" lvl="1" indent="-158541" algn="l">
              <a:lnSpc>
                <a:spcPts val="1835"/>
              </a:lnSpc>
              <a:buFont typeface="Arial"/>
              <a:buChar char="•"/>
            </a:pPr>
            <a:r>
              <a:rPr lang="es-CL" sz="1468" b="1" i="1" noProof="0" dirty="0">
                <a:solidFill>
                  <a:srgbClr val="3B4652"/>
                </a:solidFill>
                <a:latin typeface="Poppins 2 Bold Italics"/>
                <a:ea typeface="Poppins 2 Bold Italics"/>
                <a:cs typeface="Poppins 2 Bold Italics"/>
                <a:sym typeface="Poppins 2 Bold Italics"/>
              </a:rPr>
              <a:t>Detallar cómo se realizó realmente la tarea en terreno.</a:t>
            </a:r>
          </a:p>
          <a:p>
            <a:pPr marL="317082" lvl="1" indent="-158541" algn="l">
              <a:lnSpc>
                <a:spcPts val="1835"/>
              </a:lnSpc>
              <a:buFont typeface="Arial"/>
              <a:buChar char="•"/>
            </a:pPr>
            <a:r>
              <a:rPr lang="es-CL" sz="1468" b="1" i="1" noProof="0" dirty="0">
                <a:solidFill>
                  <a:srgbClr val="3B4652"/>
                </a:solidFill>
                <a:latin typeface="Poppins 2 Bold Italics"/>
                <a:ea typeface="Poppins 2 Bold Italics"/>
                <a:cs typeface="Poppins 2 Bold Italics"/>
                <a:sym typeface="Poppins 2 Bold Italics"/>
              </a:rPr>
              <a:t>Identificar brechas con respecto al WAI (desvíos, improvisaciones, adaptaciones).</a:t>
            </a:r>
          </a:p>
          <a:p>
            <a:pPr algn="l">
              <a:lnSpc>
                <a:spcPts val="1835"/>
              </a:lnSpc>
            </a:pPr>
            <a:endParaRPr lang="es-CL" sz="1468" b="1" i="1" noProof="0" dirty="0">
              <a:solidFill>
                <a:srgbClr val="3B4652"/>
              </a:solidFill>
              <a:latin typeface="Poppins 2 Bold Italics"/>
              <a:ea typeface="Poppins 2 Bold Italics"/>
              <a:cs typeface="Poppins 2 Bold Italics"/>
              <a:sym typeface="Poppins 2 Bold Italic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136576" y="8178540"/>
            <a:ext cx="5683355" cy="2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5"/>
              </a:lnSpc>
            </a:pPr>
            <a:r>
              <a:rPr lang="es-CL" sz="1668" b="1" i="1" noProof="0" dirty="0">
                <a:solidFill>
                  <a:srgbClr val="0098AA"/>
                </a:solidFill>
                <a:latin typeface="Poppins 2 Bold Italics"/>
                <a:ea typeface="Poppins 2 Bold Italics"/>
                <a:cs typeface="Poppins 2 Bold Italics"/>
                <a:sym typeface="Poppins 2 Bold Italics"/>
              </a:rPr>
              <a:t>(Evento – ¿Qué sucedió?):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99731" y="8572915"/>
            <a:ext cx="7451850" cy="92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7082" lvl="1" indent="-158541" algn="l">
              <a:lnSpc>
                <a:spcPts val="1835"/>
              </a:lnSpc>
              <a:buFont typeface="Arial"/>
              <a:buChar char="•"/>
            </a:pPr>
            <a:r>
              <a:rPr lang="es-CL" sz="1468" b="1" i="1" noProof="0" dirty="0">
                <a:solidFill>
                  <a:srgbClr val="3B4652"/>
                </a:solidFill>
                <a:latin typeface="Poppins 2 Bold Italics"/>
                <a:ea typeface="Poppins 2 Bold Italics"/>
                <a:cs typeface="Poppins 2 Bold Italics"/>
                <a:sym typeface="Poppins 2 Bold Italics"/>
              </a:rPr>
              <a:t>Describir la acción o condición que derivó en el evento.</a:t>
            </a:r>
          </a:p>
          <a:p>
            <a:pPr marL="317082" lvl="1" indent="-158541" algn="l">
              <a:lnSpc>
                <a:spcPts val="1835"/>
              </a:lnSpc>
              <a:buFont typeface="Arial"/>
              <a:buChar char="•"/>
            </a:pPr>
            <a:r>
              <a:rPr lang="es-CL" sz="1468" b="1" i="1" noProof="0" dirty="0">
                <a:solidFill>
                  <a:srgbClr val="3B4652"/>
                </a:solidFill>
                <a:latin typeface="Poppins 2 Bold Italics"/>
                <a:ea typeface="Poppins 2 Bold Italics"/>
                <a:cs typeface="Poppins 2 Bold Italics"/>
                <a:sym typeface="Poppins 2 Bold Italics"/>
              </a:rPr>
              <a:t>Señalar directamente la discrepancia crítica entre lo planificado y lo ejecutado.</a:t>
            </a:r>
          </a:p>
          <a:p>
            <a:pPr algn="l">
              <a:lnSpc>
                <a:spcPts val="1835"/>
              </a:lnSpc>
            </a:pPr>
            <a:endParaRPr lang="es-CL" sz="1468" b="1" i="1" noProof="0" dirty="0">
              <a:solidFill>
                <a:srgbClr val="3B4652"/>
              </a:solidFill>
              <a:latin typeface="Poppins 2 Bold Italics"/>
              <a:ea typeface="Poppins 2 Bold Italics"/>
              <a:cs typeface="Poppins 2 Bold Italics"/>
              <a:sym typeface="Poppins 2 Bold Italics"/>
            </a:endParaRPr>
          </a:p>
        </p:txBody>
      </p:sp>
      <p:sp>
        <p:nvSpPr>
          <p:cNvPr id="46" name="Freeform 46"/>
          <p:cNvSpPr/>
          <p:nvPr/>
        </p:nvSpPr>
        <p:spPr>
          <a:xfrm>
            <a:off x="702854" y="270351"/>
            <a:ext cx="603295" cy="710805"/>
          </a:xfrm>
          <a:custGeom>
            <a:avLst/>
            <a:gdLst/>
            <a:ahLst/>
            <a:cxnLst/>
            <a:rect l="l" t="t" r="r" b="b"/>
            <a:pathLst>
              <a:path w="603295" h="710805">
                <a:moveTo>
                  <a:pt x="0" y="0"/>
                </a:moveTo>
                <a:lnTo>
                  <a:pt x="603295" y="0"/>
                </a:lnTo>
                <a:lnTo>
                  <a:pt x="603295" y="710804"/>
                </a:lnTo>
                <a:lnTo>
                  <a:pt x="0" y="7108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6000" y="-2524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-25249"/>
            <a:ext cx="8958189" cy="1232709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605348" y="635256"/>
            <a:ext cx="6725073" cy="56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WAI VS WAD</a:t>
            </a:r>
          </a:p>
          <a:p>
            <a:pPr algn="l">
              <a:lnSpc>
                <a:spcPts val="2120"/>
              </a:lnSpc>
            </a:pPr>
            <a:endParaRPr lang="es-CL" sz="2000" b="1" noProof="0" dirty="0">
              <a:solidFill>
                <a:srgbClr val="FFFFFF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05348" y="323493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ORGANIZACIÓN DE DATOS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sp>
        <p:nvSpPr>
          <p:cNvPr id="13" name="Freeform 13"/>
          <p:cNvSpPr/>
          <p:nvPr/>
        </p:nvSpPr>
        <p:spPr>
          <a:xfrm>
            <a:off x="702854" y="270351"/>
            <a:ext cx="603295" cy="710805"/>
          </a:xfrm>
          <a:custGeom>
            <a:avLst/>
            <a:gdLst/>
            <a:ahLst/>
            <a:cxnLst/>
            <a:rect l="l" t="t" r="r" b="b"/>
            <a:pathLst>
              <a:path w="603295" h="710805">
                <a:moveTo>
                  <a:pt x="0" y="0"/>
                </a:moveTo>
                <a:lnTo>
                  <a:pt x="603295" y="0"/>
                </a:lnTo>
                <a:lnTo>
                  <a:pt x="603295" y="710804"/>
                </a:lnTo>
                <a:lnTo>
                  <a:pt x="0" y="710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TextBox 19"/>
          <p:cNvSpPr txBox="1"/>
          <p:nvPr/>
        </p:nvSpPr>
        <p:spPr>
          <a:xfrm>
            <a:off x="2045429" y="1772531"/>
            <a:ext cx="1826807" cy="1060861"/>
          </a:xfrm>
          <a:prstGeom prst="rect">
            <a:avLst/>
          </a:prstGeom>
        </p:spPr>
        <p:txBody>
          <a:bodyPr lIns="43746" tIns="43746" rIns="43746" bIns="43746" rtlCol="0" anchor="ctr"/>
          <a:lstStyle/>
          <a:p>
            <a:pPr algn="ctr">
              <a:lnSpc>
                <a:spcPts val="2659"/>
              </a:lnSpc>
            </a:pPr>
            <a:endParaRPr lang="es-CL" noProof="0" dirty="0"/>
          </a:p>
        </p:txBody>
      </p:sp>
      <p:sp>
        <p:nvSpPr>
          <p:cNvPr id="37" name="TextBox 37"/>
          <p:cNvSpPr txBox="1"/>
          <p:nvPr/>
        </p:nvSpPr>
        <p:spPr>
          <a:xfrm>
            <a:off x="8718889" y="1953507"/>
            <a:ext cx="1826807" cy="698910"/>
          </a:xfrm>
          <a:prstGeom prst="rect">
            <a:avLst/>
          </a:prstGeom>
        </p:spPr>
        <p:txBody>
          <a:bodyPr lIns="43746" tIns="43746" rIns="43746" bIns="43746" rtlCol="0" anchor="ctr"/>
          <a:lstStyle/>
          <a:p>
            <a:pPr algn="ctr">
              <a:lnSpc>
                <a:spcPts val="2659"/>
              </a:lnSpc>
            </a:pPr>
            <a:endParaRPr lang="es-CL" noProof="0" dirty="0"/>
          </a:p>
        </p:txBody>
      </p:sp>
      <p:graphicFrame>
        <p:nvGraphicFramePr>
          <p:cNvPr id="51" name="Tabla 50">
            <a:extLst>
              <a:ext uri="{FF2B5EF4-FFF2-40B4-BE49-F238E27FC236}">
                <a16:creationId xmlns:a16="http://schemas.microsoft.com/office/drawing/2014/main" id="{2573E660-6B7B-C209-3F06-C6576E93A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77703"/>
              </p:ext>
            </p:extLst>
          </p:nvPr>
        </p:nvGraphicFramePr>
        <p:xfrm>
          <a:off x="447325" y="3398463"/>
          <a:ext cx="17204279" cy="6607906"/>
        </p:xfrm>
        <a:graphic>
          <a:graphicData uri="http://schemas.openxmlformats.org/drawingml/2006/table">
            <a:tbl>
              <a:tblPr/>
              <a:tblGrid>
                <a:gridCol w="1075267">
                  <a:extLst>
                    <a:ext uri="{9D8B030D-6E8A-4147-A177-3AD203B41FA5}">
                      <a16:colId xmlns:a16="http://schemas.microsoft.com/office/drawing/2014/main" val="792633935"/>
                    </a:ext>
                  </a:extLst>
                </a:gridCol>
                <a:gridCol w="2516008">
                  <a:extLst>
                    <a:ext uri="{9D8B030D-6E8A-4147-A177-3AD203B41FA5}">
                      <a16:colId xmlns:a16="http://schemas.microsoft.com/office/drawing/2014/main" val="1692006228"/>
                    </a:ext>
                  </a:extLst>
                </a:gridCol>
                <a:gridCol w="2860329">
                  <a:extLst>
                    <a:ext uri="{9D8B030D-6E8A-4147-A177-3AD203B41FA5}">
                      <a16:colId xmlns:a16="http://schemas.microsoft.com/office/drawing/2014/main" val="3138230329"/>
                    </a:ext>
                  </a:extLst>
                </a:gridCol>
                <a:gridCol w="2150535">
                  <a:extLst>
                    <a:ext uri="{9D8B030D-6E8A-4147-A177-3AD203B41FA5}">
                      <a16:colId xmlns:a16="http://schemas.microsoft.com/office/drawing/2014/main" val="3829492316"/>
                    </a:ext>
                  </a:extLst>
                </a:gridCol>
                <a:gridCol w="2150535">
                  <a:extLst>
                    <a:ext uri="{9D8B030D-6E8A-4147-A177-3AD203B41FA5}">
                      <a16:colId xmlns:a16="http://schemas.microsoft.com/office/drawing/2014/main" val="497814164"/>
                    </a:ext>
                  </a:extLst>
                </a:gridCol>
                <a:gridCol w="2150535">
                  <a:extLst>
                    <a:ext uri="{9D8B030D-6E8A-4147-A177-3AD203B41FA5}">
                      <a16:colId xmlns:a16="http://schemas.microsoft.com/office/drawing/2014/main" val="174643065"/>
                    </a:ext>
                  </a:extLst>
                </a:gridCol>
                <a:gridCol w="2150535">
                  <a:extLst>
                    <a:ext uri="{9D8B030D-6E8A-4147-A177-3AD203B41FA5}">
                      <a16:colId xmlns:a16="http://schemas.microsoft.com/office/drawing/2014/main" val="393078565"/>
                    </a:ext>
                  </a:extLst>
                </a:gridCol>
                <a:gridCol w="2150535">
                  <a:extLst>
                    <a:ext uri="{9D8B030D-6E8A-4147-A177-3AD203B41FA5}">
                      <a16:colId xmlns:a16="http://schemas.microsoft.com/office/drawing/2014/main" val="3083829945"/>
                    </a:ext>
                  </a:extLst>
                </a:gridCol>
              </a:tblGrid>
              <a:tr h="4814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WAI vs WAD</a:t>
                      </a: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Paso 1</a:t>
                      </a: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Paso 2</a:t>
                      </a: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Paso 3</a:t>
                      </a: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Paso 4</a:t>
                      </a: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Paso 5</a:t>
                      </a: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Evento TOP</a:t>
                      </a: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92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Paso 7</a:t>
                      </a: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936197"/>
                  </a:ext>
                </a:extLst>
              </a:tr>
              <a:tr h="173785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CL" sz="1400" b="1" i="0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WAI </a:t>
                      </a:r>
                      <a:endParaRPr lang="es-CL" sz="1400" b="1" dirty="0">
                        <a:solidFill>
                          <a:srgbClr val="EBEBEB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 rtl="0">
                        <a:buNone/>
                      </a:pPr>
                      <a:r>
                        <a:rPr lang="es-CL" sz="1400" b="1" i="0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teórico</a:t>
                      </a:r>
                      <a:endParaRPr lang="es-CL" sz="1400" b="1" dirty="0">
                        <a:solidFill>
                          <a:srgbClr val="EBEBEB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930740"/>
                  </a:ext>
                </a:extLst>
              </a:tr>
              <a:tr h="20903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CL" sz="1400" b="1" i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WAD</a:t>
                      </a:r>
                      <a:endParaRPr lang="es-CL" sz="1400" b="1">
                        <a:solidFill>
                          <a:srgbClr val="EBEBEB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 rtl="0">
                        <a:buNone/>
                      </a:pPr>
                      <a:r>
                        <a:rPr lang="es-CL" sz="1400" b="1" i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Normal</a:t>
                      </a:r>
                      <a:endParaRPr lang="es-CL" sz="1400" b="1">
                        <a:solidFill>
                          <a:srgbClr val="EBEBEB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991074"/>
                  </a:ext>
                </a:extLst>
              </a:tr>
              <a:tr h="228307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CL" sz="1400" b="1" i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WAD</a:t>
                      </a:r>
                      <a:endParaRPr lang="es-CL" sz="1400" b="1">
                        <a:solidFill>
                          <a:srgbClr val="EBEBEB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 rtl="0">
                        <a:buNone/>
                      </a:pPr>
                      <a:r>
                        <a:rPr lang="es-CL" sz="1400" b="1" i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del Incidente</a:t>
                      </a:r>
                      <a:endParaRPr lang="es-CL" sz="1400" b="1">
                        <a:solidFill>
                          <a:srgbClr val="EBEBEB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4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9879" marR="69879" marT="34939" marB="3493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970421"/>
                  </a:ext>
                </a:extLst>
              </a:tr>
            </a:tbl>
          </a:graphicData>
        </a:graphic>
      </p:graphicFrame>
      <p:sp>
        <p:nvSpPr>
          <p:cNvPr id="68" name="AutoShape 15">
            <a:extLst>
              <a:ext uri="{FF2B5EF4-FFF2-40B4-BE49-F238E27FC236}">
                <a16:creationId xmlns:a16="http://schemas.microsoft.com/office/drawing/2014/main" id="{AD4DBCFE-E2F0-233A-EB33-960227BCAA61}"/>
              </a:ext>
            </a:extLst>
          </p:cNvPr>
          <p:cNvSpPr/>
          <p:nvPr/>
        </p:nvSpPr>
        <p:spPr>
          <a:xfrm flipH="1">
            <a:off x="2748319" y="2358860"/>
            <a:ext cx="2984" cy="1019789"/>
          </a:xfrm>
          <a:prstGeom prst="line">
            <a:avLst/>
          </a:prstGeom>
          <a:ln w="38100" cap="flat">
            <a:solidFill>
              <a:srgbClr val="209EB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69" name="Group 16">
            <a:extLst>
              <a:ext uri="{FF2B5EF4-FFF2-40B4-BE49-F238E27FC236}">
                <a16:creationId xmlns:a16="http://schemas.microsoft.com/office/drawing/2014/main" id="{D1609689-32FD-255F-7D65-371FA1ED1897}"/>
              </a:ext>
            </a:extLst>
          </p:cNvPr>
          <p:cNvGrpSpPr/>
          <p:nvPr/>
        </p:nvGrpSpPr>
        <p:grpSpPr>
          <a:xfrm>
            <a:off x="1837900" y="1373018"/>
            <a:ext cx="1826807" cy="985841"/>
            <a:chOff x="0" y="0"/>
            <a:chExt cx="2435742" cy="1314455"/>
          </a:xfrm>
        </p:grpSpPr>
        <p:grpSp>
          <p:nvGrpSpPr>
            <p:cNvPr id="70" name="Group 17">
              <a:extLst>
                <a:ext uri="{FF2B5EF4-FFF2-40B4-BE49-F238E27FC236}">
                  <a16:creationId xmlns:a16="http://schemas.microsoft.com/office/drawing/2014/main" id="{785C2941-BEB9-66C8-00DE-C69D5784D9C6}"/>
                </a:ext>
              </a:extLst>
            </p:cNvPr>
            <p:cNvGrpSpPr/>
            <p:nvPr/>
          </p:nvGrpSpPr>
          <p:grpSpPr>
            <a:xfrm>
              <a:off x="0" y="0"/>
              <a:ext cx="2435742" cy="1314455"/>
              <a:chOff x="0" y="0"/>
              <a:chExt cx="927777" cy="500677"/>
            </a:xfrm>
          </p:grpSpPr>
          <p:sp>
            <p:nvSpPr>
              <p:cNvPr id="72" name="Freeform 18">
                <a:extLst>
                  <a:ext uri="{FF2B5EF4-FFF2-40B4-BE49-F238E27FC236}">
                    <a16:creationId xmlns:a16="http://schemas.microsoft.com/office/drawing/2014/main" id="{3F59CE4D-5AD3-7991-12F3-323DCB1B6B38}"/>
                  </a:ext>
                </a:extLst>
              </p:cNvPr>
              <p:cNvSpPr/>
              <p:nvPr/>
            </p:nvSpPr>
            <p:spPr>
              <a:xfrm>
                <a:off x="0" y="0"/>
                <a:ext cx="927777" cy="500677"/>
              </a:xfrm>
              <a:custGeom>
                <a:avLst/>
                <a:gdLst/>
                <a:ahLst/>
                <a:cxnLst/>
                <a:rect l="l" t="t" r="r" b="b"/>
                <a:pathLst>
                  <a:path w="927777" h="500677">
                    <a:moveTo>
                      <a:pt x="724577" y="0"/>
                    </a:moveTo>
                    <a:cubicBezTo>
                      <a:pt x="836801" y="0"/>
                      <a:pt x="927777" y="112080"/>
                      <a:pt x="927777" y="250339"/>
                    </a:cubicBezTo>
                    <a:cubicBezTo>
                      <a:pt x="927777" y="388597"/>
                      <a:pt x="836801" y="500677"/>
                      <a:pt x="724577" y="500677"/>
                    </a:cubicBezTo>
                    <a:lnTo>
                      <a:pt x="203200" y="500677"/>
                    </a:lnTo>
                    <a:cubicBezTo>
                      <a:pt x="90976" y="500677"/>
                      <a:pt x="0" y="388597"/>
                      <a:pt x="0" y="250339"/>
                    </a:cubicBezTo>
                    <a:cubicBezTo>
                      <a:pt x="0" y="11208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98A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73" name="TextBox 19">
                <a:extLst>
                  <a:ext uri="{FF2B5EF4-FFF2-40B4-BE49-F238E27FC236}">
                    <a16:creationId xmlns:a16="http://schemas.microsoft.com/office/drawing/2014/main" id="{19C0928F-503C-8469-45C2-2875940F3BB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27777" cy="538777"/>
              </a:xfrm>
              <a:prstGeom prst="rect">
                <a:avLst/>
              </a:prstGeom>
            </p:spPr>
            <p:txBody>
              <a:bodyPr lIns="43746" tIns="43746" rIns="43746" bIns="43746" rtlCol="0" anchor="ctr"/>
              <a:lstStyle/>
              <a:p>
                <a:pPr algn="ctr">
                  <a:lnSpc>
                    <a:spcPts val="2659"/>
                  </a:lnSpc>
                </a:pPr>
                <a:endParaRPr lang="es-CL" noProof="0" dirty="0"/>
              </a:p>
            </p:txBody>
          </p:sp>
        </p:grpSp>
        <p:sp>
          <p:nvSpPr>
            <p:cNvPr id="71" name="TextBox 20">
              <a:extLst>
                <a:ext uri="{FF2B5EF4-FFF2-40B4-BE49-F238E27FC236}">
                  <a16:creationId xmlns:a16="http://schemas.microsoft.com/office/drawing/2014/main" id="{2EF57132-0A03-1243-A613-22FE6B694C0F}"/>
                </a:ext>
              </a:extLst>
            </p:cNvPr>
            <p:cNvSpPr txBox="1"/>
            <p:nvPr/>
          </p:nvSpPr>
          <p:spPr>
            <a:xfrm>
              <a:off x="156939" y="290715"/>
              <a:ext cx="2121863" cy="723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65"/>
                </a:lnSpc>
              </a:pPr>
              <a:r>
                <a:rPr lang="es-CL" sz="1172" b="1" noProof="0" dirty="0">
                  <a:solidFill>
                    <a:srgbClr val="0098AA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Equipos, herramientas, personas</a:t>
              </a:r>
            </a:p>
          </p:txBody>
        </p:sp>
      </p:grpSp>
      <p:sp>
        <p:nvSpPr>
          <p:cNvPr id="74" name="AutoShape 21">
            <a:extLst>
              <a:ext uri="{FF2B5EF4-FFF2-40B4-BE49-F238E27FC236}">
                <a16:creationId xmlns:a16="http://schemas.microsoft.com/office/drawing/2014/main" id="{13A331B5-FD5D-AC8C-8391-6F8570324B36}"/>
              </a:ext>
            </a:extLst>
          </p:cNvPr>
          <p:cNvSpPr/>
          <p:nvPr/>
        </p:nvSpPr>
        <p:spPr>
          <a:xfrm>
            <a:off x="5522919" y="2304563"/>
            <a:ext cx="0" cy="1110276"/>
          </a:xfrm>
          <a:prstGeom prst="line">
            <a:avLst/>
          </a:prstGeom>
          <a:ln w="38100" cap="flat">
            <a:solidFill>
              <a:srgbClr val="209EB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75" name="Group 22">
            <a:extLst>
              <a:ext uri="{FF2B5EF4-FFF2-40B4-BE49-F238E27FC236}">
                <a16:creationId xmlns:a16="http://schemas.microsoft.com/office/drawing/2014/main" id="{EBE675EF-C78A-473B-5252-1EF9AB6C2066}"/>
              </a:ext>
            </a:extLst>
          </p:cNvPr>
          <p:cNvGrpSpPr/>
          <p:nvPr/>
        </p:nvGrpSpPr>
        <p:grpSpPr>
          <a:xfrm>
            <a:off x="4609516" y="1499697"/>
            <a:ext cx="1826807" cy="804866"/>
            <a:chOff x="0" y="0"/>
            <a:chExt cx="2435742" cy="1073155"/>
          </a:xfrm>
        </p:grpSpPr>
        <p:grpSp>
          <p:nvGrpSpPr>
            <p:cNvPr id="76" name="Group 23">
              <a:extLst>
                <a:ext uri="{FF2B5EF4-FFF2-40B4-BE49-F238E27FC236}">
                  <a16:creationId xmlns:a16="http://schemas.microsoft.com/office/drawing/2014/main" id="{DE97D692-0957-C0FC-A5D5-ADE8D9D9BF24}"/>
                </a:ext>
              </a:extLst>
            </p:cNvPr>
            <p:cNvGrpSpPr/>
            <p:nvPr/>
          </p:nvGrpSpPr>
          <p:grpSpPr>
            <a:xfrm>
              <a:off x="0" y="0"/>
              <a:ext cx="2435742" cy="1073155"/>
              <a:chOff x="0" y="0"/>
              <a:chExt cx="927777" cy="408766"/>
            </a:xfrm>
          </p:grpSpPr>
          <p:sp>
            <p:nvSpPr>
              <p:cNvPr id="78" name="Freeform 24">
                <a:extLst>
                  <a:ext uri="{FF2B5EF4-FFF2-40B4-BE49-F238E27FC236}">
                    <a16:creationId xmlns:a16="http://schemas.microsoft.com/office/drawing/2014/main" id="{26F74A31-8E4C-261A-F71C-740790979AA4}"/>
                  </a:ext>
                </a:extLst>
              </p:cNvPr>
              <p:cNvSpPr/>
              <p:nvPr/>
            </p:nvSpPr>
            <p:spPr>
              <a:xfrm>
                <a:off x="0" y="0"/>
                <a:ext cx="927777" cy="408766"/>
              </a:xfrm>
              <a:custGeom>
                <a:avLst/>
                <a:gdLst/>
                <a:ahLst/>
                <a:cxnLst/>
                <a:rect l="l" t="t" r="r" b="b"/>
                <a:pathLst>
                  <a:path w="927777" h="408766">
                    <a:moveTo>
                      <a:pt x="724577" y="0"/>
                    </a:moveTo>
                    <a:cubicBezTo>
                      <a:pt x="836801" y="0"/>
                      <a:pt x="927777" y="91505"/>
                      <a:pt x="927777" y="204383"/>
                    </a:cubicBezTo>
                    <a:cubicBezTo>
                      <a:pt x="927777" y="317261"/>
                      <a:pt x="836801" y="408766"/>
                      <a:pt x="724577" y="408766"/>
                    </a:cubicBezTo>
                    <a:lnTo>
                      <a:pt x="203200" y="408766"/>
                    </a:lnTo>
                    <a:cubicBezTo>
                      <a:pt x="90976" y="408766"/>
                      <a:pt x="0" y="317261"/>
                      <a:pt x="0" y="204383"/>
                    </a:cubicBezTo>
                    <a:cubicBezTo>
                      <a:pt x="0" y="9150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98A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79" name="TextBox 25">
                <a:extLst>
                  <a:ext uri="{FF2B5EF4-FFF2-40B4-BE49-F238E27FC236}">
                    <a16:creationId xmlns:a16="http://schemas.microsoft.com/office/drawing/2014/main" id="{5FC7D56F-C26A-6E1B-5B81-FFBED499150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27777" cy="446866"/>
              </a:xfrm>
              <a:prstGeom prst="rect">
                <a:avLst/>
              </a:prstGeom>
            </p:spPr>
            <p:txBody>
              <a:bodyPr lIns="43746" tIns="43746" rIns="43746" bIns="43746" rtlCol="0" anchor="ctr"/>
              <a:lstStyle/>
              <a:p>
                <a:pPr algn="ctr">
                  <a:lnSpc>
                    <a:spcPts val="2659"/>
                  </a:lnSpc>
                </a:pPr>
                <a:endParaRPr lang="es-CL" noProof="0" dirty="0"/>
              </a:p>
            </p:txBody>
          </p:sp>
        </p:grpSp>
        <p:sp>
          <p:nvSpPr>
            <p:cNvPr id="77" name="TextBox 26">
              <a:extLst>
                <a:ext uri="{FF2B5EF4-FFF2-40B4-BE49-F238E27FC236}">
                  <a16:creationId xmlns:a16="http://schemas.microsoft.com/office/drawing/2014/main" id="{CB031135-8AB6-3FE7-B8CB-B873FF58193D}"/>
                </a:ext>
              </a:extLst>
            </p:cNvPr>
            <p:cNvSpPr txBox="1"/>
            <p:nvPr/>
          </p:nvSpPr>
          <p:spPr>
            <a:xfrm>
              <a:off x="156939" y="290715"/>
              <a:ext cx="2121863" cy="482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65"/>
                </a:lnSpc>
              </a:pPr>
              <a:r>
                <a:rPr lang="es-CL" sz="1172" b="1" noProof="0" dirty="0">
                  <a:solidFill>
                    <a:srgbClr val="0098AA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Permisos de ingreso al área</a:t>
              </a:r>
            </a:p>
          </p:txBody>
        </p:sp>
      </p:grpSp>
      <p:sp>
        <p:nvSpPr>
          <p:cNvPr id="80" name="AutoShape 27">
            <a:extLst>
              <a:ext uri="{FF2B5EF4-FFF2-40B4-BE49-F238E27FC236}">
                <a16:creationId xmlns:a16="http://schemas.microsoft.com/office/drawing/2014/main" id="{8228B4A9-E46D-C9B8-E9CA-E5A359D632CC}"/>
              </a:ext>
            </a:extLst>
          </p:cNvPr>
          <p:cNvSpPr/>
          <p:nvPr/>
        </p:nvSpPr>
        <p:spPr>
          <a:xfrm>
            <a:off x="7848600" y="2197699"/>
            <a:ext cx="0" cy="1200764"/>
          </a:xfrm>
          <a:prstGeom prst="line">
            <a:avLst/>
          </a:prstGeom>
          <a:ln w="38100" cap="flat">
            <a:solidFill>
              <a:srgbClr val="209EB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81" name="Group 28">
            <a:extLst>
              <a:ext uri="{FF2B5EF4-FFF2-40B4-BE49-F238E27FC236}">
                <a16:creationId xmlns:a16="http://schemas.microsoft.com/office/drawing/2014/main" id="{13CE8546-CB35-EEFF-23D0-D0AF5812DD29}"/>
              </a:ext>
            </a:extLst>
          </p:cNvPr>
          <p:cNvGrpSpPr/>
          <p:nvPr/>
        </p:nvGrpSpPr>
        <p:grpSpPr>
          <a:xfrm>
            <a:off x="6958227" y="1603038"/>
            <a:ext cx="1826807" cy="623891"/>
            <a:chOff x="0" y="0"/>
            <a:chExt cx="2435742" cy="831855"/>
          </a:xfrm>
        </p:grpSpPr>
        <p:grpSp>
          <p:nvGrpSpPr>
            <p:cNvPr id="82" name="Group 29">
              <a:extLst>
                <a:ext uri="{FF2B5EF4-FFF2-40B4-BE49-F238E27FC236}">
                  <a16:creationId xmlns:a16="http://schemas.microsoft.com/office/drawing/2014/main" id="{1BC9231D-1375-241A-F883-906439DAAF9D}"/>
                </a:ext>
              </a:extLst>
            </p:cNvPr>
            <p:cNvGrpSpPr/>
            <p:nvPr/>
          </p:nvGrpSpPr>
          <p:grpSpPr>
            <a:xfrm>
              <a:off x="0" y="0"/>
              <a:ext cx="2435742" cy="831855"/>
              <a:chOff x="0" y="0"/>
              <a:chExt cx="927777" cy="316855"/>
            </a:xfrm>
          </p:grpSpPr>
          <p:sp>
            <p:nvSpPr>
              <p:cNvPr id="84" name="Freeform 30">
                <a:extLst>
                  <a:ext uri="{FF2B5EF4-FFF2-40B4-BE49-F238E27FC236}">
                    <a16:creationId xmlns:a16="http://schemas.microsoft.com/office/drawing/2014/main" id="{861D0DC7-9E8C-A965-A22F-8DC963776139}"/>
                  </a:ext>
                </a:extLst>
              </p:cNvPr>
              <p:cNvSpPr/>
              <p:nvPr/>
            </p:nvSpPr>
            <p:spPr>
              <a:xfrm>
                <a:off x="0" y="0"/>
                <a:ext cx="927777" cy="316855"/>
              </a:xfrm>
              <a:custGeom>
                <a:avLst/>
                <a:gdLst/>
                <a:ahLst/>
                <a:cxnLst/>
                <a:rect l="l" t="t" r="r" b="b"/>
                <a:pathLst>
                  <a:path w="927777" h="316855">
                    <a:moveTo>
                      <a:pt x="724577" y="0"/>
                    </a:moveTo>
                    <a:cubicBezTo>
                      <a:pt x="836801" y="0"/>
                      <a:pt x="927777" y="70930"/>
                      <a:pt x="927777" y="158427"/>
                    </a:cubicBezTo>
                    <a:cubicBezTo>
                      <a:pt x="927777" y="245924"/>
                      <a:pt x="836801" y="316855"/>
                      <a:pt x="724577" y="316855"/>
                    </a:cubicBezTo>
                    <a:lnTo>
                      <a:pt x="203200" y="316855"/>
                    </a:lnTo>
                    <a:cubicBezTo>
                      <a:pt x="90976" y="316855"/>
                      <a:pt x="0" y="245924"/>
                      <a:pt x="0" y="158427"/>
                    </a:cubicBezTo>
                    <a:cubicBezTo>
                      <a:pt x="0" y="7093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98A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85" name="TextBox 31">
                <a:extLst>
                  <a:ext uri="{FF2B5EF4-FFF2-40B4-BE49-F238E27FC236}">
                    <a16:creationId xmlns:a16="http://schemas.microsoft.com/office/drawing/2014/main" id="{0C67E57F-D51D-9DBA-3525-31092B6ED4F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27777" cy="354955"/>
              </a:xfrm>
              <a:prstGeom prst="rect">
                <a:avLst/>
              </a:prstGeom>
            </p:spPr>
            <p:txBody>
              <a:bodyPr lIns="43746" tIns="43746" rIns="43746" bIns="43746" rtlCol="0" anchor="ctr"/>
              <a:lstStyle/>
              <a:p>
                <a:pPr algn="ctr">
                  <a:lnSpc>
                    <a:spcPts val="2659"/>
                  </a:lnSpc>
                </a:pPr>
                <a:endParaRPr lang="es-CL" noProof="0" dirty="0"/>
              </a:p>
            </p:txBody>
          </p:sp>
        </p:grpSp>
        <p:sp>
          <p:nvSpPr>
            <p:cNvPr id="83" name="TextBox 32">
              <a:extLst>
                <a:ext uri="{FF2B5EF4-FFF2-40B4-BE49-F238E27FC236}">
                  <a16:creationId xmlns:a16="http://schemas.microsoft.com/office/drawing/2014/main" id="{5B4C762D-07CA-DB1F-02F7-641263330530}"/>
                </a:ext>
              </a:extLst>
            </p:cNvPr>
            <p:cNvSpPr txBox="1"/>
            <p:nvPr/>
          </p:nvSpPr>
          <p:spPr>
            <a:xfrm>
              <a:off x="156939" y="290715"/>
              <a:ext cx="2121863" cy="240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65"/>
                </a:lnSpc>
              </a:pPr>
              <a:r>
                <a:rPr lang="es-CL" sz="1172" b="1" noProof="0" dirty="0">
                  <a:solidFill>
                    <a:srgbClr val="0098AA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ART</a:t>
              </a:r>
            </a:p>
          </p:txBody>
        </p:sp>
      </p:grpSp>
      <p:sp>
        <p:nvSpPr>
          <p:cNvPr id="86" name="AutoShape 33">
            <a:extLst>
              <a:ext uri="{FF2B5EF4-FFF2-40B4-BE49-F238E27FC236}">
                <a16:creationId xmlns:a16="http://schemas.microsoft.com/office/drawing/2014/main" id="{B8F2E6B1-8102-AFB8-6EA5-B26CD2FD5402}"/>
              </a:ext>
            </a:extLst>
          </p:cNvPr>
          <p:cNvSpPr/>
          <p:nvPr/>
        </p:nvSpPr>
        <p:spPr>
          <a:xfrm>
            <a:off x="9996656" y="2202223"/>
            <a:ext cx="0" cy="1200764"/>
          </a:xfrm>
          <a:prstGeom prst="line">
            <a:avLst/>
          </a:prstGeom>
          <a:ln w="38100" cap="flat">
            <a:solidFill>
              <a:srgbClr val="209EB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87" name="Group 34">
            <a:extLst>
              <a:ext uri="{FF2B5EF4-FFF2-40B4-BE49-F238E27FC236}">
                <a16:creationId xmlns:a16="http://schemas.microsoft.com/office/drawing/2014/main" id="{6E108BA1-5C8B-AA50-B5E0-A3C24E8462AB}"/>
              </a:ext>
            </a:extLst>
          </p:cNvPr>
          <p:cNvGrpSpPr/>
          <p:nvPr/>
        </p:nvGrpSpPr>
        <p:grpSpPr>
          <a:xfrm>
            <a:off x="9083253" y="1578331"/>
            <a:ext cx="1826807" cy="623891"/>
            <a:chOff x="0" y="0"/>
            <a:chExt cx="2435742" cy="831855"/>
          </a:xfrm>
        </p:grpSpPr>
        <p:grpSp>
          <p:nvGrpSpPr>
            <p:cNvPr id="88" name="Group 35">
              <a:extLst>
                <a:ext uri="{FF2B5EF4-FFF2-40B4-BE49-F238E27FC236}">
                  <a16:creationId xmlns:a16="http://schemas.microsoft.com/office/drawing/2014/main" id="{5FE23B76-5AC0-367F-A669-6FCEADD365FA}"/>
                </a:ext>
              </a:extLst>
            </p:cNvPr>
            <p:cNvGrpSpPr/>
            <p:nvPr/>
          </p:nvGrpSpPr>
          <p:grpSpPr>
            <a:xfrm>
              <a:off x="0" y="0"/>
              <a:ext cx="2435742" cy="831855"/>
              <a:chOff x="0" y="0"/>
              <a:chExt cx="927777" cy="316855"/>
            </a:xfrm>
          </p:grpSpPr>
          <p:sp>
            <p:nvSpPr>
              <p:cNvPr id="90" name="Freeform 36">
                <a:extLst>
                  <a:ext uri="{FF2B5EF4-FFF2-40B4-BE49-F238E27FC236}">
                    <a16:creationId xmlns:a16="http://schemas.microsoft.com/office/drawing/2014/main" id="{1E7D5F14-B2F6-166B-BF1C-5B39B80386B2}"/>
                  </a:ext>
                </a:extLst>
              </p:cNvPr>
              <p:cNvSpPr/>
              <p:nvPr/>
            </p:nvSpPr>
            <p:spPr>
              <a:xfrm>
                <a:off x="0" y="0"/>
                <a:ext cx="927777" cy="316855"/>
              </a:xfrm>
              <a:custGeom>
                <a:avLst/>
                <a:gdLst/>
                <a:ahLst/>
                <a:cxnLst/>
                <a:rect l="l" t="t" r="r" b="b"/>
                <a:pathLst>
                  <a:path w="927777" h="316855">
                    <a:moveTo>
                      <a:pt x="724577" y="0"/>
                    </a:moveTo>
                    <a:cubicBezTo>
                      <a:pt x="836801" y="0"/>
                      <a:pt x="927777" y="70930"/>
                      <a:pt x="927777" y="158427"/>
                    </a:cubicBezTo>
                    <a:cubicBezTo>
                      <a:pt x="927777" y="245924"/>
                      <a:pt x="836801" y="316855"/>
                      <a:pt x="724577" y="316855"/>
                    </a:cubicBezTo>
                    <a:lnTo>
                      <a:pt x="203200" y="316855"/>
                    </a:lnTo>
                    <a:cubicBezTo>
                      <a:pt x="90976" y="316855"/>
                      <a:pt x="0" y="245924"/>
                      <a:pt x="0" y="158427"/>
                    </a:cubicBezTo>
                    <a:cubicBezTo>
                      <a:pt x="0" y="7093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98A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91" name="TextBox 37">
                <a:extLst>
                  <a:ext uri="{FF2B5EF4-FFF2-40B4-BE49-F238E27FC236}">
                    <a16:creationId xmlns:a16="http://schemas.microsoft.com/office/drawing/2014/main" id="{302A0F38-E167-ABAD-6F33-1B3853026DC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27777" cy="354955"/>
              </a:xfrm>
              <a:prstGeom prst="rect">
                <a:avLst/>
              </a:prstGeom>
            </p:spPr>
            <p:txBody>
              <a:bodyPr lIns="43746" tIns="43746" rIns="43746" bIns="43746" rtlCol="0" anchor="ctr"/>
              <a:lstStyle/>
              <a:p>
                <a:pPr algn="ctr">
                  <a:lnSpc>
                    <a:spcPts val="2659"/>
                  </a:lnSpc>
                </a:pPr>
                <a:endParaRPr lang="es-CL" noProof="0" dirty="0"/>
              </a:p>
            </p:txBody>
          </p:sp>
        </p:grpSp>
        <p:sp>
          <p:nvSpPr>
            <p:cNvPr id="89" name="TextBox 38">
              <a:extLst>
                <a:ext uri="{FF2B5EF4-FFF2-40B4-BE49-F238E27FC236}">
                  <a16:creationId xmlns:a16="http://schemas.microsoft.com/office/drawing/2014/main" id="{5904654A-2A24-DD3D-1263-CB00BB5CA6AF}"/>
                </a:ext>
              </a:extLst>
            </p:cNvPr>
            <p:cNvSpPr txBox="1"/>
            <p:nvPr/>
          </p:nvSpPr>
          <p:spPr>
            <a:xfrm>
              <a:off x="156939" y="290715"/>
              <a:ext cx="2121863" cy="240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65"/>
                </a:lnSpc>
              </a:pPr>
              <a:r>
                <a:rPr lang="es-CL" sz="1172" b="1" noProof="0" dirty="0">
                  <a:solidFill>
                    <a:srgbClr val="0098AA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CC Preventivo</a:t>
              </a:r>
            </a:p>
          </p:txBody>
        </p:sp>
      </p:grpSp>
      <p:sp>
        <p:nvSpPr>
          <p:cNvPr id="92" name="AutoShape 39">
            <a:extLst>
              <a:ext uri="{FF2B5EF4-FFF2-40B4-BE49-F238E27FC236}">
                <a16:creationId xmlns:a16="http://schemas.microsoft.com/office/drawing/2014/main" id="{D87CBC97-A440-A7B9-E05D-1A981A7A9FB8}"/>
              </a:ext>
            </a:extLst>
          </p:cNvPr>
          <p:cNvSpPr/>
          <p:nvPr/>
        </p:nvSpPr>
        <p:spPr>
          <a:xfrm flipH="1">
            <a:off x="12220382" y="2178706"/>
            <a:ext cx="0" cy="1200764"/>
          </a:xfrm>
          <a:prstGeom prst="line">
            <a:avLst/>
          </a:prstGeom>
          <a:ln w="38100" cap="flat">
            <a:solidFill>
              <a:srgbClr val="209EB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93" name="Group 40">
            <a:extLst>
              <a:ext uri="{FF2B5EF4-FFF2-40B4-BE49-F238E27FC236}">
                <a16:creationId xmlns:a16="http://schemas.microsoft.com/office/drawing/2014/main" id="{EA3847E1-4750-B1BD-375F-2D468836DEBA}"/>
              </a:ext>
            </a:extLst>
          </p:cNvPr>
          <p:cNvGrpSpPr/>
          <p:nvPr/>
        </p:nvGrpSpPr>
        <p:grpSpPr>
          <a:xfrm>
            <a:off x="11306979" y="1554814"/>
            <a:ext cx="1826807" cy="623891"/>
            <a:chOff x="0" y="0"/>
            <a:chExt cx="2435742" cy="831855"/>
          </a:xfrm>
        </p:grpSpPr>
        <p:grpSp>
          <p:nvGrpSpPr>
            <p:cNvPr id="94" name="Group 41">
              <a:extLst>
                <a:ext uri="{FF2B5EF4-FFF2-40B4-BE49-F238E27FC236}">
                  <a16:creationId xmlns:a16="http://schemas.microsoft.com/office/drawing/2014/main" id="{50983FFD-4E67-34E8-A53E-E8D55BBAC297}"/>
                </a:ext>
              </a:extLst>
            </p:cNvPr>
            <p:cNvGrpSpPr/>
            <p:nvPr/>
          </p:nvGrpSpPr>
          <p:grpSpPr>
            <a:xfrm>
              <a:off x="0" y="0"/>
              <a:ext cx="2435742" cy="831855"/>
              <a:chOff x="0" y="0"/>
              <a:chExt cx="927777" cy="316855"/>
            </a:xfrm>
          </p:grpSpPr>
          <p:sp>
            <p:nvSpPr>
              <p:cNvPr id="96" name="Freeform 42">
                <a:extLst>
                  <a:ext uri="{FF2B5EF4-FFF2-40B4-BE49-F238E27FC236}">
                    <a16:creationId xmlns:a16="http://schemas.microsoft.com/office/drawing/2014/main" id="{EC3D2A49-B274-FD0E-68FB-9AB8BFD00D3D}"/>
                  </a:ext>
                </a:extLst>
              </p:cNvPr>
              <p:cNvSpPr/>
              <p:nvPr/>
            </p:nvSpPr>
            <p:spPr>
              <a:xfrm>
                <a:off x="0" y="0"/>
                <a:ext cx="927777" cy="316855"/>
              </a:xfrm>
              <a:custGeom>
                <a:avLst/>
                <a:gdLst/>
                <a:ahLst/>
                <a:cxnLst/>
                <a:rect l="l" t="t" r="r" b="b"/>
                <a:pathLst>
                  <a:path w="927777" h="316855">
                    <a:moveTo>
                      <a:pt x="724577" y="0"/>
                    </a:moveTo>
                    <a:cubicBezTo>
                      <a:pt x="836801" y="0"/>
                      <a:pt x="927777" y="70930"/>
                      <a:pt x="927777" y="158427"/>
                    </a:cubicBezTo>
                    <a:cubicBezTo>
                      <a:pt x="927777" y="245924"/>
                      <a:pt x="836801" y="316855"/>
                      <a:pt x="724577" y="316855"/>
                    </a:cubicBezTo>
                    <a:lnTo>
                      <a:pt x="203200" y="316855"/>
                    </a:lnTo>
                    <a:cubicBezTo>
                      <a:pt x="90976" y="316855"/>
                      <a:pt x="0" y="245924"/>
                      <a:pt x="0" y="158427"/>
                    </a:cubicBezTo>
                    <a:cubicBezTo>
                      <a:pt x="0" y="7093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98A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97" name="TextBox 43">
                <a:extLst>
                  <a:ext uri="{FF2B5EF4-FFF2-40B4-BE49-F238E27FC236}">
                    <a16:creationId xmlns:a16="http://schemas.microsoft.com/office/drawing/2014/main" id="{8282A400-3232-DB98-E573-DEEDCE261E8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27777" cy="354955"/>
              </a:xfrm>
              <a:prstGeom prst="rect">
                <a:avLst/>
              </a:prstGeom>
            </p:spPr>
            <p:txBody>
              <a:bodyPr lIns="43746" tIns="43746" rIns="43746" bIns="43746" rtlCol="0" anchor="ctr"/>
              <a:lstStyle/>
              <a:p>
                <a:pPr algn="ctr">
                  <a:lnSpc>
                    <a:spcPts val="2659"/>
                  </a:lnSpc>
                </a:pPr>
                <a:endParaRPr lang="es-CL" noProof="0" dirty="0"/>
              </a:p>
            </p:txBody>
          </p:sp>
        </p:grpSp>
        <p:sp>
          <p:nvSpPr>
            <p:cNvPr id="95" name="TextBox 44">
              <a:extLst>
                <a:ext uri="{FF2B5EF4-FFF2-40B4-BE49-F238E27FC236}">
                  <a16:creationId xmlns:a16="http://schemas.microsoft.com/office/drawing/2014/main" id="{67243D81-B802-60C8-38AF-6D15DE9DD320}"/>
                </a:ext>
              </a:extLst>
            </p:cNvPr>
            <p:cNvSpPr txBox="1"/>
            <p:nvPr/>
          </p:nvSpPr>
          <p:spPr>
            <a:xfrm>
              <a:off x="156939" y="290715"/>
              <a:ext cx="2121863" cy="240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65"/>
                </a:lnSpc>
              </a:pPr>
              <a:r>
                <a:rPr lang="es-CL" sz="1172" b="1" noProof="0" dirty="0">
                  <a:solidFill>
                    <a:srgbClr val="0098AA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CC Preventivo</a:t>
              </a:r>
            </a:p>
          </p:txBody>
        </p:sp>
      </p:grpSp>
      <p:sp>
        <p:nvSpPr>
          <p:cNvPr id="98" name="AutoShape 45">
            <a:extLst>
              <a:ext uri="{FF2B5EF4-FFF2-40B4-BE49-F238E27FC236}">
                <a16:creationId xmlns:a16="http://schemas.microsoft.com/office/drawing/2014/main" id="{2C209E2B-FAAE-DD0F-0AC6-19698F67C3BD}"/>
              </a:ext>
            </a:extLst>
          </p:cNvPr>
          <p:cNvSpPr/>
          <p:nvPr/>
        </p:nvSpPr>
        <p:spPr>
          <a:xfrm flipH="1">
            <a:off x="16644833" y="2202222"/>
            <a:ext cx="0" cy="1200764"/>
          </a:xfrm>
          <a:prstGeom prst="line">
            <a:avLst/>
          </a:prstGeom>
          <a:ln w="38100" cap="flat">
            <a:solidFill>
              <a:srgbClr val="209EB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99" name="Group 46">
            <a:extLst>
              <a:ext uri="{FF2B5EF4-FFF2-40B4-BE49-F238E27FC236}">
                <a16:creationId xmlns:a16="http://schemas.microsoft.com/office/drawing/2014/main" id="{D0651163-9870-519F-EC66-074C983A23DF}"/>
              </a:ext>
            </a:extLst>
          </p:cNvPr>
          <p:cNvGrpSpPr/>
          <p:nvPr/>
        </p:nvGrpSpPr>
        <p:grpSpPr>
          <a:xfrm>
            <a:off x="15731430" y="1578330"/>
            <a:ext cx="1826807" cy="623891"/>
            <a:chOff x="0" y="0"/>
            <a:chExt cx="2435742" cy="831855"/>
          </a:xfrm>
        </p:grpSpPr>
        <p:grpSp>
          <p:nvGrpSpPr>
            <p:cNvPr id="100" name="Group 47">
              <a:extLst>
                <a:ext uri="{FF2B5EF4-FFF2-40B4-BE49-F238E27FC236}">
                  <a16:creationId xmlns:a16="http://schemas.microsoft.com/office/drawing/2014/main" id="{21847D6F-B727-CB91-932A-55E660AC5981}"/>
                </a:ext>
              </a:extLst>
            </p:cNvPr>
            <p:cNvGrpSpPr/>
            <p:nvPr/>
          </p:nvGrpSpPr>
          <p:grpSpPr>
            <a:xfrm>
              <a:off x="0" y="0"/>
              <a:ext cx="2435742" cy="831855"/>
              <a:chOff x="0" y="0"/>
              <a:chExt cx="927777" cy="316855"/>
            </a:xfrm>
          </p:grpSpPr>
          <p:sp>
            <p:nvSpPr>
              <p:cNvPr id="102" name="Freeform 48">
                <a:extLst>
                  <a:ext uri="{FF2B5EF4-FFF2-40B4-BE49-F238E27FC236}">
                    <a16:creationId xmlns:a16="http://schemas.microsoft.com/office/drawing/2014/main" id="{B2F8B891-EC10-3191-4543-06F1D5C4956E}"/>
                  </a:ext>
                </a:extLst>
              </p:cNvPr>
              <p:cNvSpPr/>
              <p:nvPr/>
            </p:nvSpPr>
            <p:spPr>
              <a:xfrm>
                <a:off x="0" y="0"/>
                <a:ext cx="927777" cy="316855"/>
              </a:xfrm>
              <a:custGeom>
                <a:avLst/>
                <a:gdLst/>
                <a:ahLst/>
                <a:cxnLst/>
                <a:rect l="l" t="t" r="r" b="b"/>
                <a:pathLst>
                  <a:path w="927777" h="316855">
                    <a:moveTo>
                      <a:pt x="724577" y="0"/>
                    </a:moveTo>
                    <a:cubicBezTo>
                      <a:pt x="836801" y="0"/>
                      <a:pt x="927777" y="70930"/>
                      <a:pt x="927777" y="158427"/>
                    </a:cubicBezTo>
                    <a:cubicBezTo>
                      <a:pt x="927777" y="245924"/>
                      <a:pt x="836801" y="316855"/>
                      <a:pt x="724577" y="316855"/>
                    </a:cubicBezTo>
                    <a:lnTo>
                      <a:pt x="203200" y="316855"/>
                    </a:lnTo>
                    <a:cubicBezTo>
                      <a:pt x="90976" y="316855"/>
                      <a:pt x="0" y="245924"/>
                      <a:pt x="0" y="158427"/>
                    </a:cubicBezTo>
                    <a:cubicBezTo>
                      <a:pt x="0" y="7093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98A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03" name="TextBox 49">
                <a:extLst>
                  <a:ext uri="{FF2B5EF4-FFF2-40B4-BE49-F238E27FC236}">
                    <a16:creationId xmlns:a16="http://schemas.microsoft.com/office/drawing/2014/main" id="{FEE099CB-CFFF-3977-EE59-488BFD6F438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27777" cy="354955"/>
              </a:xfrm>
              <a:prstGeom prst="rect">
                <a:avLst/>
              </a:prstGeom>
            </p:spPr>
            <p:txBody>
              <a:bodyPr lIns="43746" tIns="43746" rIns="43746" bIns="43746" rtlCol="0" anchor="ctr"/>
              <a:lstStyle/>
              <a:p>
                <a:pPr algn="ctr">
                  <a:lnSpc>
                    <a:spcPts val="2659"/>
                  </a:lnSpc>
                </a:pPr>
                <a:endParaRPr lang="es-CL" noProof="0" dirty="0"/>
              </a:p>
            </p:txBody>
          </p:sp>
        </p:grpSp>
        <p:sp>
          <p:nvSpPr>
            <p:cNvPr id="101" name="TextBox 50">
              <a:extLst>
                <a:ext uri="{FF2B5EF4-FFF2-40B4-BE49-F238E27FC236}">
                  <a16:creationId xmlns:a16="http://schemas.microsoft.com/office/drawing/2014/main" id="{5A8B5C79-1B70-EF42-0C89-939893637333}"/>
                </a:ext>
              </a:extLst>
            </p:cNvPr>
            <p:cNvSpPr txBox="1"/>
            <p:nvPr/>
          </p:nvSpPr>
          <p:spPr>
            <a:xfrm>
              <a:off x="156939" y="290715"/>
              <a:ext cx="2121863" cy="240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65"/>
                </a:lnSpc>
              </a:pPr>
              <a:r>
                <a:rPr lang="es-CL" sz="1172" b="1" noProof="0" dirty="0">
                  <a:solidFill>
                    <a:srgbClr val="0098AA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CC Mitigador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237355" y="0"/>
            <a:ext cx="8829538" cy="10324610"/>
            <a:chOff x="0" y="0"/>
            <a:chExt cx="2325475" cy="27192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25475" cy="2719239"/>
            </a:xfrm>
            <a:custGeom>
              <a:avLst/>
              <a:gdLst/>
              <a:ahLst/>
              <a:cxnLst/>
              <a:rect l="l" t="t" r="r" b="b"/>
              <a:pathLst>
                <a:path w="2325475" h="2719239">
                  <a:moveTo>
                    <a:pt x="0" y="0"/>
                  </a:moveTo>
                  <a:lnTo>
                    <a:pt x="2325475" y="0"/>
                  </a:lnTo>
                  <a:lnTo>
                    <a:pt x="2325475" y="2719239"/>
                  </a:lnTo>
                  <a:lnTo>
                    <a:pt x="0" y="2719239"/>
                  </a:lnTo>
                  <a:close/>
                </a:path>
              </a:pathLst>
            </a:custGeom>
            <a:solidFill>
              <a:srgbClr val="737373">
                <a:alpha val="43922"/>
              </a:srgbClr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325475" cy="2747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4"/>
                </a:lnSpc>
              </a:pPr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3510783" y="4623265"/>
            <a:ext cx="13382481" cy="173983"/>
          </a:xfrm>
          <a:custGeom>
            <a:avLst/>
            <a:gdLst/>
            <a:ahLst/>
            <a:cxnLst/>
            <a:rect l="l" t="t" r="r" b="b"/>
            <a:pathLst>
              <a:path w="13382481" h="173983">
                <a:moveTo>
                  <a:pt x="0" y="0"/>
                </a:moveTo>
                <a:lnTo>
                  <a:pt x="13382481" y="0"/>
                </a:lnTo>
                <a:lnTo>
                  <a:pt x="13382481" y="173982"/>
                </a:lnTo>
                <a:lnTo>
                  <a:pt x="0" y="173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60677" b="-158463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853683" y="825909"/>
            <a:ext cx="2473721" cy="1452172"/>
          </a:xfrm>
          <a:custGeom>
            <a:avLst/>
            <a:gdLst/>
            <a:ahLst/>
            <a:cxnLst/>
            <a:rect l="l" t="t" r="r" b="b"/>
            <a:pathLst>
              <a:path w="2473721" h="1452172">
                <a:moveTo>
                  <a:pt x="0" y="0"/>
                </a:moveTo>
                <a:lnTo>
                  <a:pt x="2473720" y="0"/>
                </a:lnTo>
                <a:lnTo>
                  <a:pt x="2473720" y="1452172"/>
                </a:lnTo>
                <a:lnTo>
                  <a:pt x="0" y="1452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3857270" y="825909"/>
            <a:ext cx="1707984" cy="1592695"/>
          </a:xfrm>
          <a:custGeom>
            <a:avLst/>
            <a:gdLst/>
            <a:ahLst/>
            <a:cxnLst/>
            <a:rect l="l" t="t" r="r" b="b"/>
            <a:pathLst>
              <a:path w="1707984" h="1592695">
                <a:moveTo>
                  <a:pt x="0" y="0"/>
                </a:moveTo>
                <a:lnTo>
                  <a:pt x="1707985" y="0"/>
                </a:lnTo>
                <a:lnTo>
                  <a:pt x="1707985" y="1592695"/>
                </a:lnTo>
                <a:lnTo>
                  <a:pt x="0" y="1592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3516137" y="1030415"/>
            <a:ext cx="0" cy="1221272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AutoShape 10"/>
          <p:cNvSpPr/>
          <p:nvPr/>
        </p:nvSpPr>
        <p:spPr>
          <a:xfrm flipH="1">
            <a:off x="11630603" y="8009242"/>
            <a:ext cx="1536" cy="474889"/>
          </a:xfrm>
          <a:prstGeom prst="line">
            <a:avLst/>
          </a:prstGeom>
          <a:ln w="66675" cap="rnd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1" name="Group 11"/>
          <p:cNvGrpSpPr/>
          <p:nvPr/>
        </p:nvGrpSpPr>
        <p:grpSpPr>
          <a:xfrm>
            <a:off x="13484029" y="1816903"/>
            <a:ext cx="1522016" cy="1260965"/>
            <a:chOff x="0" y="0"/>
            <a:chExt cx="2029354" cy="1681287"/>
          </a:xfrm>
        </p:grpSpPr>
        <p:grpSp>
          <p:nvGrpSpPr>
            <p:cNvPr id="12" name="Group 12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1300481" y="1804599"/>
            <a:ext cx="484780" cy="164601"/>
            <a:chOff x="0" y="0"/>
            <a:chExt cx="219260" cy="74447"/>
          </a:xfrm>
        </p:grpSpPr>
        <p:sp>
          <p:nvSpPr>
            <p:cNvPr id="19" name="Freeform 19"/>
            <p:cNvSpPr/>
            <p:nvPr/>
          </p:nvSpPr>
          <p:spPr>
            <a:xfrm>
              <a:off x="44159" y="14753"/>
              <a:ext cx="130942" cy="59693"/>
            </a:xfrm>
            <a:custGeom>
              <a:avLst/>
              <a:gdLst/>
              <a:ahLst/>
              <a:cxnLst/>
              <a:rect l="l" t="t" r="r" b="b"/>
              <a:pathLst>
                <a:path w="130942" h="59693">
                  <a:moveTo>
                    <a:pt x="120286" y="22470"/>
                  </a:moveTo>
                  <a:lnTo>
                    <a:pt x="120286" y="22470"/>
                  </a:lnTo>
                  <a:cubicBezTo>
                    <a:pt x="127685" y="27495"/>
                    <a:pt x="130942" y="36760"/>
                    <a:pt x="128313" y="45309"/>
                  </a:cubicBezTo>
                  <a:cubicBezTo>
                    <a:pt x="125685" y="53859"/>
                    <a:pt x="117786" y="59694"/>
                    <a:pt x="108842" y="59694"/>
                  </a:cubicBezTo>
                  <a:lnTo>
                    <a:pt x="22100" y="59694"/>
                  </a:lnTo>
                  <a:cubicBezTo>
                    <a:pt x="13155" y="59694"/>
                    <a:pt x="5257" y="53859"/>
                    <a:pt x="2629" y="45309"/>
                  </a:cubicBezTo>
                  <a:cubicBezTo>
                    <a:pt x="0" y="36760"/>
                    <a:pt x="3256" y="27495"/>
                    <a:pt x="10656" y="22470"/>
                  </a:cubicBezTo>
                  <a:lnTo>
                    <a:pt x="10656" y="22470"/>
                  </a:lnTo>
                  <a:cubicBezTo>
                    <a:pt x="43745" y="0"/>
                    <a:pt x="87197" y="0"/>
                    <a:pt x="120286" y="2247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259" y="5990"/>
              <a:ext cx="150741" cy="63140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34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839906" y="1925732"/>
            <a:ext cx="1471222" cy="1139832"/>
            <a:chOff x="0" y="0"/>
            <a:chExt cx="711694" cy="5513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1694" cy="551386"/>
            </a:xfrm>
            <a:custGeom>
              <a:avLst/>
              <a:gdLst/>
              <a:ahLst/>
              <a:cxnLst/>
              <a:rect l="l" t="t" r="r" b="b"/>
              <a:pathLst>
                <a:path w="711694" h="551386">
                  <a:moveTo>
                    <a:pt x="0" y="0"/>
                  </a:moveTo>
                  <a:lnTo>
                    <a:pt x="711694" y="0"/>
                  </a:lnTo>
                  <a:lnTo>
                    <a:pt x="711694" y="551386"/>
                  </a:lnTo>
                  <a:lnTo>
                    <a:pt x="0" y="551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711694" cy="579961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34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807" y="1804599"/>
            <a:ext cx="1522016" cy="1260965"/>
            <a:chOff x="0" y="0"/>
            <a:chExt cx="2029354" cy="1681287"/>
          </a:xfrm>
        </p:grpSpPr>
        <p:grpSp>
          <p:nvGrpSpPr>
            <p:cNvPr id="25" name="Group 25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16192807" y="5158716"/>
            <a:ext cx="1522016" cy="1260965"/>
            <a:chOff x="0" y="0"/>
            <a:chExt cx="2029354" cy="1681287"/>
          </a:xfrm>
        </p:grpSpPr>
        <p:grpSp>
          <p:nvGrpSpPr>
            <p:cNvPr id="32" name="Group 32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0839906" y="5151530"/>
            <a:ext cx="1522016" cy="1260965"/>
            <a:chOff x="0" y="0"/>
            <a:chExt cx="2029354" cy="1681287"/>
          </a:xfrm>
        </p:grpSpPr>
        <p:grpSp>
          <p:nvGrpSpPr>
            <p:cNvPr id="39" name="Group 39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13497213" y="5151530"/>
            <a:ext cx="1522016" cy="1260965"/>
            <a:chOff x="0" y="0"/>
            <a:chExt cx="2029354" cy="1681287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C4BA98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357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C4BA9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357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10871131" y="8578834"/>
            <a:ext cx="1534035" cy="1139832"/>
            <a:chOff x="0" y="0"/>
            <a:chExt cx="742079" cy="55138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42079" cy="551386"/>
            </a:xfrm>
            <a:custGeom>
              <a:avLst/>
              <a:gdLst/>
              <a:ahLst/>
              <a:cxnLst/>
              <a:rect l="l" t="t" r="r" b="b"/>
              <a:pathLst>
                <a:path w="742079" h="551386">
                  <a:moveTo>
                    <a:pt x="0" y="0"/>
                  </a:moveTo>
                  <a:lnTo>
                    <a:pt x="742079" y="0"/>
                  </a:lnTo>
                  <a:lnTo>
                    <a:pt x="742079" y="551386"/>
                  </a:lnTo>
                  <a:lnTo>
                    <a:pt x="0" y="551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742079" cy="579961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50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388855" y="8457701"/>
            <a:ext cx="483136" cy="164601"/>
            <a:chOff x="0" y="0"/>
            <a:chExt cx="218516" cy="74447"/>
          </a:xfrm>
        </p:grpSpPr>
        <p:sp>
          <p:nvSpPr>
            <p:cNvPr id="56" name="Freeform 56"/>
            <p:cNvSpPr/>
            <p:nvPr/>
          </p:nvSpPr>
          <p:spPr>
            <a:xfrm>
              <a:off x="43994" y="14767"/>
              <a:ext cx="130528" cy="59680"/>
            </a:xfrm>
            <a:custGeom>
              <a:avLst/>
              <a:gdLst/>
              <a:ahLst/>
              <a:cxnLst/>
              <a:rect l="l" t="t" r="r" b="b"/>
              <a:pathLst>
                <a:path w="130528" h="59680">
                  <a:moveTo>
                    <a:pt x="119893" y="22456"/>
                  </a:moveTo>
                  <a:lnTo>
                    <a:pt x="119893" y="22456"/>
                  </a:lnTo>
                  <a:cubicBezTo>
                    <a:pt x="127284" y="27492"/>
                    <a:pt x="130528" y="36758"/>
                    <a:pt x="127893" y="45304"/>
                  </a:cubicBezTo>
                  <a:cubicBezTo>
                    <a:pt x="125258" y="53850"/>
                    <a:pt x="117360" y="59680"/>
                    <a:pt x="108417" y="59680"/>
                  </a:cubicBezTo>
                  <a:lnTo>
                    <a:pt x="22111" y="59680"/>
                  </a:lnTo>
                  <a:cubicBezTo>
                    <a:pt x="13168" y="59680"/>
                    <a:pt x="5270" y="53850"/>
                    <a:pt x="2635" y="45304"/>
                  </a:cubicBezTo>
                  <a:cubicBezTo>
                    <a:pt x="0" y="36758"/>
                    <a:pt x="3245" y="27492"/>
                    <a:pt x="10635" y="22456"/>
                  </a:cubicBezTo>
                  <a:lnTo>
                    <a:pt x="10635" y="22456"/>
                  </a:lnTo>
                  <a:cubicBezTo>
                    <a:pt x="43593" y="0"/>
                    <a:pt x="86936" y="0"/>
                    <a:pt x="119893" y="22456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143" y="5990"/>
              <a:ext cx="150230" cy="63140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50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170193" y="4838409"/>
            <a:ext cx="176057" cy="177782"/>
            <a:chOff x="0" y="0"/>
            <a:chExt cx="274676" cy="27736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C4BA98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2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544111" y="8144580"/>
            <a:ext cx="176057" cy="177782"/>
            <a:chOff x="0" y="0"/>
            <a:chExt cx="274676" cy="27736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6865786" y="4845595"/>
            <a:ext cx="176057" cy="177782"/>
            <a:chOff x="0" y="0"/>
            <a:chExt cx="274676" cy="27736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512885" y="4838409"/>
            <a:ext cx="176057" cy="177782"/>
            <a:chOff x="0" y="0"/>
            <a:chExt cx="274676" cy="277367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6865786" y="1491478"/>
            <a:ext cx="176057" cy="177782"/>
            <a:chOff x="0" y="0"/>
            <a:chExt cx="274676" cy="277367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157008" y="1503569"/>
            <a:ext cx="176057" cy="177782"/>
            <a:chOff x="0" y="0"/>
            <a:chExt cx="274676" cy="277367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462092" y="1491478"/>
            <a:ext cx="176057" cy="177782"/>
            <a:chOff x="0" y="0"/>
            <a:chExt cx="274676" cy="277367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156217" y="568334"/>
            <a:ext cx="787806" cy="787806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3851134" y="580638"/>
            <a:ext cx="787806" cy="787806"/>
            <a:chOff x="0" y="0"/>
            <a:chExt cx="812800" cy="812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3864318" y="3915265"/>
            <a:ext cx="787806" cy="787806"/>
            <a:chOff x="0" y="0"/>
            <a:chExt cx="812800" cy="812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BA98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2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1238236" y="7221436"/>
            <a:ext cx="787806" cy="787806"/>
            <a:chOff x="0" y="0"/>
            <a:chExt cx="812800" cy="8128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6559912" y="3922451"/>
            <a:ext cx="787806" cy="787806"/>
            <a:chOff x="0" y="0"/>
            <a:chExt cx="812800" cy="8128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1207011" y="3915265"/>
            <a:ext cx="787806" cy="787806"/>
            <a:chOff x="0" y="0"/>
            <a:chExt cx="812800" cy="8128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6559912" y="568334"/>
            <a:ext cx="787806" cy="787806"/>
            <a:chOff x="0" y="0"/>
            <a:chExt cx="812800" cy="8128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100" name="Freeform 100"/>
          <p:cNvSpPr/>
          <p:nvPr/>
        </p:nvSpPr>
        <p:spPr>
          <a:xfrm>
            <a:off x="12723246" y="777833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1" name="Freeform 101"/>
          <p:cNvSpPr/>
          <p:nvPr/>
        </p:nvSpPr>
        <p:spPr>
          <a:xfrm>
            <a:off x="15418362" y="790060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2" name="Freeform 102"/>
          <p:cNvSpPr/>
          <p:nvPr/>
        </p:nvSpPr>
        <p:spPr>
          <a:xfrm rot="-10800000">
            <a:off x="15431686" y="4162537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3" name="Freeform 103"/>
          <p:cNvSpPr/>
          <p:nvPr/>
        </p:nvSpPr>
        <p:spPr>
          <a:xfrm rot="-10800000">
            <a:off x="12736231" y="4150310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5" y="0"/>
                </a:lnTo>
                <a:lnTo>
                  <a:pt x="348665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4" name="Freeform 104"/>
          <p:cNvSpPr/>
          <p:nvPr/>
        </p:nvSpPr>
        <p:spPr>
          <a:xfrm rot="5400000">
            <a:off x="11456091" y="6620258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5" name="Freeform 105"/>
          <p:cNvSpPr/>
          <p:nvPr/>
        </p:nvSpPr>
        <p:spPr>
          <a:xfrm rot="5400000">
            <a:off x="16779482" y="3297299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5" y="0"/>
                </a:lnTo>
                <a:lnTo>
                  <a:pt x="348665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6" name="TextBox 106"/>
          <p:cNvSpPr txBox="1"/>
          <p:nvPr/>
        </p:nvSpPr>
        <p:spPr>
          <a:xfrm>
            <a:off x="811217" y="4539259"/>
            <a:ext cx="7317043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0"/>
              </a:lnSpc>
            </a:pPr>
            <a:r>
              <a:rPr lang="es-CL" sz="5000" b="1" noProof="0" dirty="0">
                <a:solidFill>
                  <a:srgbClr val="36424A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PASO 5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20691" y="9945023"/>
            <a:ext cx="5344563" cy="23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63"/>
              </a:lnSpc>
            </a:pPr>
            <a:r>
              <a:rPr lang="es-CL" sz="1444" noProof="0" dirty="0">
                <a:solidFill>
                  <a:srgbClr val="737373"/>
                </a:solidFill>
                <a:latin typeface="Poppins 1"/>
                <a:ea typeface="Poppins 1"/>
                <a:cs typeface="Poppins 1"/>
                <a:sym typeface="Poppins 1"/>
              </a:rPr>
              <a:t>2025 CODELCO CHILE. TODOS LOS DERECHOS RESERVADOS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962704" y="5342068"/>
            <a:ext cx="7497117" cy="3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8"/>
              </a:lnSpc>
            </a:pPr>
            <a:r>
              <a:rPr lang="es-CL" sz="2800" noProof="0" dirty="0">
                <a:solidFill>
                  <a:srgbClr val="36424A"/>
                </a:solidFill>
                <a:latin typeface="Montserrat 1"/>
                <a:ea typeface="Montserrat 1"/>
                <a:cs typeface="Montserrat 1"/>
                <a:sym typeface="Montserrat 1"/>
              </a:rPr>
              <a:t>Análisis Causal (ICAM)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4466861" y="8211567"/>
            <a:ext cx="3287149" cy="112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s-CL" sz="3995" b="1" noProof="0" dirty="0">
                <a:solidFill>
                  <a:srgbClr val="E9662D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PASOS</a:t>
            </a:r>
          </a:p>
          <a:p>
            <a:pPr algn="l">
              <a:lnSpc>
                <a:spcPts val="2393"/>
              </a:lnSpc>
            </a:pPr>
            <a:r>
              <a:rPr lang="es-CL" sz="2393" noProof="0" dirty="0">
                <a:solidFill>
                  <a:srgbClr val="E9662D"/>
                </a:solidFill>
                <a:latin typeface="Poppins 1"/>
                <a:ea typeface="Poppins 1"/>
                <a:cs typeface="Poppins 1"/>
                <a:sym typeface="Poppins 1"/>
              </a:rPr>
              <a:t>DE LA INVESTIGACIÓN</a:t>
            </a:r>
          </a:p>
          <a:p>
            <a:pPr algn="l">
              <a:lnSpc>
                <a:spcPts val="2393"/>
              </a:lnSpc>
            </a:pPr>
            <a:r>
              <a:rPr lang="es-CL" sz="2393" noProof="0" dirty="0">
                <a:solidFill>
                  <a:srgbClr val="E9662D"/>
                </a:solidFill>
                <a:latin typeface="Poppins 1"/>
                <a:ea typeface="Poppins 1"/>
                <a:cs typeface="Poppins 1"/>
                <a:sym typeface="Poppins 1"/>
              </a:rPr>
              <a:t>ICAM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839906" y="2249079"/>
            <a:ext cx="1471222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Inmediatas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3472010" y="2132346"/>
            <a:ext cx="1534035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Planificación</a:t>
            </a:r>
          </a:p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de la Investigación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6352144" y="2249079"/>
            <a:ext cx="1227295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Recolección de Datos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1300481" y="639680"/>
            <a:ext cx="470895" cy="65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1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4004790" y="651984"/>
            <a:ext cx="470895" cy="65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2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6730343" y="639835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3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6703971" y="3993952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4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4003579" y="3986767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5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1358515" y="3986767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6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1401096" y="7292938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7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6266495" y="5603196"/>
            <a:ext cx="1406902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Organización de Datos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3704898" y="5580091"/>
            <a:ext cx="1068258" cy="594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6"/>
              </a:lnSpc>
              <a:spcBef>
                <a:spcPct val="0"/>
              </a:spcBef>
            </a:pPr>
            <a:r>
              <a:rPr lang="es-CL" sz="1208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Análisis Causal (ICAM)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915205" y="5466973"/>
            <a:ext cx="1396045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preventivas y correctivas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913398" y="8773144"/>
            <a:ext cx="1438850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Informe de investigación</a:t>
            </a:r>
          </a:p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y aprendizaje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3431377" y="7584746"/>
            <a:ext cx="1723445" cy="209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52"/>
              </a:lnSpc>
            </a:pPr>
            <a:r>
              <a:rPr lang="es-CL" sz="15752" noProof="0" dirty="0">
                <a:solidFill>
                  <a:srgbClr val="E9662D"/>
                </a:solidFill>
                <a:latin typeface="Anton"/>
                <a:ea typeface="Anton"/>
                <a:cs typeface="Anton"/>
                <a:sym typeface="Anton"/>
              </a:rPr>
              <a:t>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663773" y="289379"/>
            <a:ext cx="710805" cy="710805"/>
          </a:xfrm>
          <a:custGeom>
            <a:avLst/>
            <a:gdLst/>
            <a:ahLst/>
            <a:cxnLst/>
            <a:rect l="l" t="t" r="r" b="b"/>
            <a:pathLst>
              <a:path w="710805" h="710805">
                <a:moveTo>
                  <a:pt x="0" y="0"/>
                </a:moveTo>
                <a:lnTo>
                  <a:pt x="710804" y="0"/>
                </a:lnTo>
                <a:lnTo>
                  <a:pt x="710804" y="710804"/>
                </a:lnTo>
                <a:lnTo>
                  <a:pt x="0" y="710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1" name="Group 11"/>
          <p:cNvGrpSpPr/>
          <p:nvPr/>
        </p:nvGrpSpPr>
        <p:grpSpPr>
          <a:xfrm>
            <a:off x="447325" y="5438085"/>
            <a:ext cx="2698150" cy="1090927"/>
            <a:chOff x="0" y="0"/>
            <a:chExt cx="710624" cy="2873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0624" cy="287322"/>
            </a:xfrm>
            <a:custGeom>
              <a:avLst/>
              <a:gdLst/>
              <a:ahLst/>
              <a:cxnLst/>
              <a:rect l="l" t="t" r="r" b="b"/>
              <a:pathLst>
                <a:path w="710624" h="287322">
                  <a:moveTo>
                    <a:pt x="143661" y="0"/>
                  </a:moveTo>
                  <a:lnTo>
                    <a:pt x="566963" y="0"/>
                  </a:lnTo>
                  <a:cubicBezTo>
                    <a:pt x="605064" y="0"/>
                    <a:pt x="641605" y="15136"/>
                    <a:pt x="668546" y="42077"/>
                  </a:cubicBezTo>
                  <a:cubicBezTo>
                    <a:pt x="695488" y="69019"/>
                    <a:pt x="710624" y="105560"/>
                    <a:pt x="710624" y="143661"/>
                  </a:cubicBezTo>
                  <a:lnTo>
                    <a:pt x="710624" y="143661"/>
                  </a:lnTo>
                  <a:cubicBezTo>
                    <a:pt x="710624" y="181763"/>
                    <a:pt x="695488" y="218303"/>
                    <a:pt x="668546" y="245245"/>
                  </a:cubicBezTo>
                  <a:cubicBezTo>
                    <a:pt x="641605" y="272187"/>
                    <a:pt x="605064" y="287322"/>
                    <a:pt x="566963" y="287322"/>
                  </a:cubicBezTo>
                  <a:lnTo>
                    <a:pt x="143661" y="287322"/>
                  </a:lnTo>
                  <a:cubicBezTo>
                    <a:pt x="105560" y="287322"/>
                    <a:pt x="69019" y="272187"/>
                    <a:pt x="42077" y="245245"/>
                  </a:cubicBezTo>
                  <a:cubicBezTo>
                    <a:pt x="15136" y="218303"/>
                    <a:pt x="0" y="181763"/>
                    <a:pt x="0" y="143661"/>
                  </a:cubicBezTo>
                  <a:lnTo>
                    <a:pt x="0" y="143661"/>
                  </a:lnTo>
                  <a:cubicBezTo>
                    <a:pt x="0" y="105560"/>
                    <a:pt x="15136" y="69019"/>
                    <a:pt x="42077" y="42077"/>
                  </a:cubicBezTo>
                  <a:cubicBezTo>
                    <a:pt x="69019" y="15136"/>
                    <a:pt x="105560" y="0"/>
                    <a:pt x="143661" y="0"/>
                  </a:cubicBezTo>
                  <a:close/>
                </a:path>
              </a:pathLst>
            </a:custGeom>
            <a:solidFill>
              <a:srgbClr val="3747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10624" cy="3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7325" y="7056832"/>
            <a:ext cx="2698150" cy="1090927"/>
            <a:chOff x="0" y="0"/>
            <a:chExt cx="710624" cy="28732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10624" cy="287322"/>
            </a:xfrm>
            <a:custGeom>
              <a:avLst/>
              <a:gdLst/>
              <a:ahLst/>
              <a:cxnLst/>
              <a:rect l="l" t="t" r="r" b="b"/>
              <a:pathLst>
                <a:path w="710624" h="287322">
                  <a:moveTo>
                    <a:pt x="143661" y="0"/>
                  </a:moveTo>
                  <a:lnTo>
                    <a:pt x="566963" y="0"/>
                  </a:lnTo>
                  <a:cubicBezTo>
                    <a:pt x="605064" y="0"/>
                    <a:pt x="641605" y="15136"/>
                    <a:pt x="668546" y="42077"/>
                  </a:cubicBezTo>
                  <a:cubicBezTo>
                    <a:pt x="695488" y="69019"/>
                    <a:pt x="710624" y="105560"/>
                    <a:pt x="710624" y="143661"/>
                  </a:cubicBezTo>
                  <a:lnTo>
                    <a:pt x="710624" y="143661"/>
                  </a:lnTo>
                  <a:cubicBezTo>
                    <a:pt x="710624" y="181763"/>
                    <a:pt x="695488" y="218303"/>
                    <a:pt x="668546" y="245245"/>
                  </a:cubicBezTo>
                  <a:cubicBezTo>
                    <a:pt x="641605" y="272187"/>
                    <a:pt x="605064" y="287322"/>
                    <a:pt x="566963" y="287322"/>
                  </a:cubicBezTo>
                  <a:lnTo>
                    <a:pt x="143661" y="287322"/>
                  </a:lnTo>
                  <a:cubicBezTo>
                    <a:pt x="105560" y="287322"/>
                    <a:pt x="69019" y="272187"/>
                    <a:pt x="42077" y="245245"/>
                  </a:cubicBezTo>
                  <a:cubicBezTo>
                    <a:pt x="15136" y="218303"/>
                    <a:pt x="0" y="181763"/>
                    <a:pt x="0" y="143661"/>
                  </a:cubicBezTo>
                  <a:lnTo>
                    <a:pt x="0" y="143661"/>
                  </a:lnTo>
                  <a:cubicBezTo>
                    <a:pt x="0" y="105560"/>
                    <a:pt x="15136" y="69019"/>
                    <a:pt x="42077" y="42077"/>
                  </a:cubicBezTo>
                  <a:cubicBezTo>
                    <a:pt x="69019" y="15136"/>
                    <a:pt x="105560" y="0"/>
                    <a:pt x="143661" y="0"/>
                  </a:cubicBezTo>
                  <a:close/>
                </a:path>
              </a:pathLst>
            </a:custGeom>
            <a:solidFill>
              <a:srgbClr val="3747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10624" cy="3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325" y="8672171"/>
            <a:ext cx="2698150" cy="1090927"/>
            <a:chOff x="0" y="0"/>
            <a:chExt cx="710624" cy="2873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10624" cy="287322"/>
            </a:xfrm>
            <a:custGeom>
              <a:avLst/>
              <a:gdLst/>
              <a:ahLst/>
              <a:cxnLst/>
              <a:rect l="l" t="t" r="r" b="b"/>
              <a:pathLst>
                <a:path w="710624" h="287322">
                  <a:moveTo>
                    <a:pt x="143661" y="0"/>
                  </a:moveTo>
                  <a:lnTo>
                    <a:pt x="566963" y="0"/>
                  </a:lnTo>
                  <a:cubicBezTo>
                    <a:pt x="605064" y="0"/>
                    <a:pt x="641605" y="15136"/>
                    <a:pt x="668546" y="42077"/>
                  </a:cubicBezTo>
                  <a:cubicBezTo>
                    <a:pt x="695488" y="69019"/>
                    <a:pt x="710624" y="105560"/>
                    <a:pt x="710624" y="143661"/>
                  </a:cubicBezTo>
                  <a:lnTo>
                    <a:pt x="710624" y="143661"/>
                  </a:lnTo>
                  <a:cubicBezTo>
                    <a:pt x="710624" y="181763"/>
                    <a:pt x="695488" y="218303"/>
                    <a:pt x="668546" y="245245"/>
                  </a:cubicBezTo>
                  <a:cubicBezTo>
                    <a:pt x="641605" y="272187"/>
                    <a:pt x="605064" y="287322"/>
                    <a:pt x="566963" y="287322"/>
                  </a:cubicBezTo>
                  <a:lnTo>
                    <a:pt x="143661" y="287322"/>
                  </a:lnTo>
                  <a:cubicBezTo>
                    <a:pt x="105560" y="287322"/>
                    <a:pt x="69019" y="272187"/>
                    <a:pt x="42077" y="245245"/>
                  </a:cubicBezTo>
                  <a:cubicBezTo>
                    <a:pt x="15136" y="218303"/>
                    <a:pt x="0" y="181763"/>
                    <a:pt x="0" y="143661"/>
                  </a:cubicBezTo>
                  <a:lnTo>
                    <a:pt x="0" y="143661"/>
                  </a:lnTo>
                  <a:cubicBezTo>
                    <a:pt x="0" y="105560"/>
                    <a:pt x="15136" y="69019"/>
                    <a:pt x="42077" y="42077"/>
                  </a:cubicBezTo>
                  <a:cubicBezTo>
                    <a:pt x="69019" y="15136"/>
                    <a:pt x="105560" y="0"/>
                    <a:pt x="143661" y="0"/>
                  </a:cubicBezTo>
                  <a:close/>
                </a:path>
              </a:pathLst>
            </a:custGeom>
            <a:solidFill>
              <a:srgbClr val="3747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710624" cy="3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05787" y="1766846"/>
            <a:ext cx="4748744" cy="1437312"/>
            <a:chOff x="0" y="0"/>
            <a:chExt cx="1250698" cy="3785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50698" cy="378551"/>
            </a:xfrm>
            <a:custGeom>
              <a:avLst/>
              <a:gdLst/>
              <a:ahLst/>
              <a:cxnLst/>
              <a:rect l="l" t="t" r="r" b="b"/>
              <a:pathLst>
                <a:path w="1250698" h="378551">
                  <a:moveTo>
                    <a:pt x="0" y="0"/>
                  </a:moveTo>
                  <a:lnTo>
                    <a:pt x="1250698" y="0"/>
                  </a:lnTo>
                  <a:lnTo>
                    <a:pt x="1250698" y="378551"/>
                  </a:lnTo>
                  <a:lnTo>
                    <a:pt x="0" y="378551"/>
                  </a:lnTo>
                  <a:close/>
                </a:path>
              </a:pathLst>
            </a:custGeom>
            <a:solidFill>
              <a:srgbClr val="E96C28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250698" cy="416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335275" y="1766846"/>
            <a:ext cx="4748744" cy="1437312"/>
            <a:chOff x="0" y="0"/>
            <a:chExt cx="1250698" cy="3785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50698" cy="378551"/>
            </a:xfrm>
            <a:custGeom>
              <a:avLst/>
              <a:gdLst/>
              <a:ahLst/>
              <a:cxnLst/>
              <a:rect l="l" t="t" r="r" b="b"/>
              <a:pathLst>
                <a:path w="1250698" h="378551">
                  <a:moveTo>
                    <a:pt x="0" y="0"/>
                  </a:moveTo>
                  <a:lnTo>
                    <a:pt x="1250698" y="0"/>
                  </a:lnTo>
                  <a:lnTo>
                    <a:pt x="1250698" y="378551"/>
                  </a:lnTo>
                  <a:lnTo>
                    <a:pt x="0" y="378551"/>
                  </a:lnTo>
                  <a:close/>
                </a:path>
              </a:pathLst>
            </a:custGeom>
            <a:solidFill>
              <a:srgbClr val="E96C28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250698" cy="416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86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337649" y="1766846"/>
            <a:ext cx="4748744" cy="1437312"/>
            <a:chOff x="0" y="0"/>
            <a:chExt cx="1250698" cy="37855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50698" cy="378551"/>
            </a:xfrm>
            <a:custGeom>
              <a:avLst/>
              <a:gdLst/>
              <a:ahLst/>
              <a:cxnLst/>
              <a:rect l="l" t="t" r="r" b="b"/>
              <a:pathLst>
                <a:path w="1250698" h="378551">
                  <a:moveTo>
                    <a:pt x="0" y="0"/>
                  </a:moveTo>
                  <a:lnTo>
                    <a:pt x="1250698" y="0"/>
                  </a:lnTo>
                  <a:lnTo>
                    <a:pt x="1250698" y="378551"/>
                  </a:lnTo>
                  <a:lnTo>
                    <a:pt x="0" y="378551"/>
                  </a:lnTo>
                  <a:close/>
                </a:path>
              </a:pathLst>
            </a:custGeom>
            <a:solidFill>
              <a:srgbClr val="E96C28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250698" cy="416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86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305787" y="3854263"/>
            <a:ext cx="4748744" cy="1028966"/>
            <a:chOff x="0" y="0"/>
            <a:chExt cx="14656591" cy="317581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656591" cy="3175814"/>
            </a:xfrm>
            <a:custGeom>
              <a:avLst/>
              <a:gdLst/>
              <a:ahLst/>
              <a:cxnLst/>
              <a:rect l="l" t="t" r="r" b="b"/>
              <a:pathLst>
                <a:path w="14656591" h="3175814">
                  <a:moveTo>
                    <a:pt x="4891" y="0"/>
                  </a:moveTo>
                  <a:lnTo>
                    <a:pt x="14651699" y="0"/>
                  </a:lnTo>
                  <a:cubicBezTo>
                    <a:pt x="14652997" y="0"/>
                    <a:pt x="14654240" y="515"/>
                    <a:pt x="14655158" y="1433"/>
                  </a:cubicBezTo>
                  <a:cubicBezTo>
                    <a:pt x="14656076" y="2350"/>
                    <a:pt x="14656591" y="3594"/>
                    <a:pt x="14656591" y="4891"/>
                  </a:cubicBezTo>
                  <a:lnTo>
                    <a:pt x="14656591" y="3170923"/>
                  </a:lnTo>
                  <a:cubicBezTo>
                    <a:pt x="14656591" y="3173624"/>
                    <a:pt x="14654402" y="3175814"/>
                    <a:pt x="14651699" y="3175814"/>
                  </a:cubicBezTo>
                  <a:lnTo>
                    <a:pt x="4891" y="3175814"/>
                  </a:lnTo>
                  <a:cubicBezTo>
                    <a:pt x="3594" y="3175814"/>
                    <a:pt x="2350" y="3175299"/>
                    <a:pt x="1433" y="3174382"/>
                  </a:cubicBezTo>
                  <a:cubicBezTo>
                    <a:pt x="515" y="3173464"/>
                    <a:pt x="0" y="3172220"/>
                    <a:pt x="0" y="3170923"/>
                  </a:cubicBezTo>
                  <a:lnTo>
                    <a:pt x="0" y="4891"/>
                  </a:lnTo>
                  <a:cubicBezTo>
                    <a:pt x="0" y="2190"/>
                    <a:pt x="2190" y="0"/>
                    <a:pt x="4891" y="0"/>
                  </a:cubicBezTo>
                  <a:close/>
                </a:path>
              </a:pathLst>
            </a:custGeom>
            <a:solidFill>
              <a:srgbClr val="EBEBEB">
                <a:alpha val="7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4656591" cy="3213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335275" y="3885244"/>
            <a:ext cx="4748744" cy="1028966"/>
            <a:chOff x="0" y="0"/>
            <a:chExt cx="14656591" cy="317581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656591" cy="3175814"/>
            </a:xfrm>
            <a:custGeom>
              <a:avLst/>
              <a:gdLst/>
              <a:ahLst/>
              <a:cxnLst/>
              <a:rect l="l" t="t" r="r" b="b"/>
              <a:pathLst>
                <a:path w="14656591" h="3175814">
                  <a:moveTo>
                    <a:pt x="4891" y="0"/>
                  </a:moveTo>
                  <a:lnTo>
                    <a:pt x="14651699" y="0"/>
                  </a:lnTo>
                  <a:cubicBezTo>
                    <a:pt x="14652997" y="0"/>
                    <a:pt x="14654240" y="515"/>
                    <a:pt x="14655158" y="1433"/>
                  </a:cubicBezTo>
                  <a:cubicBezTo>
                    <a:pt x="14656076" y="2350"/>
                    <a:pt x="14656591" y="3594"/>
                    <a:pt x="14656591" y="4891"/>
                  </a:cubicBezTo>
                  <a:lnTo>
                    <a:pt x="14656591" y="3170923"/>
                  </a:lnTo>
                  <a:cubicBezTo>
                    <a:pt x="14656591" y="3173624"/>
                    <a:pt x="14654402" y="3175814"/>
                    <a:pt x="14651699" y="3175814"/>
                  </a:cubicBezTo>
                  <a:lnTo>
                    <a:pt x="4891" y="3175814"/>
                  </a:lnTo>
                  <a:cubicBezTo>
                    <a:pt x="3594" y="3175814"/>
                    <a:pt x="2350" y="3175299"/>
                    <a:pt x="1433" y="3174382"/>
                  </a:cubicBezTo>
                  <a:cubicBezTo>
                    <a:pt x="515" y="3173464"/>
                    <a:pt x="0" y="3172220"/>
                    <a:pt x="0" y="3170923"/>
                  </a:cubicBezTo>
                  <a:lnTo>
                    <a:pt x="0" y="4891"/>
                  </a:lnTo>
                  <a:cubicBezTo>
                    <a:pt x="0" y="2190"/>
                    <a:pt x="2190" y="0"/>
                    <a:pt x="4891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4656591" cy="3213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337649" y="3854263"/>
            <a:ext cx="4748744" cy="1028966"/>
            <a:chOff x="0" y="0"/>
            <a:chExt cx="14656591" cy="317581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656591" cy="3175814"/>
            </a:xfrm>
            <a:custGeom>
              <a:avLst/>
              <a:gdLst/>
              <a:ahLst/>
              <a:cxnLst/>
              <a:rect l="l" t="t" r="r" b="b"/>
              <a:pathLst>
                <a:path w="14656591" h="3175814">
                  <a:moveTo>
                    <a:pt x="4891" y="0"/>
                  </a:moveTo>
                  <a:lnTo>
                    <a:pt x="14651699" y="0"/>
                  </a:lnTo>
                  <a:cubicBezTo>
                    <a:pt x="14652997" y="0"/>
                    <a:pt x="14654240" y="515"/>
                    <a:pt x="14655158" y="1433"/>
                  </a:cubicBezTo>
                  <a:cubicBezTo>
                    <a:pt x="14656076" y="2350"/>
                    <a:pt x="14656591" y="3594"/>
                    <a:pt x="14656591" y="4891"/>
                  </a:cubicBezTo>
                  <a:lnTo>
                    <a:pt x="14656591" y="3170923"/>
                  </a:lnTo>
                  <a:cubicBezTo>
                    <a:pt x="14656591" y="3173624"/>
                    <a:pt x="14654402" y="3175814"/>
                    <a:pt x="14651699" y="3175814"/>
                  </a:cubicBezTo>
                  <a:lnTo>
                    <a:pt x="4891" y="3175814"/>
                  </a:lnTo>
                  <a:cubicBezTo>
                    <a:pt x="3594" y="3175814"/>
                    <a:pt x="2350" y="3175299"/>
                    <a:pt x="1433" y="3174382"/>
                  </a:cubicBezTo>
                  <a:cubicBezTo>
                    <a:pt x="515" y="3173464"/>
                    <a:pt x="0" y="3172220"/>
                    <a:pt x="0" y="3170923"/>
                  </a:cubicBezTo>
                  <a:lnTo>
                    <a:pt x="0" y="4891"/>
                  </a:lnTo>
                  <a:cubicBezTo>
                    <a:pt x="0" y="2190"/>
                    <a:pt x="2190" y="0"/>
                    <a:pt x="4891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4656591" cy="3213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305787" y="5438085"/>
            <a:ext cx="4748744" cy="1028966"/>
            <a:chOff x="0" y="0"/>
            <a:chExt cx="14656591" cy="317581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4656591" cy="3175814"/>
            </a:xfrm>
            <a:custGeom>
              <a:avLst/>
              <a:gdLst/>
              <a:ahLst/>
              <a:cxnLst/>
              <a:rect l="l" t="t" r="r" b="b"/>
              <a:pathLst>
                <a:path w="14656591" h="3175814">
                  <a:moveTo>
                    <a:pt x="4891" y="0"/>
                  </a:moveTo>
                  <a:lnTo>
                    <a:pt x="14651699" y="0"/>
                  </a:lnTo>
                  <a:cubicBezTo>
                    <a:pt x="14652997" y="0"/>
                    <a:pt x="14654240" y="515"/>
                    <a:pt x="14655158" y="1433"/>
                  </a:cubicBezTo>
                  <a:cubicBezTo>
                    <a:pt x="14656076" y="2350"/>
                    <a:pt x="14656591" y="3594"/>
                    <a:pt x="14656591" y="4891"/>
                  </a:cubicBezTo>
                  <a:lnTo>
                    <a:pt x="14656591" y="3170923"/>
                  </a:lnTo>
                  <a:cubicBezTo>
                    <a:pt x="14656591" y="3173624"/>
                    <a:pt x="14654402" y="3175814"/>
                    <a:pt x="14651699" y="3175814"/>
                  </a:cubicBezTo>
                  <a:lnTo>
                    <a:pt x="4891" y="3175814"/>
                  </a:lnTo>
                  <a:cubicBezTo>
                    <a:pt x="3594" y="3175814"/>
                    <a:pt x="2350" y="3175299"/>
                    <a:pt x="1433" y="3174382"/>
                  </a:cubicBezTo>
                  <a:cubicBezTo>
                    <a:pt x="515" y="3173464"/>
                    <a:pt x="0" y="3172220"/>
                    <a:pt x="0" y="3170923"/>
                  </a:cubicBezTo>
                  <a:lnTo>
                    <a:pt x="0" y="4891"/>
                  </a:lnTo>
                  <a:cubicBezTo>
                    <a:pt x="0" y="2190"/>
                    <a:pt x="2190" y="0"/>
                    <a:pt x="4891" y="0"/>
                  </a:cubicBezTo>
                  <a:close/>
                </a:path>
              </a:pathLst>
            </a:custGeom>
            <a:solidFill>
              <a:srgbClr val="EBEBEB">
                <a:alpha val="7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4656591" cy="3213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335275" y="5500047"/>
            <a:ext cx="4748744" cy="1028966"/>
            <a:chOff x="0" y="0"/>
            <a:chExt cx="14656591" cy="317581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4656591" cy="3175814"/>
            </a:xfrm>
            <a:custGeom>
              <a:avLst/>
              <a:gdLst/>
              <a:ahLst/>
              <a:cxnLst/>
              <a:rect l="l" t="t" r="r" b="b"/>
              <a:pathLst>
                <a:path w="14656591" h="3175814">
                  <a:moveTo>
                    <a:pt x="4891" y="0"/>
                  </a:moveTo>
                  <a:lnTo>
                    <a:pt x="14651699" y="0"/>
                  </a:lnTo>
                  <a:cubicBezTo>
                    <a:pt x="14652997" y="0"/>
                    <a:pt x="14654240" y="515"/>
                    <a:pt x="14655158" y="1433"/>
                  </a:cubicBezTo>
                  <a:cubicBezTo>
                    <a:pt x="14656076" y="2350"/>
                    <a:pt x="14656591" y="3594"/>
                    <a:pt x="14656591" y="4891"/>
                  </a:cubicBezTo>
                  <a:lnTo>
                    <a:pt x="14656591" y="3170923"/>
                  </a:lnTo>
                  <a:cubicBezTo>
                    <a:pt x="14656591" y="3173624"/>
                    <a:pt x="14654402" y="3175814"/>
                    <a:pt x="14651699" y="3175814"/>
                  </a:cubicBezTo>
                  <a:lnTo>
                    <a:pt x="4891" y="3175814"/>
                  </a:lnTo>
                  <a:cubicBezTo>
                    <a:pt x="3594" y="3175814"/>
                    <a:pt x="2350" y="3175299"/>
                    <a:pt x="1433" y="3174382"/>
                  </a:cubicBezTo>
                  <a:cubicBezTo>
                    <a:pt x="515" y="3173464"/>
                    <a:pt x="0" y="3172220"/>
                    <a:pt x="0" y="3170923"/>
                  </a:cubicBezTo>
                  <a:lnTo>
                    <a:pt x="0" y="4891"/>
                  </a:lnTo>
                  <a:cubicBezTo>
                    <a:pt x="0" y="2190"/>
                    <a:pt x="2190" y="0"/>
                    <a:pt x="4891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4656591" cy="3213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337649" y="5469066"/>
            <a:ext cx="4748744" cy="1028966"/>
            <a:chOff x="0" y="0"/>
            <a:chExt cx="14656591" cy="317581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656591" cy="3175814"/>
            </a:xfrm>
            <a:custGeom>
              <a:avLst/>
              <a:gdLst/>
              <a:ahLst/>
              <a:cxnLst/>
              <a:rect l="l" t="t" r="r" b="b"/>
              <a:pathLst>
                <a:path w="14656591" h="3175814">
                  <a:moveTo>
                    <a:pt x="4891" y="0"/>
                  </a:moveTo>
                  <a:lnTo>
                    <a:pt x="14651699" y="0"/>
                  </a:lnTo>
                  <a:cubicBezTo>
                    <a:pt x="14652997" y="0"/>
                    <a:pt x="14654240" y="515"/>
                    <a:pt x="14655158" y="1433"/>
                  </a:cubicBezTo>
                  <a:cubicBezTo>
                    <a:pt x="14656076" y="2350"/>
                    <a:pt x="14656591" y="3594"/>
                    <a:pt x="14656591" y="4891"/>
                  </a:cubicBezTo>
                  <a:lnTo>
                    <a:pt x="14656591" y="3170923"/>
                  </a:lnTo>
                  <a:cubicBezTo>
                    <a:pt x="14656591" y="3173624"/>
                    <a:pt x="14654402" y="3175814"/>
                    <a:pt x="14651699" y="3175814"/>
                  </a:cubicBezTo>
                  <a:lnTo>
                    <a:pt x="4891" y="3175814"/>
                  </a:lnTo>
                  <a:cubicBezTo>
                    <a:pt x="3594" y="3175814"/>
                    <a:pt x="2350" y="3175299"/>
                    <a:pt x="1433" y="3174382"/>
                  </a:cubicBezTo>
                  <a:cubicBezTo>
                    <a:pt x="515" y="3173464"/>
                    <a:pt x="0" y="3172220"/>
                    <a:pt x="0" y="3170923"/>
                  </a:cubicBezTo>
                  <a:lnTo>
                    <a:pt x="0" y="4891"/>
                  </a:lnTo>
                  <a:cubicBezTo>
                    <a:pt x="0" y="2190"/>
                    <a:pt x="2190" y="0"/>
                    <a:pt x="4891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4656591" cy="3213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305787" y="7087813"/>
            <a:ext cx="4748744" cy="1028966"/>
            <a:chOff x="0" y="0"/>
            <a:chExt cx="14656591" cy="317581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656591" cy="3175814"/>
            </a:xfrm>
            <a:custGeom>
              <a:avLst/>
              <a:gdLst/>
              <a:ahLst/>
              <a:cxnLst/>
              <a:rect l="l" t="t" r="r" b="b"/>
              <a:pathLst>
                <a:path w="14656591" h="3175814">
                  <a:moveTo>
                    <a:pt x="4891" y="0"/>
                  </a:moveTo>
                  <a:lnTo>
                    <a:pt x="14651699" y="0"/>
                  </a:lnTo>
                  <a:cubicBezTo>
                    <a:pt x="14652997" y="0"/>
                    <a:pt x="14654240" y="515"/>
                    <a:pt x="14655158" y="1433"/>
                  </a:cubicBezTo>
                  <a:cubicBezTo>
                    <a:pt x="14656076" y="2350"/>
                    <a:pt x="14656591" y="3594"/>
                    <a:pt x="14656591" y="4891"/>
                  </a:cubicBezTo>
                  <a:lnTo>
                    <a:pt x="14656591" y="3170923"/>
                  </a:lnTo>
                  <a:cubicBezTo>
                    <a:pt x="14656591" y="3173624"/>
                    <a:pt x="14654402" y="3175814"/>
                    <a:pt x="14651699" y="3175814"/>
                  </a:cubicBezTo>
                  <a:lnTo>
                    <a:pt x="4891" y="3175814"/>
                  </a:lnTo>
                  <a:cubicBezTo>
                    <a:pt x="3594" y="3175814"/>
                    <a:pt x="2350" y="3175299"/>
                    <a:pt x="1433" y="3174382"/>
                  </a:cubicBezTo>
                  <a:cubicBezTo>
                    <a:pt x="515" y="3173464"/>
                    <a:pt x="0" y="3172220"/>
                    <a:pt x="0" y="3170923"/>
                  </a:cubicBezTo>
                  <a:lnTo>
                    <a:pt x="0" y="4891"/>
                  </a:lnTo>
                  <a:cubicBezTo>
                    <a:pt x="0" y="2190"/>
                    <a:pt x="2190" y="0"/>
                    <a:pt x="4891" y="0"/>
                  </a:cubicBezTo>
                  <a:close/>
                </a:path>
              </a:pathLst>
            </a:custGeom>
            <a:solidFill>
              <a:srgbClr val="EBEBEB">
                <a:alpha val="7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14656591" cy="3213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335275" y="7087813"/>
            <a:ext cx="4748744" cy="1028966"/>
            <a:chOff x="0" y="0"/>
            <a:chExt cx="14656591" cy="317581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4656591" cy="3175814"/>
            </a:xfrm>
            <a:custGeom>
              <a:avLst/>
              <a:gdLst/>
              <a:ahLst/>
              <a:cxnLst/>
              <a:rect l="l" t="t" r="r" b="b"/>
              <a:pathLst>
                <a:path w="14656591" h="3175814">
                  <a:moveTo>
                    <a:pt x="4891" y="0"/>
                  </a:moveTo>
                  <a:lnTo>
                    <a:pt x="14651699" y="0"/>
                  </a:lnTo>
                  <a:cubicBezTo>
                    <a:pt x="14652997" y="0"/>
                    <a:pt x="14654240" y="515"/>
                    <a:pt x="14655158" y="1433"/>
                  </a:cubicBezTo>
                  <a:cubicBezTo>
                    <a:pt x="14656076" y="2350"/>
                    <a:pt x="14656591" y="3594"/>
                    <a:pt x="14656591" y="4891"/>
                  </a:cubicBezTo>
                  <a:lnTo>
                    <a:pt x="14656591" y="3170923"/>
                  </a:lnTo>
                  <a:cubicBezTo>
                    <a:pt x="14656591" y="3173624"/>
                    <a:pt x="14654402" y="3175814"/>
                    <a:pt x="14651699" y="3175814"/>
                  </a:cubicBezTo>
                  <a:lnTo>
                    <a:pt x="4891" y="3175814"/>
                  </a:lnTo>
                  <a:cubicBezTo>
                    <a:pt x="3594" y="3175814"/>
                    <a:pt x="2350" y="3175299"/>
                    <a:pt x="1433" y="3174382"/>
                  </a:cubicBezTo>
                  <a:cubicBezTo>
                    <a:pt x="515" y="3173464"/>
                    <a:pt x="0" y="3172220"/>
                    <a:pt x="0" y="3170923"/>
                  </a:cubicBezTo>
                  <a:lnTo>
                    <a:pt x="0" y="4891"/>
                  </a:lnTo>
                  <a:cubicBezTo>
                    <a:pt x="0" y="2190"/>
                    <a:pt x="2190" y="0"/>
                    <a:pt x="4891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14656591" cy="3213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245944" y="7087813"/>
            <a:ext cx="4748744" cy="1028966"/>
            <a:chOff x="0" y="0"/>
            <a:chExt cx="14656591" cy="317581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4656591" cy="3175814"/>
            </a:xfrm>
            <a:custGeom>
              <a:avLst/>
              <a:gdLst/>
              <a:ahLst/>
              <a:cxnLst/>
              <a:rect l="l" t="t" r="r" b="b"/>
              <a:pathLst>
                <a:path w="14656591" h="3175814">
                  <a:moveTo>
                    <a:pt x="4891" y="0"/>
                  </a:moveTo>
                  <a:lnTo>
                    <a:pt x="14651699" y="0"/>
                  </a:lnTo>
                  <a:cubicBezTo>
                    <a:pt x="14652997" y="0"/>
                    <a:pt x="14654240" y="515"/>
                    <a:pt x="14655158" y="1433"/>
                  </a:cubicBezTo>
                  <a:cubicBezTo>
                    <a:pt x="14656076" y="2350"/>
                    <a:pt x="14656591" y="3594"/>
                    <a:pt x="14656591" y="4891"/>
                  </a:cubicBezTo>
                  <a:lnTo>
                    <a:pt x="14656591" y="3170923"/>
                  </a:lnTo>
                  <a:cubicBezTo>
                    <a:pt x="14656591" y="3173624"/>
                    <a:pt x="14654402" y="3175814"/>
                    <a:pt x="14651699" y="3175814"/>
                  </a:cubicBezTo>
                  <a:lnTo>
                    <a:pt x="4891" y="3175814"/>
                  </a:lnTo>
                  <a:cubicBezTo>
                    <a:pt x="3594" y="3175814"/>
                    <a:pt x="2350" y="3175299"/>
                    <a:pt x="1433" y="3174382"/>
                  </a:cubicBezTo>
                  <a:cubicBezTo>
                    <a:pt x="515" y="3173464"/>
                    <a:pt x="0" y="3172220"/>
                    <a:pt x="0" y="3170923"/>
                  </a:cubicBezTo>
                  <a:lnTo>
                    <a:pt x="0" y="4891"/>
                  </a:lnTo>
                  <a:cubicBezTo>
                    <a:pt x="0" y="2190"/>
                    <a:pt x="2190" y="0"/>
                    <a:pt x="4891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14656591" cy="3213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305787" y="8743817"/>
            <a:ext cx="4748744" cy="1028966"/>
            <a:chOff x="0" y="0"/>
            <a:chExt cx="14656591" cy="317581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4656591" cy="3175814"/>
            </a:xfrm>
            <a:custGeom>
              <a:avLst/>
              <a:gdLst/>
              <a:ahLst/>
              <a:cxnLst/>
              <a:rect l="l" t="t" r="r" b="b"/>
              <a:pathLst>
                <a:path w="14656591" h="3175814">
                  <a:moveTo>
                    <a:pt x="4891" y="0"/>
                  </a:moveTo>
                  <a:lnTo>
                    <a:pt x="14651699" y="0"/>
                  </a:lnTo>
                  <a:cubicBezTo>
                    <a:pt x="14652997" y="0"/>
                    <a:pt x="14654240" y="515"/>
                    <a:pt x="14655158" y="1433"/>
                  </a:cubicBezTo>
                  <a:cubicBezTo>
                    <a:pt x="14656076" y="2350"/>
                    <a:pt x="14656591" y="3594"/>
                    <a:pt x="14656591" y="4891"/>
                  </a:cubicBezTo>
                  <a:lnTo>
                    <a:pt x="14656591" y="3170923"/>
                  </a:lnTo>
                  <a:cubicBezTo>
                    <a:pt x="14656591" y="3173624"/>
                    <a:pt x="14654402" y="3175814"/>
                    <a:pt x="14651699" y="3175814"/>
                  </a:cubicBezTo>
                  <a:lnTo>
                    <a:pt x="4891" y="3175814"/>
                  </a:lnTo>
                  <a:cubicBezTo>
                    <a:pt x="3594" y="3175814"/>
                    <a:pt x="2350" y="3175299"/>
                    <a:pt x="1433" y="3174382"/>
                  </a:cubicBezTo>
                  <a:cubicBezTo>
                    <a:pt x="515" y="3173464"/>
                    <a:pt x="0" y="3172220"/>
                    <a:pt x="0" y="3170923"/>
                  </a:cubicBezTo>
                  <a:lnTo>
                    <a:pt x="0" y="4891"/>
                  </a:lnTo>
                  <a:cubicBezTo>
                    <a:pt x="0" y="2190"/>
                    <a:pt x="2190" y="0"/>
                    <a:pt x="4891" y="0"/>
                  </a:cubicBezTo>
                  <a:close/>
                </a:path>
              </a:pathLst>
            </a:custGeom>
            <a:solidFill>
              <a:srgbClr val="EBEBEB">
                <a:alpha val="7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14656591" cy="3213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335275" y="8743817"/>
            <a:ext cx="4748744" cy="1028966"/>
            <a:chOff x="0" y="0"/>
            <a:chExt cx="14656591" cy="317581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4656591" cy="3175814"/>
            </a:xfrm>
            <a:custGeom>
              <a:avLst/>
              <a:gdLst/>
              <a:ahLst/>
              <a:cxnLst/>
              <a:rect l="l" t="t" r="r" b="b"/>
              <a:pathLst>
                <a:path w="14656591" h="3175814">
                  <a:moveTo>
                    <a:pt x="4891" y="0"/>
                  </a:moveTo>
                  <a:lnTo>
                    <a:pt x="14651699" y="0"/>
                  </a:lnTo>
                  <a:cubicBezTo>
                    <a:pt x="14652997" y="0"/>
                    <a:pt x="14654240" y="515"/>
                    <a:pt x="14655158" y="1433"/>
                  </a:cubicBezTo>
                  <a:cubicBezTo>
                    <a:pt x="14656076" y="2350"/>
                    <a:pt x="14656591" y="3594"/>
                    <a:pt x="14656591" y="4891"/>
                  </a:cubicBezTo>
                  <a:lnTo>
                    <a:pt x="14656591" y="3170923"/>
                  </a:lnTo>
                  <a:cubicBezTo>
                    <a:pt x="14656591" y="3173624"/>
                    <a:pt x="14654402" y="3175814"/>
                    <a:pt x="14651699" y="3175814"/>
                  </a:cubicBezTo>
                  <a:lnTo>
                    <a:pt x="4891" y="3175814"/>
                  </a:lnTo>
                  <a:cubicBezTo>
                    <a:pt x="3594" y="3175814"/>
                    <a:pt x="2350" y="3175299"/>
                    <a:pt x="1433" y="3174382"/>
                  </a:cubicBezTo>
                  <a:cubicBezTo>
                    <a:pt x="515" y="3173464"/>
                    <a:pt x="0" y="3172220"/>
                    <a:pt x="0" y="3170923"/>
                  </a:cubicBezTo>
                  <a:lnTo>
                    <a:pt x="0" y="4891"/>
                  </a:lnTo>
                  <a:cubicBezTo>
                    <a:pt x="0" y="2190"/>
                    <a:pt x="2190" y="0"/>
                    <a:pt x="4891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14656591" cy="3213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245944" y="8707329"/>
            <a:ext cx="4748744" cy="1028966"/>
            <a:chOff x="0" y="0"/>
            <a:chExt cx="14656591" cy="317581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4656591" cy="3175814"/>
            </a:xfrm>
            <a:custGeom>
              <a:avLst/>
              <a:gdLst/>
              <a:ahLst/>
              <a:cxnLst/>
              <a:rect l="l" t="t" r="r" b="b"/>
              <a:pathLst>
                <a:path w="14656591" h="3175814">
                  <a:moveTo>
                    <a:pt x="4891" y="0"/>
                  </a:moveTo>
                  <a:lnTo>
                    <a:pt x="14651699" y="0"/>
                  </a:lnTo>
                  <a:cubicBezTo>
                    <a:pt x="14652997" y="0"/>
                    <a:pt x="14654240" y="515"/>
                    <a:pt x="14655158" y="1433"/>
                  </a:cubicBezTo>
                  <a:cubicBezTo>
                    <a:pt x="14656076" y="2350"/>
                    <a:pt x="14656591" y="3594"/>
                    <a:pt x="14656591" y="4891"/>
                  </a:cubicBezTo>
                  <a:lnTo>
                    <a:pt x="14656591" y="3170923"/>
                  </a:lnTo>
                  <a:cubicBezTo>
                    <a:pt x="14656591" y="3173624"/>
                    <a:pt x="14654402" y="3175814"/>
                    <a:pt x="14651699" y="3175814"/>
                  </a:cubicBezTo>
                  <a:lnTo>
                    <a:pt x="4891" y="3175814"/>
                  </a:lnTo>
                  <a:cubicBezTo>
                    <a:pt x="3594" y="3175814"/>
                    <a:pt x="2350" y="3175299"/>
                    <a:pt x="1433" y="3174382"/>
                  </a:cubicBezTo>
                  <a:cubicBezTo>
                    <a:pt x="515" y="3173464"/>
                    <a:pt x="0" y="3172220"/>
                    <a:pt x="0" y="3170923"/>
                  </a:cubicBezTo>
                  <a:lnTo>
                    <a:pt x="0" y="4891"/>
                  </a:lnTo>
                  <a:cubicBezTo>
                    <a:pt x="0" y="2190"/>
                    <a:pt x="2190" y="0"/>
                    <a:pt x="4891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14656591" cy="3213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47325" y="3823282"/>
            <a:ext cx="2698150" cy="1090927"/>
            <a:chOff x="0" y="0"/>
            <a:chExt cx="710624" cy="28732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10624" cy="287322"/>
            </a:xfrm>
            <a:custGeom>
              <a:avLst/>
              <a:gdLst/>
              <a:ahLst/>
              <a:cxnLst/>
              <a:rect l="l" t="t" r="r" b="b"/>
              <a:pathLst>
                <a:path w="710624" h="287322">
                  <a:moveTo>
                    <a:pt x="143661" y="0"/>
                  </a:moveTo>
                  <a:lnTo>
                    <a:pt x="566963" y="0"/>
                  </a:lnTo>
                  <a:cubicBezTo>
                    <a:pt x="605064" y="0"/>
                    <a:pt x="641605" y="15136"/>
                    <a:pt x="668546" y="42077"/>
                  </a:cubicBezTo>
                  <a:cubicBezTo>
                    <a:pt x="695488" y="69019"/>
                    <a:pt x="710624" y="105560"/>
                    <a:pt x="710624" y="143661"/>
                  </a:cubicBezTo>
                  <a:lnTo>
                    <a:pt x="710624" y="143661"/>
                  </a:lnTo>
                  <a:cubicBezTo>
                    <a:pt x="710624" y="181763"/>
                    <a:pt x="695488" y="218303"/>
                    <a:pt x="668546" y="245245"/>
                  </a:cubicBezTo>
                  <a:cubicBezTo>
                    <a:pt x="641605" y="272187"/>
                    <a:pt x="605064" y="287322"/>
                    <a:pt x="566963" y="287322"/>
                  </a:cubicBezTo>
                  <a:lnTo>
                    <a:pt x="143661" y="287322"/>
                  </a:lnTo>
                  <a:cubicBezTo>
                    <a:pt x="105560" y="287322"/>
                    <a:pt x="69019" y="272187"/>
                    <a:pt x="42077" y="245245"/>
                  </a:cubicBezTo>
                  <a:cubicBezTo>
                    <a:pt x="15136" y="218303"/>
                    <a:pt x="0" y="181763"/>
                    <a:pt x="0" y="143661"/>
                  </a:cubicBezTo>
                  <a:lnTo>
                    <a:pt x="0" y="143661"/>
                  </a:lnTo>
                  <a:cubicBezTo>
                    <a:pt x="0" y="105560"/>
                    <a:pt x="15136" y="69019"/>
                    <a:pt x="42077" y="42077"/>
                  </a:cubicBezTo>
                  <a:cubicBezTo>
                    <a:pt x="69019" y="15136"/>
                    <a:pt x="105560" y="0"/>
                    <a:pt x="143661" y="0"/>
                  </a:cubicBezTo>
                  <a:close/>
                </a:path>
              </a:pathLst>
            </a:custGeom>
            <a:solidFill>
              <a:srgbClr val="3747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710624" cy="3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sp>
        <p:nvSpPr>
          <p:cNvPr id="68" name="Freeform 68"/>
          <p:cNvSpPr/>
          <p:nvPr/>
        </p:nvSpPr>
        <p:spPr>
          <a:xfrm rot="5400000">
            <a:off x="5367853" y="3341301"/>
            <a:ext cx="624612" cy="401313"/>
          </a:xfrm>
          <a:custGeom>
            <a:avLst/>
            <a:gdLst/>
            <a:ahLst/>
            <a:cxnLst/>
            <a:rect l="l" t="t" r="r" b="b"/>
            <a:pathLst>
              <a:path w="624612" h="401313">
                <a:moveTo>
                  <a:pt x="0" y="0"/>
                </a:moveTo>
                <a:lnTo>
                  <a:pt x="624612" y="0"/>
                </a:lnTo>
                <a:lnTo>
                  <a:pt x="624612" y="401313"/>
                </a:lnTo>
                <a:lnTo>
                  <a:pt x="0" y="4013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9" name="TextBox 69"/>
          <p:cNvSpPr txBox="1"/>
          <p:nvPr/>
        </p:nvSpPr>
        <p:spPr>
          <a:xfrm>
            <a:off x="1605348" y="556792"/>
            <a:ext cx="5979069" cy="56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FACTORES CONTRIBUYENTES IDENTIFICADOS EN LA LÍNEA DE TIEMPO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605348" y="245420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5 POR QUÉ?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63773" y="3967744"/>
            <a:ext cx="2258126" cy="72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s-CL" sz="1399" b="1" noProof="0" dirty="0">
                <a:solidFill>
                  <a:srgbClr val="E4E8F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¿Por qué?</a:t>
            </a:r>
          </a:p>
          <a:p>
            <a:pPr algn="ctr">
              <a:lnSpc>
                <a:spcPts val="1889"/>
              </a:lnSpc>
            </a:pPr>
            <a:r>
              <a:rPr lang="es-CL" sz="1399" b="1" noProof="0" dirty="0">
                <a:solidFill>
                  <a:srgbClr val="E4E8F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Defensas ausentes o fallidas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67337" y="5570615"/>
            <a:ext cx="2258126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s-CL" sz="1399" b="1" noProof="0" dirty="0">
                <a:solidFill>
                  <a:srgbClr val="E4E8F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¿Por qué?</a:t>
            </a:r>
          </a:p>
          <a:p>
            <a:pPr algn="ctr">
              <a:lnSpc>
                <a:spcPts val="1889"/>
              </a:lnSpc>
            </a:pPr>
            <a:r>
              <a:rPr lang="es-CL" sz="1399" b="1" noProof="0" dirty="0">
                <a:solidFill>
                  <a:srgbClr val="E4E8F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individuales o de equipo</a:t>
            </a:r>
          </a:p>
          <a:p>
            <a:pPr algn="ctr">
              <a:lnSpc>
                <a:spcPts val="1889"/>
              </a:lnSpc>
            </a:pPr>
            <a:endParaRPr lang="es-CL" sz="1399" b="1" noProof="0" dirty="0">
              <a:solidFill>
                <a:srgbClr val="E4E8F1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663773" y="7205240"/>
            <a:ext cx="2258126" cy="72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s-CL" sz="1399" b="1" noProof="0" dirty="0">
                <a:solidFill>
                  <a:srgbClr val="E4E8F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¿Por qué?</a:t>
            </a:r>
          </a:p>
          <a:p>
            <a:pPr algn="ctr">
              <a:lnSpc>
                <a:spcPts val="1889"/>
              </a:lnSpc>
            </a:pPr>
            <a:r>
              <a:rPr lang="es-CL" sz="1399" b="1" noProof="0" dirty="0">
                <a:solidFill>
                  <a:srgbClr val="E4E8F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Condiciones de la tarea o el entorno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67337" y="8824035"/>
            <a:ext cx="2258126" cy="72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s-CL" sz="1399" b="1" noProof="0" dirty="0">
                <a:solidFill>
                  <a:srgbClr val="E4E8F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¿Por qué?</a:t>
            </a:r>
          </a:p>
          <a:p>
            <a:pPr algn="ctr">
              <a:lnSpc>
                <a:spcPts val="1889"/>
              </a:lnSpc>
            </a:pPr>
            <a:r>
              <a:rPr lang="es-CL" sz="1399" b="1" noProof="0" dirty="0">
                <a:solidFill>
                  <a:srgbClr val="E4E8F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Factores organizacionales</a:t>
            </a:r>
          </a:p>
        </p:txBody>
      </p:sp>
      <p:sp>
        <p:nvSpPr>
          <p:cNvPr id="76" name="Freeform 76"/>
          <p:cNvSpPr/>
          <p:nvPr/>
        </p:nvSpPr>
        <p:spPr>
          <a:xfrm rot="5400000">
            <a:off x="5367853" y="5025859"/>
            <a:ext cx="624612" cy="401313"/>
          </a:xfrm>
          <a:custGeom>
            <a:avLst/>
            <a:gdLst/>
            <a:ahLst/>
            <a:cxnLst/>
            <a:rect l="l" t="t" r="r" b="b"/>
            <a:pathLst>
              <a:path w="624612" h="401313">
                <a:moveTo>
                  <a:pt x="0" y="0"/>
                </a:moveTo>
                <a:lnTo>
                  <a:pt x="624612" y="0"/>
                </a:lnTo>
                <a:lnTo>
                  <a:pt x="624612" y="401314"/>
                </a:lnTo>
                <a:lnTo>
                  <a:pt x="0" y="4013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7" name="Freeform 77"/>
          <p:cNvSpPr/>
          <p:nvPr/>
        </p:nvSpPr>
        <p:spPr>
          <a:xfrm rot="5400000">
            <a:off x="5367853" y="6578700"/>
            <a:ext cx="624612" cy="401313"/>
          </a:xfrm>
          <a:custGeom>
            <a:avLst/>
            <a:gdLst/>
            <a:ahLst/>
            <a:cxnLst/>
            <a:rect l="l" t="t" r="r" b="b"/>
            <a:pathLst>
              <a:path w="624612" h="401313">
                <a:moveTo>
                  <a:pt x="0" y="0"/>
                </a:moveTo>
                <a:lnTo>
                  <a:pt x="624612" y="0"/>
                </a:lnTo>
                <a:lnTo>
                  <a:pt x="624612" y="401313"/>
                </a:lnTo>
                <a:lnTo>
                  <a:pt x="0" y="4013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8" name="Freeform 78"/>
          <p:cNvSpPr/>
          <p:nvPr/>
        </p:nvSpPr>
        <p:spPr>
          <a:xfrm rot="5400000">
            <a:off x="5367853" y="8249884"/>
            <a:ext cx="624612" cy="401313"/>
          </a:xfrm>
          <a:custGeom>
            <a:avLst/>
            <a:gdLst/>
            <a:ahLst/>
            <a:cxnLst/>
            <a:rect l="l" t="t" r="r" b="b"/>
            <a:pathLst>
              <a:path w="624612" h="401313">
                <a:moveTo>
                  <a:pt x="0" y="0"/>
                </a:moveTo>
                <a:lnTo>
                  <a:pt x="624612" y="0"/>
                </a:lnTo>
                <a:lnTo>
                  <a:pt x="624612" y="401313"/>
                </a:lnTo>
                <a:lnTo>
                  <a:pt x="0" y="4013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9" name="Freeform 79"/>
          <p:cNvSpPr/>
          <p:nvPr/>
        </p:nvSpPr>
        <p:spPr>
          <a:xfrm rot="5400000">
            <a:off x="10397341" y="3372281"/>
            <a:ext cx="624612" cy="401313"/>
          </a:xfrm>
          <a:custGeom>
            <a:avLst/>
            <a:gdLst/>
            <a:ahLst/>
            <a:cxnLst/>
            <a:rect l="l" t="t" r="r" b="b"/>
            <a:pathLst>
              <a:path w="624612" h="401313">
                <a:moveTo>
                  <a:pt x="0" y="0"/>
                </a:moveTo>
                <a:lnTo>
                  <a:pt x="624612" y="0"/>
                </a:lnTo>
                <a:lnTo>
                  <a:pt x="624612" y="401314"/>
                </a:lnTo>
                <a:lnTo>
                  <a:pt x="0" y="4013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0" name="Freeform 80"/>
          <p:cNvSpPr/>
          <p:nvPr/>
        </p:nvSpPr>
        <p:spPr>
          <a:xfrm rot="5400000">
            <a:off x="10397341" y="5025859"/>
            <a:ext cx="624612" cy="401313"/>
          </a:xfrm>
          <a:custGeom>
            <a:avLst/>
            <a:gdLst/>
            <a:ahLst/>
            <a:cxnLst/>
            <a:rect l="l" t="t" r="r" b="b"/>
            <a:pathLst>
              <a:path w="624612" h="401313">
                <a:moveTo>
                  <a:pt x="0" y="0"/>
                </a:moveTo>
                <a:lnTo>
                  <a:pt x="624612" y="0"/>
                </a:lnTo>
                <a:lnTo>
                  <a:pt x="624612" y="401314"/>
                </a:lnTo>
                <a:lnTo>
                  <a:pt x="0" y="4013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1" name="Freeform 81"/>
          <p:cNvSpPr/>
          <p:nvPr/>
        </p:nvSpPr>
        <p:spPr>
          <a:xfrm rot="5400000">
            <a:off x="10397341" y="6578700"/>
            <a:ext cx="624612" cy="401313"/>
          </a:xfrm>
          <a:custGeom>
            <a:avLst/>
            <a:gdLst/>
            <a:ahLst/>
            <a:cxnLst/>
            <a:rect l="l" t="t" r="r" b="b"/>
            <a:pathLst>
              <a:path w="624612" h="401313">
                <a:moveTo>
                  <a:pt x="0" y="0"/>
                </a:moveTo>
                <a:lnTo>
                  <a:pt x="624612" y="0"/>
                </a:lnTo>
                <a:lnTo>
                  <a:pt x="624612" y="401313"/>
                </a:lnTo>
                <a:lnTo>
                  <a:pt x="0" y="4013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2" name="Freeform 82"/>
          <p:cNvSpPr/>
          <p:nvPr/>
        </p:nvSpPr>
        <p:spPr>
          <a:xfrm rot="5400000">
            <a:off x="10397341" y="8249884"/>
            <a:ext cx="624612" cy="401313"/>
          </a:xfrm>
          <a:custGeom>
            <a:avLst/>
            <a:gdLst/>
            <a:ahLst/>
            <a:cxnLst/>
            <a:rect l="l" t="t" r="r" b="b"/>
            <a:pathLst>
              <a:path w="624612" h="401313">
                <a:moveTo>
                  <a:pt x="0" y="0"/>
                </a:moveTo>
                <a:lnTo>
                  <a:pt x="624612" y="0"/>
                </a:lnTo>
                <a:lnTo>
                  <a:pt x="624612" y="401313"/>
                </a:lnTo>
                <a:lnTo>
                  <a:pt x="0" y="4013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3" name="Freeform 83"/>
          <p:cNvSpPr/>
          <p:nvPr/>
        </p:nvSpPr>
        <p:spPr>
          <a:xfrm rot="5400000">
            <a:off x="15399715" y="3341301"/>
            <a:ext cx="624612" cy="401313"/>
          </a:xfrm>
          <a:custGeom>
            <a:avLst/>
            <a:gdLst/>
            <a:ahLst/>
            <a:cxnLst/>
            <a:rect l="l" t="t" r="r" b="b"/>
            <a:pathLst>
              <a:path w="624612" h="401313">
                <a:moveTo>
                  <a:pt x="0" y="0"/>
                </a:moveTo>
                <a:lnTo>
                  <a:pt x="624612" y="0"/>
                </a:lnTo>
                <a:lnTo>
                  <a:pt x="624612" y="401313"/>
                </a:lnTo>
                <a:lnTo>
                  <a:pt x="0" y="4013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4" name="Freeform 84"/>
          <p:cNvSpPr/>
          <p:nvPr/>
        </p:nvSpPr>
        <p:spPr>
          <a:xfrm rot="5400000">
            <a:off x="15399715" y="5023453"/>
            <a:ext cx="624612" cy="401313"/>
          </a:xfrm>
          <a:custGeom>
            <a:avLst/>
            <a:gdLst/>
            <a:ahLst/>
            <a:cxnLst/>
            <a:rect l="l" t="t" r="r" b="b"/>
            <a:pathLst>
              <a:path w="624612" h="401313">
                <a:moveTo>
                  <a:pt x="0" y="0"/>
                </a:moveTo>
                <a:lnTo>
                  <a:pt x="624612" y="0"/>
                </a:lnTo>
                <a:lnTo>
                  <a:pt x="624612" y="401314"/>
                </a:lnTo>
                <a:lnTo>
                  <a:pt x="0" y="4013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5" name="Freeform 85"/>
          <p:cNvSpPr/>
          <p:nvPr/>
        </p:nvSpPr>
        <p:spPr>
          <a:xfrm rot="5400000">
            <a:off x="15399715" y="6592269"/>
            <a:ext cx="624612" cy="401313"/>
          </a:xfrm>
          <a:custGeom>
            <a:avLst/>
            <a:gdLst/>
            <a:ahLst/>
            <a:cxnLst/>
            <a:rect l="l" t="t" r="r" b="b"/>
            <a:pathLst>
              <a:path w="624612" h="401313">
                <a:moveTo>
                  <a:pt x="0" y="0"/>
                </a:moveTo>
                <a:lnTo>
                  <a:pt x="624612" y="0"/>
                </a:lnTo>
                <a:lnTo>
                  <a:pt x="624612" y="401313"/>
                </a:lnTo>
                <a:lnTo>
                  <a:pt x="0" y="4013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6" name="Freeform 86"/>
          <p:cNvSpPr/>
          <p:nvPr/>
        </p:nvSpPr>
        <p:spPr>
          <a:xfrm rot="5400000">
            <a:off x="15429820" y="8194366"/>
            <a:ext cx="624612" cy="401313"/>
          </a:xfrm>
          <a:custGeom>
            <a:avLst/>
            <a:gdLst/>
            <a:ahLst/>
            <a:cxnLst/>
            <a:rect l="l" t="t" r="r" b="b"/>
            <a:pathLst>
              <a:path w="624612" h="401313">
                <a:moveTo>
                  <a:pt x="0" y="0"/>
                </a:moveTo>
                <a:lnTo>
                  <a:pt x="624612" y="0"/>
                </a:lnTo>
                <a:lnTo>
                  <a:pt x="624612" y="401313"/>
                </a:lnTo>
                <a:lnTo>
                  <a:pt x="0" y="4013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7" name="TextBox 87"/>
          <p:cNvSpPr txBox="1"/>
          <p:nvPr/>
        </p:nvSpPr>
        <p:spPr>
          <a:xfrm>
            <a:off x="3401611" y="2070573"/>
            <a:ext cx="4557094" cy="872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2"/>
              </a:lnSpc>
            </a:pPr>
            <a:r>
              <a:rPr lang="es-CL" sz="1675" b="1" noProof="0" dirty="0">
                <a:solidFill>
                  <a:srgbClr val="E4E8F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Ejemplos: “Bloqueo no aplicado”, “Condición insegura de equipo”, “Supervisión insuficiente”.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431100" y="1951635"/>
            <a:ext cx="4557094" cy="872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2"/>
              </a:lnSpc>
            </a:pPr>
            <a:r>
              <a:rPr lang="es-CL" sz="1675" b="1" noProof="0" dirty="0">
                <a:solidFill>
                  <a:srgbClr val="E4E8F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Ejemplos: “Bloqueo no aplicado”, “Condición insegura de equipo”, “Supervisión insuficiente”.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3360244" y="2025213"/>
            <a:ext cx="4557094" cy="872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2"/>
              </a:lnSpc>
            </a:pPr>
            <a:r>
              <a:rPr lang="es-CL" sz="1675" b="1" noProof="0" dirty="0">
                <a:solidFill>
                  <a:srgbClr val="E4E8F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Ejemplos: “Bloqueo no aplicado”, “Condición insegura de equipo”, “Supervisión insuficiente”.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779045" y="3939169"/>
            <a:ext cx="3805372" cy="72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s-CL" sz="1399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¿Qué control crítico, procedimiento o medida de seguridad no funcionó o no existía?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806961" y="3986794"/>
            <a:ext cx="3805372" cy="72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s-CL" sz="1399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¿Qué control crítico, procedimiento o medida de seguridad no funcionó o no existía?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3807120" y="3939169"/>
            <a:ext cx="3805372" cy="72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s-CL" sz="1399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¿Qué control crítico, procedimiento o medida de seguridad no funcionó o no existía?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3837689" y="5548012"/>
            <a:ext cx="3855384" cy="84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¿Qué hicieron o dejaron de hacer las personas en la tarea?</a:t>
            </a:r>
          </a:p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 “El trabajador asumió que la línea estaba desenergizada”.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8806961" y="5567397"/>
            <a:ext cx="3855384" cy="84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¿Qué hicieron o dejaron de hacer las personas en la tarea?</a:t>
            </a:r>
          </a:p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 “El trabajador asumió que la línea estaba desenergizada”.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3836494" y="5548012"/>
            <a:ext cx="3855384" cy="84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¿Qué hicieron o dejaron de hacer las personas en la tarea?</a:t>
            </a:r>
          </a:p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 “El trabajador asumió que la línea estaba desenergizada”.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779045" y="7168682"/>
            <a:ext cx="3855384" cy="84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¿Qué aspectos del lugar, clima, espacio o presión operacional influyeron?</a:t>
            </a:r>
          </a:p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 “Trabajo bajo presión por cumplir plazo”.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3788869" y="7181432"/>
            <a:ext cx="3855384" cy="84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¿Qué aspectos del lugar, clima, espacio o presión operacional influyeron?</a:t>
            </a:r>
          </a:p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 “Trabajo bajo presión por cumplir plazo”.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8756949" y="7151657"/>
            <a:ext cx="3855384" cy="84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¿Qué aspectos del lugar, clima, espacio o presión operacional influyeron?</a:t>
            </a:r>
          </a:p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 “Trabajo bajo presión por cumplir plazo”.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779045" y="8846166"/>
            <a:ext cx="3855384" cy="84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¿Qué brecha de gestión permitió que ocurriera lo anterior?</a:t>
            </a:r>
          </a:p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 “Falta de verificación formal de procedimiento de bloqueo”.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781955" y="8822764"/>
            <a:ext cx="3855384" cy="84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¿Qué brecha de gestión permitió que ocurriera lo anterior?</a:t>
            </a:r>
          </a:p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 “Falta de verificación formal de procedimiento de bloqueo”.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3814434" y="8786276"/>
            <a:ext cx="3855384" cy="84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¿Qué brecha de gestión permitió que ocurriera lo anterior?</a:t>
            </a:r>
          </a:p>
          <a:p>
            <a:pPr algn="ctr">
              <a:lnSpc>
                <a:spcPts val="1661"/>
              </a:lnSpc>
            </a:pPr>
            <a:r>
              <a:rPr lang="es-CL" sz="1230" b="1" noProof="0" dirty="0">
                <a:solidFill>
                  <a:srgbClr val="374752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 “Falta de verificación formal de procedimiento de bloqueo”.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0" name="Group 10"/>
          <p:cNvGrpSpPr/>
          <p:nvPr/>
        </p:nvGrpSpPr>
        <p:grpSpPr>
          <a:xfrm>
            <a:off x="339555" y="2057400"/>
            <a:ext cx="3390918" cy="592134"/>
            <a:chOff x="0" y="0"/>
            <a:chExt cx="893081" cy="1559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93081" cy="155953"/>
            </a:xfrm>
            <a:custGeom>
              <a:avLst/>
              <a:gdLst/>
              <a:ahLst/>
              <a:cxnLst/>
              <a:rect l="l" t="t" r="r" b="b"/>
              <a:pathLst>
                <a:path w="893081" h="155953">
                  <a:moveTo>
                    <a:pt x="0" y="0"/>
                  </a:moveTo>
                  <a:lnTo>
                    <a:pt x="893081" y="0"/>
                  </a:lnTo>
                  <a:lnTo>
                    <a:pt x="893081" y="155953"/>
                  </a:lnTo>
                  <a:lnTo>
                    <a:pt x="0" y="155953"/>
                  </a:lnTo>
                  <a:close/>
                </a:path>
              </a:pathLst>
            </a:custGeom>
            <a:solidFill>
              <a:srgbClr val="3747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93081" cy="194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 lang="es-CL" noProof="0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900375" y="2057400"/>
            <a:ext cx="3390918" cy="592134"/>
            <a:chOff x="0" y="0"/>
            <a:chExt cx="893081" cy="1559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93081" cy="155953"/>
            </a:xfrm>
            <a:custGeom>
              <a:avLst/>
              <a:gdLst/>
              <a:ahLst/>
              <a:cxnLst/>
              <a:rect l="l" t="t" r="r" b="b"/>
              <a:pathLst>
                <a:path w="893081" h="155953">
                  <a:moveTo>
                    <a:pt x="0" y="0"/>
                  </a:moveTo>
                  <a:lnTo>
                    <a:pt x="893081" y="0"/>
                  </a:lnTo>
                  <a:lnTo>
                    <a:pt x="893081" y="155953"/>
                  </a:lnTo>
                  <a:lnTo>
                    <a:pt x="0" y="155953"/>
                  </a:lnTo>
                  <a:close/>
                </a:path>
              </a:pathLst>
            </a:custGeom>
            <a:solidFill>
              <a:srgbClr val="3747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93081" cy="194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86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462743" y="2057400"/>
            <a:ext cx="3390918" cy="592134"/>
            <a:chOff x="0" y="0"/>
            <a:chExt cx="893081" cy="1559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93081" cy="155953"/>
            </a:xfrm>
            <a:custGeom>
              <a:avLst/>
              <a:gdLst/>
              <a:ahLst/>
              <a:cxnLst/>
              <a:rect l="l" t="t" r="r" b="b"/>
              <a:pathLst>
                <a:path w="893081" h="155953">
                  <a:moveTo>
                    <a:pt x="0" y="0"/>
                  </a:moveTo>
                  <a:lnTo>
                    <a:pt x="893081" y="0"/>
                  </a:lnTo>
                  <a:lnTo>
                    <a:pt x="893081" y="155953"/>
                  </a:lnTo>
                  <a:lnTo>
                    <a:pt x="0" y="155953"/>
                  </a:lnTo>
                  <a:close/>
                </a:path>
              </a:pathLst>
            </a:custGeom>
            <a:solidFill>
              <a:srgbClr val="3747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93081" cy="194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86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025111" y="2057400"/>
            <a:ext cx="3390918" cy="592134"/>
            <a:chOff x="0" y="0"/>
            <a:chExt cx="893081" cy="15595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93081" cy="155953"/>
            </a:xfrm>
            <a:custGeom>
              <a:avLst/>
              <a:gdLst/>
              <a:ahLst/>
              <a:cxnLst/>
              <a:rect l="l" t="t" r="r" b="b"/>
              <a:pathLst>
                <a:path w="893081" h="155953">
                  <a:moveTo>
                    <a:pt x="0" y="0"/>
                  </a:moveTo>
                  <a:lnTo>
                    <a:pt x="893081" y="0"/>
                  </a:lnTo>
                  <a:lnTo>
                    <a:pt x="893081" y="155953"/>
                  </a:lnTo>
                  <a:lnTo>
                    <a:pt x="0" y="155953"/>
                  </a:lnTo>
                  <a:close/>
                </a:path>
              </a:pathLst>
            </a:custGeom>
            <a:solidFill>
              <a:srgbClr val="3747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93081" cy="194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86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587479" y="2057400"/>
            <a:ext cx="3390918" cy="592134"/>
            <a:chOff x="0" y="0"/>
            <a:chExt cx="893081" cy="15595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93081" cy="155953"/>
            </a:xfrm>
            <a:custGeom>
              <a:avLst/>
              <a:gdLst/>
              <a:ahLst/>
              <a:cxnLst/>
              <a:rect l="l" t="t" r="r" b="b"/>
              <a:pathLst>
                <a:path w="893081" h="155953">
                  <a:moveTo>
                    <a:pt x="0" y="0"/>
                  </a:moveTo>
                  <a:lnTo>
                    <a:pt x="893081" y="0"/>
                  </a:lnTo>
                  <a:lnTo>
                    <a:pt x="893081" y="155953"/>
                  </a:lnTo>
                  <a:lnTo>
                    <a:pt x="0" y="155953"/>
                  </a:lnTo>
                  <a:close/>
                </a:path>
              </a:pathLst>
            </a:custGeom>
            <a:solidFill>
              <a:srgbClr val="3747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893081" cy="194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86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39555" y="2747855"/>
            <a:ext cx="3390918" cy="6664847"/>
            <a:chOff x="0" y="0"/>
            <a:chExt cx="10465778" cy="2057047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465777" cy="20570479"/>
            </a:xfrm>
            <a:custGeom>
              <a:avLst/>
              <a:gdLst/>
              <a:ahLst/>
              <a:cxnLst/>
              <a:rect l="l" t="t" r="r" b="b"/>
              <a:pathLst>
                <a:path w="10465777" h="20570479">
                  <a:moveTo>
                    <a:pt x="6849" y="0"/>
                  </a:moveTo>
                  <a:lnTo>
                    <a:pt x="10458928" y="0"/>
                  </a:lnTo>
                  <a:cubicBezTo>
                    <a:pt x="10460744" y="0"/>
                    <a:pt x="10462487" y="722"/>
                    <a:pt x="10463771" y="2006"/>
                  </a:cubicBezTo>
                  <a:cubicBezTo>
                    <a:pt x="10465056" y="3291"/>
                    <a:pt x="10465777" y="5033"/>
                    <a:pt x="10465777" y="6849"/>
                  </a:cubicBezTo>
                  <a:lnTo>
                    <a:pt x="10465777" y="20563630"/>
                  </a:lnTo>
                  <a:cubicBezTo>
                    <a:pt x="10465777" y="20565447"/>
                    <a:pt x="10465056" y="20567188"/>
                    <a:pt x="10463771" y="20568473"/>
                  </a:cubicBezTo>
                  <a:cubicBezTo>
                    <a:pt x="10462487" y="20569758"/>
                    <a:pt x="10460744" y="20570479"/>
                    <a:pt x="10458928" y="20570479"/>
                  </a:cubicBezTo>
                  <a:lnTo>
                    <a:pt x="6849" y="20570479"/>
                  </a:lnTo>
                  <a:cubicBezTo>
                    <a:pt x="5033" y="20570479"/>
                    <a:pt x="3291" y="20569758"/>
                    <a:pt x="2006" y="20568473"/>
                  </a:cubicBezTo>
                  <a:cubicBezTo>
                    <a:pt x="722" y="20567188"/>
                    <a:pt x="0" y="20565447"/>
                    <a:pt x="0" y="20563630"/>
                  </a:cubicBezTo>
                  <a:lnTo>
                    <a:pt x="0" y="6849"/>
                  </a:lnTo>
                  <a:cubicBezTo>
                    <a:pt x="0" y="5033"/>
                    <a:pt x="722" y="3291"/>
                    <a:pt x="2006" y="2006"/>
                  </a:cubicBezTo>
                  <a:cubicBezTo>
                    <a:pt x="3291" y="722"/>
                    <a:pt x="5033" y="0"/>
                    <a:pt x="6849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0465778" cy="20608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900375" y="2747855"/>
            <a:ext cx="3390918" cy="6664847"/>
            <a:chOff x="0" y="0"/>
            <a:chExt cx="10465778" cy="2057047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465777" cy="20570479"/>
            </a:xfrm>
            <a:custGeom>
              <a:avLst/>
              <a:gdLst/>
              <a:ahLst/>
              <a:cxnLst/>
              <a:rect l="l" t="t" r="r" b="b"/>
              <a:pathLst>
                <a:path w="10465777" h="20570479">
                  <a:moveTo>
                    <a:pt x="6849" y="0"/>
                  </a:moveTo>
                  <a:lnTo>
                    <a:pt x="10458928" y="0"/>
                  </a:lnTo>
                  <a:cubicBezTo>
                    <a:pt x="10460744" y="0"/>
                    <a:pt x="10462487" y="722"/>
                    <a:pt x="10463771" y="2006"/>
                  </a:cubicBezTo>
                  <a:cubicBezTo>
                    <a:pt x="10465056" y="3291"/>
                    <a:pt x="10465777" y="5033"/>
                    <a:pt x="10465777" y="6849"/>
                  </a:cubicBezTo>
                  <a:lnTo>
                    <a:pt x="10465777" y="20563630"/>
                  </a:lnTo>
                  <a:cubicBezTo>
                    <a:pt x="10465777" y="20565447"/>
                    <a:pt x="10465056" y="20567188"/>
                    <a:pt x="10463771" y="20568473"/>
                  </a:cubicBezTo>
                  <a:cubicBezTo>
                    <a:pt x="10462487" y="20569758"/>
                    <a:pt x="10460744" y="20570479"/>
                    <a:pt x="10458928" y="20570479"/>
                  </a:cubicBezTo>
                  <a:lnTo>
                    <a:pt x="6849" y="20570479"/>
                  </a:lnTo>
                  <a:cubicBezTo>
                    <a:pt x="5033" y="20570479"/>
                    <a:pt x="3291" y="20569758"/>
                    <a:pt x="2006" y="20568473"/>
                  </a:cubicBezTo>
                  <a:cubicBezTo>
                    <a:pt x="722" y="20567188"/>
                    <a:pt x="0" y="20565447"/>
                    <a:pt x="0" y="20563630"/>
                  </a:cubicBezTo>
                  <a:lnTo>
                    <a:pt x="0" y="6849"/>
                  </a:lnTo>
                  <a:cubicBezTo>
                    <a:pt x="0" y="5033"/>
                    <a:pt x="722" y="3291"/>
                    <a:pt x="2006" y="2006"/>
                  </a:cubicBezTo>
                  <a:cubicBezTo>
                    <a:pt x="3291" y="722"/>
                    <a:pt x="5033" y="0"/>
                    <a:pt x="6849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0465778" cy="20608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462743" y="2747855"/>
            <a:ext cx="3390918" cy="6664847"/>
            <a:chOff x="0" y="0"/>
            <a:chExt cx="10465778" cy="2057047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465777" cy="20570479"/>
            </a:xfrm>
            <a:custGeom>
              <a:avLst/>
              <a:gdLst/>
              <a:ahLst/>
              <a:cxnLst/>
              <a:rect l="l" t="t" r="r" b="b"/>
              <a:pathLst>
                <a:path w="10465777" h="20570479">
                  <a:moveTo>
                    <a:pt x="6849" y="0"/>
                  </a:moveTo>
                  <a:lnTo>
                    <a:pt x="10458928" y="0"/>
                  </a:lnTo>
                  <a:cubicBezTo>
                    <a:pt x="10460744" y="0"/>
                    <a:pt x="10462487" y="722"/>
                    <a:pt x="10463771" y="2006"/>
                  </a:cubicBezTo>
                  <a:cubicBezTo>
                    <a:pt x="10465056" y="3291"/>
                    <a:pt x="10465777" y="5033"/>
                    <a:pt x="10465777" y="6849"/>
                  </a:cubicBezTo>
                  <a:lnTo>
                    <a:pt x="10465777" y="20563630"/>
                  </a:lnTo>
                  <a:cubicBezTo>
                    <a:pt x="10465777" y="20565447"/>
                    <a:pt x="10465056" y="20567188"/>
                    <a:pt x="10463771" y="20568473"/>
                  </a:cubicBezTo>
                  <a:cubicBezTo>
                    <a:pt x="10462487" y="20569758"/>
                    <a:pt x="10460744" y="20570479"/>
                    <a:pt x="10458928" y="20570479"/>
                  </a:cubicBezTo>
                  <a:lnTo>
                    <a:pt x="6849" y="20570479"/>
                  </a:lnTo>
                  <a:cubicBezTo>
                    <a:pt x="5033" y="20570479"/>
                    <a:pt x="3291" y="20569758"/>
                    <a:pt x="2006" y="20568473"/>
                  </a:cubicBezTo>
                  <a:cubicBezTo>
                    <a:pt x="722" y="20567188"/>
                    <a:pt x="0" y="20565447"/>
                    <a:pt x="0" y="20563630"/>
                  </a:cubicBezTo>
                  <a:lnTo>
                    <a:pt x="0" y="6849"/>
                  </a:lnTo>
                  <a:cubicBezTo>
                    <a:pt x="0" y="5033"/>
                    <a:pt x="722" y="3291"/>
                    <a:pt x="2006" y="2006"/>
                  </a:cubicBezTo>
                  <a:cubicBezTo>
                    <a:pt x="3291" y="722"/>
                    <a:pt x="5033" y="0"/>
                    <a:pt x="6849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0465778" cy="20608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25111" y="2747855"/>
            <a:ext cx="3390918" cy="6664847"/>
            <a:chOff x="0" y="0"/>
            <a:chExt cx="10465778" cy="2057047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465777" cy="20570479"/>
            </a:xfrm>
            <a:custGeom>
              <a:avLst/>
              <a:gdLst/>
              <a:ahLst/>
              <a:cxnLst/>
              <a:rect l="l" t="t" r="r" b="b"/>
              <a:pathLst>
                <a:path w="10465777" h="20570479">
                  <a:moveTo>
                    <a:pt x="6849" y="0"/>
                  </a:moveTo>
                  <a:lnTo>
                    <a:pt x="10458928" y="0"/>
                  </a:lnTo>
                  <a:cubicBezTo>
                    <a:pt x="10460744" y="0"/>
                    <a:pt x="10462487" y="722"/>
                    <a:pt x="10463771" y="2006"/>
                  </a:cubicBezTo>
                  <a:cubicBezTo>
                    <a:pt x="10465056" y="3291"/>
                    <a:pt x="10465777" y="5033"/>
                    <a:pt x="10465777" y="6849"/>
                  </a:cubicBezTo>
                  <a:lnTo>
                    <a:pt x="10465777" y="20563630"/>
                  </a:lnTo>
                  <a:cubicBezTo>
                    <a:pt x="10465777" y="20565447"/>
                    <a:pt x="10465056" y="20567188"/>
                    <a:pt x="10463771" y="20568473"/>
                  </a:cubicBezTo>
                  <a:cubicBezTo>
                    <a:pt x="10462487" y="20569758"/>
                    <a:pt x="10460744" y="20570479"/>
                    <a:pt x="10458928" y="20570479"/>
                  </a:cubicBezTo>
                  <a:lnTo>
                    <a:pt x="6849" y="20570479"/>
                  </a:lnTo>
                  <a:cubicBezTo>
                    <a:pt x="5033" y="20570479"/>
                    <a:pt x="3291" y="20569758"/>
                    <a:pt x="2006" y="20568473"/>
                  </a:cubicBezTo>
                  <a:cubicBezTo>
                    <a:pt x="722" y="20567188"/>
                    <a:pt x="0" y="20565447"/>
                    <a:pt x="0" y="20563630"/>
                  </a:cubicBezTo>
                  <a:lnTo>
                    <a:pt x="0" y="6849"/>
                  </a:lnTo>
                  <a:cubicBezTo>
                    <a:pt x="0" y="5033"/>
                    <a:pt x="722" y="3291"/>
                    <a:pt x="2006" y="2006"/>
                  </a:cubicBezTo>
                  <a:cubicBezTo>
                    <a:pt x="3291" y="722"/>
                    <a:pt x="5033" y="0"/>
                    <a:pt x="6849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0465778" cy="20608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4587479" y="2747855"/>
            <a:ext cx="3390918" cy="6664847"/>
            <a:chOff x="0" y="0"/>
            <a:chExt cx="10465778" cy="2057047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465777" cy="20570479"/>
            </a:xfrm>
            <a:custGeom>
              <a:avLst/>
              <a:gdLst/>
              <a:ahLst/>
              <a:cxnLst/>
              <a:rect l="l" t="t" r="r" b="b"/>
              <a:pathLst>
                <a:path w="10465777" h="20570479">
                  <a:moveTo>
                    <a:pt x="6849" y="0"/>
                  </a:moveTo>
                  <a:lnTo>
                    <a:pt x="10458928" y="0"/>
                  </a:lnTo>
                  <a:cubicBezTo>
                    <a:pt x="10460744" y="0"/>
                    <a:pt x="10462487" y="722"/>
                    <a:pt x="10463771" y="2006"/>
                  </a:cubicBezTo>
                  <a:cubicBezTo>
                    <a:pt x="10465056" y="3291"/>
                    <a:pt x="10465777" y="5033"/>
                    <a:pt x="10465777" y="6849"/>
                  </a:cubicBezTo>
                  <a:lnTo>
                    <a:pt x="10465777" y="20563630"/>
                  </a:lnTo>
                  <a:cubicBezTo>
                    <a:pt x="10465777" y="20565447"/>
                    <a:pt x="10465056" y="20567188"/>
                    <a:pt x="10463771" y="20568473"/>
                  </a:cubicBezTo>
                  <a:cubicBezTo>
                    <a:pt x="10462487" y="20569758"/>
                    <a:pt x="10460744" y="20570479"/>
                    <a:pt x="10458928" y="20570479"/>
                  </a:cubicBezTo>
                  <a:lnTo>
                    <a:pt x="6849" y="20570479"/>
                  </a:lnTo>
                  <a:cubicBezTo>
                    <a:pt x="5033" y="20570479"/>
                    <a:pt x="3291" y="20569758"/>
                    <a:pt x="2006" y="20568473"/>
                  </a:cubicBezTo>
                  <a:cubicBezTo>
                    <a:pt x="722" y="20567188"/>
                    <a:pt x="0" y="20565447"/>
                    <a:pt x="0" y="20563630"/>
                  </a:cubicBezTo>
                  <a:lnTo>
                    <a:pt x="0" y="6849"/>
                  </a:lnTo>
                  <a:cubicBezTo>
                    <a:pt x="0" y="5033"/>
                    <a:pt x="722" y="3291"/>
                    <a:pt x="2006" y="2006"/>
                  </a:cubicBezTo>
                  <a:cubicBezTo>
                    <a:pt x="3291" y="722"/>
                    <a:pt x="5033" y="0"/>
                    <a:pt x="6849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0465778" cy="20608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4753743" y="3763959"/>
            <a:ext cx="3048450" cy="4374040"/>
            <a:chOff x="0" y="0"/>
            <a:chExt cx="9408781" cy="1350009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408781" cy="13500098"/>
            </a:xfrm>
            <a:custGeom>
              <a:avLst/>
              <a:gdLst/>
              <a:ahLst/>
              <a:cxnLst/>
              <a:rect l="l" t="t" r="r" b="b"/>
              <a:pathLst>
                <a:path w="9408781" h="13500098">
                  <a:moveTo>
                    <a:pt x="7619" y="0"/>
                  </a:moveTo>
                  <a:lnTo>
                    <a:pt x="9401162" y="0"/>
                  </a:lnTo>
                  <a:cubicBezTo>
                    <a:pt x="9405369" y="0"/>
                    <a:pt x="9408781" y="3411"/>
                    <a:pt x="9408781" y="7619"/>
                  </a:cubicBezTo>
                  <a:lnTo>
                    <a:pt x="9408781" y="13492480"/>
                  </a:lnTo>
                  <a:cubicBezTo>
                    <a:pt x="9408781" y="13494500"/>
                    <a:pt x="9407978" y="13496438"/>
                    <a:pt x="9406549" y="13497868"/>
                  </a:cubicBezTo>
                  <a:cubicBezTo>
                    <a:pt x="9405120" y="13499295"/>
                    <a:pt x="9403183" y="13500098"/>
                    <a:pt x="9401162" y="13500098"/>
                  </a:cubicBezTo>
                  <a:lnTo>
                    <a:pt x="7619" y="13500098"/>
                  </a:lnTo>
                  <a:cubicBezTo>
                    <a:pt x="5598" y="13500098"/>
                    <a:pt x="3660" y="13499295"/>
                    <a:pt x="2232" y="13497868"/>
                  </a:cubicBezTo>
                  <a:cubicBezTo>
                    <a:pt x="803" y="13496438"/>
                    <a:pt x="0" y="13494500"/>
                    <a:pt x="0" y="13492480"/>
                  </a:cubicBezTo>
                  <a:lnTo>
                    <a:pt x="0" y="7619"/>
                  </a:lnTo>
                  <a:cubicBezTo>
                    <a:pt x="0" y="5598"/>
                    <a:pt x="803" y="3660"/>
                    <a:pt x="2232" y="2232"/>
                  </a:cubicBezTo>
                  <a:cubicBezTo>
                    <a:pt x="3660" y="803"/>
                    <a:pt x="5598" y="0"/>
                    <a:pt x="7619" y="0"/>
                  </a:cubicBezTo>
                  <a:close/>
                </a:path>
              </a:pathLst>
            </a:custGeom>
            <a:solidFill>
              <a:srgbClr val="FC3E00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9408781" cy="13538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43" name="Freeform 43"/>
          <p:cNvSpPr/>
          <p:nvPr/>
        </p:nvSpPr>
        <p:spPr>
          <a:xfrm>
            <a:off x="539531" y="296163"/>
            <a:ext cx="770542" cy="642439"/>
          </a:xfrm>
          <a:custGeom>
            <a:avLst/>
            <a:gdLst/>
            <a:ahLst/>
            <a:cxnLst/>
            <a:rect l="l" t="t" r="r" b="b"/>
            <a:pathLst>
              <a:path w="770542" h="642439">
                <a:moveTo>
                  <a:pt x="0" y="0"/>
                </a:moveTo>
                <a:lnTo>
                  <a:pt x="770542" y="0"/>
                </a:lnTo>
                <a:lnTo>
                  <a:pt x="770542" y="642439"/>
                </a:lnTo>
                <a:lnTo>
                  <a:pt x="0" y="6424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4" name="TextBox 44"/>
          <p:cNvSpPr txBox="1"/>
          <p:nvPr/>
        </p:nvSpPr>
        <p:spPr>
          <a:xfrm>
            <a:off x="1605348" y="597968"/>
            <a:ext cx="5979069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CONTROLES CRÍTICOS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05348" y="283793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ANÁLISIS DE CAUSALIDAD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12500" y="2228163"/>
            <a:ext cx="3245027" cy="260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9"/>
              </a:lnSpc>
              <a:spcBef>
                <a:spcPct val="0"/>
              </a:spcBef>
            </a:pPr>
            <a:r>
              <a:rPr lang="es-CL" sz="1773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Factor</a:t>
            </a:r>
            <a:r>
              <a:rPr lang="es-CL" sz="1773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es organizacionales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973320" y="2109100"/>
            <a:ext cx="3245027" cy="498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9"/>
              </a:lnSpc>
              <a:spcBef>
                <a:spcPct val="0"/>
              </a:spcBef>
            </a:pPr>
            <a:r>
              <a:rPr lang="es-CL" sz="1773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</a:t>
            </a:r>
            <a:r>
              <a:rPr lang="es-CL" sz="1773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ndiciones de la tarea o el entorno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35688" y="2109100"/>
            <a:ext cx="3245027" cy="498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9"/>
              </a:lnSpc>
              <a:spcBef>
                <a:spcPct val="0"/>
              </a:spcBef>
            </a:pPr>
            <a:r>
              <a:rPr lang="es-CL" sz="1773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</a:t>
            </a:r>
            <a:r>
              <a:rPr lang="es-CL" sz="1773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ciones individuales o de equipo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091786" y="2099575"/>
            <a:ext cx="3245027" cy="498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9"/>
              </a:lnSpc>
              <a:spcBef>
                <a:spcPct val="0"/>
              </a:spcBef>
            </a:pPr>
            <a:r>
              <a:rPr lang="es-CL" sz="1773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Defe</a:t>
            </a:r>
            <a:r>
              <a:rPr lang="es-CL" sz="1773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nsas ausentes o fallidas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654154" y="2218638"/>
            <a:ext cx="3245027" cy="260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9"/>
              </a:lnSpc>
              <a:spcBef>
                <a:spcPct val="0"/>
              </a:spcBef>
            </a:pPr>
            <a:r>
              <a:rPr lang="es-CL" sz="1773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Ev</a:t>
            </a:r>
            <a:r>
              <a:rPr lang="es-CL" sz="1773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ento Significativo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885369" y="3925884"/>
            <a:ext cx="2829502" cy="401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Descripción breve y objetiva del accidente/incidente investigado.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688"/>
              </a:lnSpc>
            </a:pPr>
            <a:r>
              <a:rPr lang="es-CL" sz="1991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</a:t>
            </a: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 “Trabajador atrapado en equipo de molienda al realizar mantenimiento sin bloqueo.”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447325" y="2956000"/>
            <a:ext cx="3119674" cy="401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Registre brechas de gestión que influyeron en el evento: supervisión, liderazgo, roles, responsabilidades, planificación o controles críticos no verificados.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688"/>
              </a:lnSpc>
            </a:pPr>
            <a:r>
              <a:rPr lang="es-CL" sz="1991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</a:t>
            </a: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: “Ausencia de verificación formal del procedimiento de bloqueo.”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009694" y="2956000"/>
            <a:ext cx="3119674" cy="334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Consigne aspectos del lugar, clima, espacio, orden, limpieza o presión operacional que intervinieron.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688"/>
              </a:lnSpc>
            </a:pPr>
            <a:r>
              <a:rPr lang="es-CL" sz="1991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</a:t>
            </a: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 “Trabajo bajo presión para cumplir plazo.”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7584417" y="2956000"/>
            <a:ext cx="3119674" cy="334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Indique lo que hicieron o dejaron de hacer los trabajadores o supervisores en la ejecución de la tarea.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688"/>
              </a:lnSpc>
            </a:pPr>
            <a:r>
              <a:rPr lang="es-CL" sz="1991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</a:t>
            </a: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 “El trabajador asumió que la línea estaba desenergizada.”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1091786" y="2956000"/>
            <a:ext cx="3324243" cy="3010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Registre controles críticos, procedimientos o medidas de seguridad que no existieron, no se aplicaron o no funcionaron.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688"/>
              </a:lnSpc>
            </a:pPr>
            <a:r>
              <a:rPr lang="es-CL" sz="1991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Ejemplo:</a:t>
            </a: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 “Bloqueo de energía no aplicado.”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237355" y="0"/>
            <a:ext cx="8050645" cy="10324610"/>
            <a:chOff x="0" y="0"/>
            <a:chExt cx="2325475" cy="27192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25475" cy="2719239"/>
            </a:xfrm>
            <a:custGeom>
              <a:avLst/>
              <a:gdLst/>
              <a:ahLst/>
              <a:cxnLst/>
              <a:rect l="l" t="t" r="r" b="b"/>
              <a:pathLst>
                <a:path w="2325475" h="2719239">
                  <a:moveTo>
                    <a:pt x="0" y="0"/>
                  </a:moveTo>
                  <a:lnTo>
                    <a:pt x="2325475" y="0"/>
                  </a:lnTo>
                  <a:lnTo>
                    <a:pt x="2325475" y="2719239"/>
                  </a:lnTo>
                  <a:lnTo>
                    <a:pt x="0" y="2719239"/>
                  </a:lnTo>
                  <a:close/>
                </a:path>
              </a:pathLst>
            </a:custGeom>
            <a:solidFill>
              <a:srgbClr val="737373">
                <a:alpha val="43922"/>
              </a:srgbClr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325475" cy="2747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4"/>
                </a:lnSpc>
              </a:pPr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3510783" y="4623265"/>
            <a:ext cx="13382481" cy="173983"/>
          </a:xfrm>
          <a:custGeom>
            <a:avLst/>
            <a:gdLst/>
            <a:ahLst/>
            <a:cxnLst/>
            <a:rect l="l" t="t" r="r" b="b"/>
            <a:pathLst>
              <a:path w="13382481" h="173983">
                <a:moveTo>
                  <a:pt x="0" y="0"/>
                </a:moveTo>
                <a:lnTo>
                  <a:pt x="13382481" y="0"/>
                </a:lnTo>
                <a:lnTo>
                  <a:pt x="13382481" y="173982"/>
                </a:lnTo>
                <a:lnTo>
                  <a:pt x="0" y="173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60677" b="-158463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853683" y="825909"/>
            <a:ext cx="2473721" cy="1452172"/>
          </a:xfrm>
          <a:custGeom>
            <a:avLst/>
            <a:gdLst/>
            <a:ahLst/>
            <a:cxnLst/>
            <a:rect l="l" t="t" r="r" b="b"/>
            <a:pathLst>
              <a:path w="2473721" h="1452172">
                <a:moveTo>
                  <a:pt x="0" y="0"/>
                </a:moveTo>
                <a:lnTo>
                  <a:pt x="2473720" y="0"/>
                </a:lnTo>
                <a:lnTo>
                  <a:pt x="2473720" y="1452172"/>
                </a:lnTo>
                <a:lnTo>
                  <a:pt x="0" y="1452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3857270" y="825909"/>
            <a:ext cx="1707984" cy="1592695"/>
          </a:xfrm>
          <a:custGeom>
            <a:avLst/>
            <a:gdLst/>
            <a:ahLst/>
            <a:cxnLst/>
            <a:rect l="l" t="t" r="r" b="b"/>
            <a:pathLst>
              <a:path w="1707984" h="1592695">
                <a:moveTo>
                  <a:pt x="0" y="0"/>
                </a:moveTo>
                <a:lnTo>
                  <a:pt x="1707985" y="0"/>
                </a:lnTo>
                <a:lnTo>
                  <a:pt x="1707985" y="1592695"/>
                </a:lnTo>
                <a:lnTo>
                  <a:pt x="0" y="1592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3516137" y="1030415"/>
            <a:ext cx="0" cy="1221272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AutoShape 10"/>
          <p:cNvSpPr/>
          <p:nvPr/>
        </p:nvSpPr>
        <p:spPr>
          <a:xfrm flipH="1">
            <a:off x="11630603" y="8009242"/>
            <a:ext cx="1536" cy="474889"/>
          </a:xfrm>
          <a:prstGeom prst="line">
            <a:avLst/>
          </a:prstGeom>
          <a:ln w="66675" cap="rnd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1" name="Group 11"/>
          <p:cNvGrpSpPr/>
          <p:nvPr/>
        </p:nvGrpSpPr>
        <p:grpSpPr>
          <a:xfrm>
            <a:off x="13484029" y="1816903"/>
            <a:ext cx="1522016" cy="1260965"/>
            <a:chOff x="0" y="0"/>
            <a:chExt cx="2029354" cy="1681287"/>
          </a:xfrm>
        </p:grpSpPr>
        <p:grpSp>
          <p:nvGrpSpPr>
            <p:cNvPr id="12" name="Group 12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1300481" y="1804599"/>
            <a:ext cx="484780" cy="164601"/>
            <a:chOff x="0" y="0"/>
            <a:chExt cx="219260" cy="74447"/>
          </a:xfrm>
        </p:grpSpPr>
        <p:sp>
          <p:nvSpPr>
            <p:cNvPr id="19" name="Freeform 19"/>
            <p:cNvSpPr/>
            <p:nvPr/>
          </p:nvSpPr>
          <p:spPr>
            <a:xfrm>
              <a:off x="44159" y="14753"/>
              <a:ext cx="130942" cy="59693"/>
            </a:xfrm>
            <a:custGeom>
              <a:avLst/>
              <a:gdLst/>
              <a:ahLst/>
              <a:cxnLst/>
              <a:rect l="l" t="t" r="r" b="b"/>
              <a:pathLst>
                <a:path w="130942" h="59693">
                  <a:moveTo>
                    <a:pt x="120286" y="22470"/>
                  </a:moveTo>
                  <a:lnTo>
                    <a:pt x="120286" y="22470"/>
                  </a:lnTo>
                  <a:cubicBezTo>
                    <a:pt x="127685" y="27495"/>
                    <a:pt x="130942" y="36760"/>
                    <a:pt x="128313" y="45309"/>
                  </a:cubicBezTo>
                  <a:cubicBezTo>
                    <a:pt x="125685" y="53859"/>
                    <a:pt x="117786" y="59694"/>
                    <a:pt x="108842" y="59694"/>
                  </a:cubicBezTo>
                  <a:lnTo>
                    <a:pt x="22100" y="59694"/>
                  </a:lnTo>
                  <a:cubicBezTo>
                    <a:pt x="13155" y="59694"/>
                    <a:pt x="5257" y="53859"/>
                    <a:pt x="2629" y="45309"/>
                  </a:cubicBezTo>
                  <a:cubicBezTo>
                    <a:pt x="0" y="36760"/>
                    <a:pt x="3256" y="27495"/>
                    <a:pt x="10656" y="22470"/>
                  </a:cubicBezTo>
                  <a:lnTo>
                    <a:pt x="10656" y="22470"/>
                  </a:lnTo>
                  <a:cubicBezTo>
                    <a:pt x="43745" y="0"/>
                    <a:pt x="87197" y="0"/>
                    <a:pt x="120286" y="2247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259" y="5990"/>
              <a:ext cx="150741" cy="63140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34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839906" y="1925732"/>
            <a:ext cx="1471222" cy="1139832"/>
            <a:chOff x="0" y="0"/>
            <a:chExt cx="711694" cy="5513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1694" cy="551386"/>
            </a:xfrm>
            <a:custGeom>
              <a:avLst/>
              <a:gdLst/>
              <a:ahLst/>
              <a:cxnLst/>
              <a:rect l="l" t="t" r="r" b="b"/>
              <a:pathLst>
                <a:path w="711694" h="551386">
                  <a:moveTo>
                    <a:pt x="0" y="0"/>
                  </a:moveTo>
                  <a:lnTo>
                    <a:pt x="711694" y="0"/>
                  </a:lnTo>
                  <a:lnTo>
                    <a:pt x="711694" y="551386"/>
                  </a:lnTo>
                  <a:lnTo>
                    <a:pt x="0" y="551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711694" cy="579961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34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807" y="1804599"/>
            <a:ext cx="1522016" cy="1260965"/>
            <a:chOff x="0" y="0"/>
            <a:chExt cx="2029354" cy="1681287"/>
          </a:xfrm>
        </p:grpSpPr>
        <p:grpSp>
          <p:nvGrpSpPr>
            <p:cNvPr id="25" name="Group 25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16192807" y="5158716"/>
            <a:ext cx="1522016" cy="1260965"/>
            <a:chOff x="0" y="0"/>
            <a:chExt cx="2029354" cy="1681287"/>
          </a:xfrm>
        </p:grpSpPr>
        <p:grpSp>
          <p:nvGrpSpPr>
            <p:cNvPr id="32" name="Group 32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0839906" y="5151530"/>
            <a:ext cx="1522016" cy="1260965"/>
            <a:chOff x="0" y="0"/>
            <a:chExt cx="2029354" cy="1681287"/>
          </a:xfrm>
        </p:grpSpPr>
        <p:grpSp>
          <p:nvGrpSpPr>
            <p:cNvPr id="39" name="Group 39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0A5D6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357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0A5D67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357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13497213" y="5151530"/>
            <a:ext cx="1522016" cy="1260965"/>
            <a:chOff x="0" y="0"/>
            <a:chExt cx="2029354" cy="1681287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10871131" y="8578834"/>
            <a:ext cx="1534035" cy="1139832"/>
            <a:chOff x="0" y="0"/>
            <a:chExt cx="742079" cy="55138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42079" cy="551386"/>
            </a:xfrm>
            <a:custGeom>
              <a:avLst/>
              <a:gdLst/>
              <a:ahLst/>
              <a:cxnLst/>
              <a:rect l="l" t="t" r="r" b="b"/>
              <a:pathLst>
                <a:path w="742079" h="551386">
                  <a:moveTo>
                    <a:pt x="0" y="0"/>
                  </a:moveTo>
                  <a:lnTo>
                    <a:pt x="742079" y="0"/>
                  </a:lnTo>
                  <a:lnTo>
                    <a:pt x="742079" y="551386"/>
                  </a:lnTo>
                  <a:lnTo>
                    <a:pt x="0" y="551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742079" cy="579961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50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388855" y="8457701"/>
            <a:ext cx="483136" cy="164601"/>
            <a:chOff x="0" y="0"/>
            <a:chExt cx="218516" cy="74447"/>
          </a:xfrm>
        </p:grpSpPr>
        <p:sp>
          <p:nvSpPr>
            <p:cNvPr id="56" name="Freeform 56"/>
            <p:cNvSpPr/>
            <p:nvPr/>
          </p:nvSpPr>
          <p:spPr>
            <a:xfrm>
              <a:off x="43994" y="14767"/>
              <a:ext cx="130528" cy="59680"/>
            </a:xfrm>
            <a:custGeom>
              <a:avLst/>
              <a:gdLst/>
              <a:ahLst/>
              <a:cxnLst/>
              <a:rect l="l" t="t" r="r" b="b"/>
              <a:pathLst>
                <a:path w="130528" h="59680">
                  <a:moveTo>
                    <a:pt x="119893" y="22456"/>
                  </a:moveTo>
                  <a:lnTo>
                    <a:pt x="119893" y="22456"/>
                  </a:lnTo>
                  <a:cubicBezTo>
                    <a:pt x="127284" y="27492"/>
                    <a:pt x="130528" y="36758"/>
                    <a:pt x="127893" y="45304"/>
                  </a:cubicBezTo>
                  <a:cubicBezTo>
                    <a:pt x="125258" y="53850"/>
                    <a:pt x="117360" y="59680"/>
                    <a:pt x="108417" y="59680"/>
                  </a:cubicBezTo>
                  <a:lnTo>
                    <a:pt x="22111" y="59680"/>
                  </a:lnTo>
                  <a:cubicBezTo>
                    <a:pt x="13168" y="59680"/>
                    <a:pt x="5270" y="53850"/>
                    <a:pt x="2635" y="45304"/>
                  </a:cubicBezTo>
                  <a:cubicBezTo>
                    <a:pt x="0" y="36758"/>
                    <a:pt x="3245" y="27492"/>
                    <a:pt x="10635" y="22456"/>
                  </a:cubicBezTo>
                  <a:lnTo>
                    <a:pt x="10635" y="22456"/>
                  </a:lnTo>
                  <a:cubicBezTo>
                    <a:pt x="43593" y="0"/>
                    <a:pt x="86936" y="0"/>
                    <a:pt x="119893" y="22456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143" y="5990"/>
              <a:ext cx="150230" cy="63140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50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170193" y="4838409"/>
            <a:ext cx="176057" cy="177782"/>
            <a:chOff x="0" y="0"/>
            <a:chExt cx="274676" cy="27736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544111" y="8144580"/>
            <a:ext cx="176057" cy="177782"/>
            <a:chOff x="0" y="0"/>
            <a:chExt cx="274676" cy="27736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6865786" y="4845595"/>
            <a:ext cx="176057" cy="177782"/>
            <a:chOff x="0" y="0"/>
            <a:chExt cx="274676" cy="27736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512885" y="4838409"/>
            <a:ext cx="176057" cy="177782"/>
            <a:chOff x="0" y="0"/>
            <a:chExt cx="274676" cy="277367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0A5D67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2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6865786" y="1491478"/>
            <a:ext cx="176057" cy="177782"/>
            <a:chOff x="0" y="0"/>
            <a:chExt cx="274676" cy="277367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157008" y="1503569"/>
            <a:ext cx="176057" cy="177782"/>
            <a:chOff x="0" y="0"/>
            <a:chExt cx="274676" cy="277367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462092" y="1491478"/>
            <a:ext cx="176057" cy="177782"/>
            <a:chOff x="0" y="0"/>
            <a:chExt cx="274676" cy="277367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156217" y="568334"/>
            <a:ext cx="787806" cy="787806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3851134" y="580638"/>
            <a:ext cx="787806" cy="787806"/>
            <a:chOff x="0" y="0"/>
            <a:chExt cx="812800" cy="812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3864318" y="3915265"/>
            <a:ext cx="787806" cy="787806"/>
            <a:chOff x="0" y="0"/>
            <a:chExt cx="812800" cy="812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1238236" y="7221436"/>
            <a:ext cx="787806" cy="787806"/>
            <a:chOff x="0" y="0"/>
            <a:chExt cx="812800" cy="8128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6559912" y="3922451"/>
            <a:ext cx="787806" cy="787806"/>
            <a:chOff x="0" y="0"/>
            <a:chExt cx="812800" cy="8128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1207011" y="3915265"/>
            <a:ext cx="787806" cy="787806"/>
            <a:chOff x="0" y="0"/>
            <a:chExt cx="812800" cy="8128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5D67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2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6559912" y="568334"/>
            <a:ext cx="787806" cy="787806"/>
            <a:chOff x="0" y="0"/>
            <a:chExt cx="812800" cy="8128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100" name="Freeform 100"/>
          <p:cNvSpPr/>
          <p:nvPr/>
        </p:nvSpPr>
        <p:spPr>
          <a:xfrm>
            <a:off x="12723246" y="777833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1" name="Freeform 101"/>
          <p:cNvSpPr/>
          <p:nvPr/>
        </p:nvSpPr>
        <p:spPr>
          <a:xfrm>
            <a:off x="15418362" y="790060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2" name="Freeform 102"/>
          <p:cNvSpPr/>
          <p:nvPr/>
        </p:nvSpPr>
        <p:spPr>
          <a:xfrm rot="-10800000">
            <a:off x="15431686" y="4162537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3" name="Freeform 103"/>
          <p:cNvSpPr/>
          <p:nvPr/>
        </p:nvSpPr>
        <p:spPr>
          <a:xfrm rot="-10800000">
            <a:off x="12736231" y="4150310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5" y="0"/>
                </a:lnTo>
                <a:lnTo>
                  <a:pt x="348665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4" name="Freeform 104"/>
          <p:cNvSpPr/>
          <p:nvPr/>
        </p:nvSpPr>
        <p:spPr>
          <a:xfrm rot="5400000">
            <a:off x="11456091" y="6620258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5" name="Freeform 105"/>
          <p:cNvSpPr/>
          <p:nvPr/>
        </p:nvSpPr>
        <p:spPr>
          <a:xfrm rot="5400000">
            <a:off x="16779482" y="3297299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5" y="0"/>
                </a:lnTo>
                <a:lnTo>
                  <a:pt x="348665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6" name="TextBox 106"/>
          <p:cNvSpPr txBox="1"/>
          <p:nvPr/>
        </p:nvSpPr>
        <p:spPr>
          <a:xfrm>
            <a:off x="811217" y="4715110"/>
            <a:ext cx="7317043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0"/>
              </a:lnSpc>
            </a:pPr>
            <a:r>
              <a:rPr lang="es-CL" sz="5000" b="1" noProof="0" dirty="0">
                <a:solidFill>
                  <a:srgbClr val="36424A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PASO 6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20691" y="9945023"/>
            <a:ext cx="5344563" cy="23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63"/>
              </a:lnSpc>
            </a:pPr>
            <a:r>
              <a:rPr lang="es-CL" sz="1444" noProof="0" dirty="0">
                <a:solidFill>
                  <a:srgbClr val="737373"/>
                </a:solidFill>
                <a:latin typeface="Poppins 1"/>
                <a:ea typeface="Poppins 1"/>
                <a:cs typeface="Poppins 1"/>
                <a:sym typeface="Poppins 1"/>
              </a:rPr>
              <a:t>2025 CODELCO CHILE. TODOS LOS DERECHOS RESERVADOS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853683" y="5451710"/>
            <a:ext cx="7497117" cy="3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8"/>
              </a:lnSpc>
            </a:pPr>
            <a:r>
              <a:rPr lang="es-CL" sz="2800" noProof="0" dirty="0">
                <a:solidFill>
                  <a:srgbClr val="36424A"/>
                </a:solidFill>
                <a:latin typeface="Montserrat 1"/>
                <a:ea typeface="Montserrat 1"/>
                <a:cs typeface="Montserrat 1"/>
                <a:sym typeface="Montserrat 1"/>
              </a:rPr>
              <a:t>Acciones preventivas y correctivas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4466861" y="8211567"/>
            <a:ext cx="3287149" cy="112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s-CL" sz="3995" b="1" noProof="0" dirty="0">
                <a:solidFill>
                  <a:srgbClr val="E9662D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PASOS</a:t>
            </a:r>
          </a:p>
          <a:p>
            <a:pPr algn="l">
              <a:lnSpc>
                <a:spcPts val="2393"/>
              </a:lnSpc>
            </a:pPr>
            <a:r>
              <a:rPr lang="es-CL" sz="2393" noProof="0" dirty="0">
                <a:solidFill>
                  <a:srgbClr val="E9662D"/>
                </a:solidFill>
                <a:latin typeface="Poppins 1"/>
                <a:ea typeface="Poppins 1"/>
                <a:cs typeface="Poppins 1"/>
                <a:sym typeface="Poppins 1"/>
              </a:rPr>
              <a:t>DE LA INVESTIGACIÓN</a:t>
            </a:r>
          </a:p>
          <a:p>
            <a:pPr algn="l">
              <a:lnSpc>
                <a:spcPts val="2393"/>
              </a:lnSpc>
            </a:pPr>
            <a:r>
              <a:rPr lang="es-CL" sz="2393" noProof="0" dirty="0">
                <a:solidFill>
                  <a:srgbClr val="E9662D"/>
                </a:solidFill>
                <a:latin typeface="Poppins 1"/>
                <a:ea typeface="Poppins 1"/>
                <a:cs typeface="Poppins 1"/>
                <a:sym typeface="Poppins 1"/>
              </a:rPr>
              <a:t>ICAM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839906" y="2249079"/>
            <a:ext cx="1471222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Inmediatas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3472010" y="2132346"/>
            <a:ext cx="1534035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Planificación</a:t>
            </a:r>
          </a:p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de la Investigación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6352144" y="2249079"/>
            <a:ext cx="1227295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Recolección de Datos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1300481" y="639680"/>
            <a:ext cx="470895" cy="65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1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4004790" y="651984"/>
            <a:ext cx="470895" cy="65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2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6730343" y="639835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3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6703971" y="3993952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4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4003579" y="3986767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5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1358515" y="4090635"/>
            <a:ext cx="470895" cy="55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70"/>
              </a:lnSpc>
              <a:spcBef>
                <a:spcPct val="0"/>
              </a:spcBef>
            </a:pPr>
            <a:r>
              <a:rPr lang="es-CL" sz="3703" b="1" u="none" strike="noStrike" noProof="0" dirty="0">
                <a:solidFill>
                  <a:srgbClr val="0A5D67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6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1401096" y="7292938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7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6266495" y="5603196"/>
            <a:ext cx="1406902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Organización de Datos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3704898" y="5472864"/>
            <a:ext cx="1068258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Análisis Causal (ICAM)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915205" y="5574200"/>
            <a:ext cx="1396045" cy="594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6"/>
              </a:lnSpc>
              <a:spcBef>
                <a:spcPct val="0"/>
              </a:spcBef>
            </a:pPr>
            <a:r>
              <a:rPr lang="es-CL" sz="1208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preventivas y correctivas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913398" y="8773144"/>
            <a:ext cx="1438850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Informe de investigación</a:t>
            </a:r>
          </a:p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y aprendizaje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3431377" y="7584746"/>
            <a:ext cx="1723445" cy="209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52"/>
              </a:lnSpc>
            </a:pPr>
            <a:r>
              <a:rPr lang="es-CL" sz="15752" noProof="0" dirty="0">
                <a:solidFill>
                  <a:srgbClr val="E9662D"/>
                </a:solidFill>
                <a:latin typeface="Anton"/>
                <a:ea typeface="Anton"/>
                <a:cs typeface="Anton"/>
                <a:sym typeface="Anton"/>
              </a:rPr>
              <a:t>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69763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Freeform 11"/>
          <p:cNvSpPr/>
          <p:nvPr/>
        </p:nvSpPr>
        <p:spPr>
          <a:xfrm>
            <a:off x="625751" y="272920"/>
            <a:ext cx="743499" cy="755780"/>
          </a:xfrm>
          <a:custGeom>
            <a:avLst/>
            <a:gdLst/>
            <a:ahLst/>
            <a:cxnLst/>
            <a:rect l="l" t="t" r="r" b="b"/>
            <a:pathLst>
              <a:path w="743499" h="755780">
                <a:moveTo>
                  <a:pt x="0" y="0"/>
                </a:moveTo>
                <a:lnTo>
                  <a:pt x="743499" y="0"/>
                </a:lnTo>
                <a:lnTo>
                  <a:pt x="743499" y="755780"/>
                </a:lnTo>
                <a:lnTo>
                  <a:pt x="0" y="755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Box 12"/>
          <p:cNvSpPr txBox="1"/>
          <p:nvPr/>
        </p:nvSpPr>
        <p:spPr>
          <a:xfrm>
            <a:off x="1605348" y="607493"/>
            <a:ext cx="5979069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CORTO PLAZO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5348" y="313968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ACCIONES CORRECTIVAS Y PREVENTIVAS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AE893B63-2DAC-D194-C8FF-2585F0715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344584"/>
              </p:ext>
            </p:extLst>
          </p:nvPr>
        </p:nvGraphicFramePr>
        <p:xfrm>
          <a:off x="381000" y="2261797"/>
          <a:ext cx="17525999" cy="7148897"/>
        </p:xfrm>
        <a:graphic>
          <a:graphicData uri="http://schemas.openxmlformats.org/drawingml/2006/table">
            <a:tbl>
              <a:tblPr/>
              <a:tblGrid>
                <a:gridCol w="467360">
                  <a:extLst>
                    <a:ext uri="{9D8B030D-6E8A-4147-A177-3AD203B41FA5}">
                      <a16:colId xmlns:a16="http://schemas.microsoft.com/office/drawing/2014/main" val="1261007305"/>
                    </a:ext>
                  </a:extLst>
                </a:gridCol>
                <a:gridCol w="3325179">
                  <a:extLst>
                    <a:ext uri="{9D8B030D-6E8A-4147-A177-3AD203B41FA5}">
                      <a16:colId xmlns:a16="http://schemas.microsoft.com/office/drawing/2014/main" val="4004451001"/>
                    </a:ext>
                  </a:extLst>
                </a:gridCol>
                <a:gridCol w="3433365">
                  <a:extLst>
                    <a:ext uri="{9D8B030D-6E8A-4147-A177-3AD203B41FA5}">
                      <a16:colId xmlns:a16="http://schemas.microsoft.com/office/drawing/2014/main" val="464023534"/>
                    </a:ext>
                  </a:extLst>
                </a:gridCol>
                <a:gridCol w="3433365">
                  <a:extLst>
                    <a:ext uri="{9D8B030D-6E8A-4147-A177-3AD203B41FA5}">
                      <a16:colId xmlns:a16="http://schemas.microsoft.com/office/drawing/2014/main" val="470395137"/>
                    </a:ext>
                  </a:extLst>
                </a:gridCol>
                <a:gridCol w="3433365">
                  <a:extLst>
                    <a:ext uri="{9D8B030D-6E8A-4147-A177-3AD203B41FA5}">
                      <a16:colId xmlns:a16="http://schemas.microsoft.com/office/drawing/2014/main" val="2802844652"/>
                    </a:ext>
                  </a:extLst>
                </a:gridCol>
                <a:gridCol w="3433365">
                  <a:extLst>
                    <a:ext uri="{9D8B030D-6E8A-4147-A177-3AD203B41FA5}">
                      <a16:colId xmlns:a16="http://schemas.microsoft.com/office/drawing/2014/main" val="726797138"/>
                    </a:ext>
                  </a:extLst>
                </a:gridCol>
              </a:tblGrid>
              <a:tr h="98187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N°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Defensas ausentes o fallidas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Acción correctiva/ preventiva 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Responsable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Jerarquía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Fecha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169568"/>
                  </a:ext>
                </a:extLst>
              </a:tr>
              <a:tr h="173649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Acceso sin bloqueo en equipo crítico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Instalar enclavamiento automático que impida intervenir el equipo sin bloqueo aplicado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Área Ingeniería de Mantenimiento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Control de Ingeniería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25 sept 2025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989045"/>
                  </a:ext>
                </a:extLst>
              </a:tr>
              <a:tr h="151230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Uso de maquinaria con sistema obsoleto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Sustituir el sistema de mando manual por mando a distancia con enclavamiento de seguridad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Superintendente de Proyectos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Sustitución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28 sept 2025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857421"/>
                  </a:ext>
                </a:extLst>
              </a:tr>
              <a:tr h="145911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3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269289"/>
                  </a:ext>
                </a:extLst>
              </a:tr>
              <a:tr h="145911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4</a:t>
                      </a: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42137" marR="42137" marT="21068" marB="21068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639138"/>
                  </a:ext>
                </a:extLst>
              </a:tr>
            </a:tbl>
          </a:graphicData>
        </a:graphic>
      </p:graphicFrame>
      <p:sp>
        <p:nvSpPr>
          <p:cNvPr id="16" name="Rectangle 1">
            <a:extLst>
              <a:ext uri="{FF2B5EF4-FFF2-40B4-BE49-F238E27FC236}">
                <a16:creationId xmlns:a16="http://schemas.microsoft.com/office/drawing/2014/main" id="{3A500AE1-A10D-CEF0-4645-7D6321876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285871C0-0F62-652D-72A7-BF3C478B99FB}"/>
              </a:ext>
            </a:extLst>
          </p:cNvPr>
          <p:cNvSpPr txBox="1"/>
          <p:nvPr/>
        </p:nvSpPr>
        <p:spPr>
          <a:xfrm>
            <a:off x="914400" y="9736705"/>
            <a:ext cx="16205685" cy="302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200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* </a:t>
            </a:r>
            <a:r>
              <a:rPr lang="es-MX" sz="1200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Las acciones aquí registradas son de carácter referencial y deberán ajustarse de acuerdo con los hallazgos específicos de cada investigación, priorizando siempre la jerarquía de controles establecida.</a:t>
            </a:r>
            <a:r>
              <a:rPr lang="es-CL" sz="1200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563738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Freeform 11"/>
          <p:cNvSpPr/>
          <p:nvPr/>
        </p:nvSpPr>
        <p:spPr>
          <a:xfrm>
            <a:off x="568055" y="286682"/>
            <a:ext cx="722968" cy="722968"/>
          </a:xfrm>
          <a:custGeom>
            <a:avLst/>
            <a:gdLst/>
            <a:ahLst/>
            <a:cxnLst/>
            <a:rect l="l" t="t" r="r" b="b"/>
            <a:pathLst>
              <a:path w="722968" h="722968">
                <a:moveTo>
                  <a:pt x="0" y="0"/>
                </a:moveTo>
                <a:lnTo>
                  <a:pt x="722968" y="0"/>
                </a:lnTo>
                <a:lnTo>
                  <a:pt x="722968" y="722968"/>
                </a:lnTo>
                <a:lnTo>
                  <a:pt x="0" y="7229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Box 12"/>
          <p:cNvSpPr txBox="1"/>
          <p:nvPr/>
        </p:nvSpPr>
        <p:spPr>
          <a:xfrm>
            <a:off x="1605348" y="607493"/>
            <a:ext cx="5979069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LARGO PLAZO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5348" y="313968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ACCIONES CORRECTIVAS Y PREVENTIVAS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AA5FECDC-D236-935E-7023-65364877F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805219"/>
              </p:ext>
            </p:extLst>
          </p:nvPr>
        </p:nvGraphicFramePr>
        <p:xfrm>
          <a:off x="304800" y="1857946"/>
          <a:ext cx="17678399" cy="7463854"/>
        </p:xfrm>
        <a:graphic>
          <a:graphicData uri="http://schemas.openxmlformats.org/drawingml/2006/table">
            <a:tbl>
              <a:tblPr/>
              <a:tblGrid>
                <a:gridCol w="657800">
                  <a:extLst>
                    <a:ext uri="{9D8B030D-6E8A-4147-A177-3AD203B41FA5}">
                      <a16:colId xmlns:a16="http://schemas.microsoft.com/office/drawing/2014/main" val="3376866955"/>
                    </a:ext>
                  </a:extLst>
                </a:gridCol>
                <a:gridCol w="3204971">
                  <a:extLst>
                    <a:ext uri="{9D8B030D-6E8A-4147-A177-3AD203B41FA5}">
                      <a16:colId xmlns:a16="http://schemas.microsoft.com/office/drawing/2014/main" val="356827605"/>
                    </a:ext>
                  </a:extLst>
                </a:gridCol>
                <a:gridCol w="3453907">
                  <a:extLst>
                    <a:ext uri="{9D8B030D-6E8A-4147-A177-3AD203B41FA5}">
                      <a16:colId xmlns:a16="http://schemas.microsoft.com/office/drawing/2014/main" val="3120855094"/>
                    </a:ext>
                  </a:extLst>
                </a:gridCol>
                <a:gridCol w="3453907">
                  <a:extLst>
                    <a:ext uri="{9D8B030D-6E8A-4147-A177-3AD203B41FA5}">
                      <a16:colId xmlns:a16="http://schemas.microsoft.com/office/drawing/2014/main" val="819980393"/>
                    </a:ext>
                  </a:extLst>
                </a:gridCol>
                <a:gridCol w="3453907">
                  <a:extLst>
                    <a:ext uri="{9D8B030D-6E8A-4147-A177-3AD203B41FA5}">
                      <a16:colId xmlns:a16="http://schemas.microsoft.com/office/drawing/2014/main" val="3375286266"/>
                    </a:ext>
                  </a:extLst>
                </a:gridCol>
                <a:gridCol w="3453907">
                  <a:extLst>
                    <a:ext uri="{9D8B030D-6E8A-4147-A177-3AD203B41FA5}">
                      <a16:colId xmlns:a16="http://schemas.microsoft.com/office/drawing/2014/main" val="3601614321"/>
                    </a:ext>
                  </a:extLst>
                </a:gridCol>
              </a:tblGrid>
              <a:tr h="64988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 dirty="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N°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Defensas ausentes o fallidas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Acción correctiva/ preventiva 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Responsable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Jerarquía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Fecha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16778"/>
                  </a:ext>
                </a:extLst>
              </a:tr>
              <a:tr h="191599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Bloqueo de energía no aplicado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Implementar sistema automatizado de enclavamiento que impida operar equipos sin bloqueo previo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Superintendencia de Mantenimiento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Ingeniería (control físico)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30 jun 2025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850778"/>
                  </a:ext>
                </a:extLst>
              </a:tr>
              <a:tr h="218338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4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Falta de capacitación específica en bloqueo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4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Desarrollar e implementar programa de capacitación anual en bloqueo/etiquetado con evaluación práctica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Gerencia de SSO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Administrativo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31 ago 2025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479979"/>
                  </a:ext>
                </a:extLst>
              </a:tr>
              <a:tr h="164860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3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Supervisión insuficiente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MX" sz="14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Crear un plan de inspecciones de supervisión documentadas con seguimiento trimestral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Jefatura de Operaciones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Administrativo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30 sept 2025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679328"/>
                  </a:ext>
                </a:extLst>
              </a:tr>
              <a:tr h="106597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400" b="1" kern="1200">
                          <a:solidFill>
                            <a:srgbClr val="EBEBE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4</a:t>
                      </a: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s-CL" sz="14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35317" marR="35317" marT="17659" marB="17659" anchor="ctr">
                    <a:lnL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378029"/>
                  </a:ext>
                </a:extLst>
              </a:tr>
            </a:tbl>
          </a:graphicData>
        </a:graphic>
      </p:graphicFrame>
      <p:sp>
        <p:nvSpPr>
          <p:cNvPr id="16" name="Rectangle 1">
            <a:extLst>
              <a:ext uri="{FF2B5EF4-FFF2-40B4-BE49-F238E27FC236}">
                <a16:creationId xmlns:a16="http://schemas.microsoft.com/office/drawing/2014/main" id="{9DC4C5E6-BDD6-5836-F5B7-8CEB76576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3" y="1589088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9B1ABBE3-06CE-5201-3D67-4804B03FC793}"/>
              </a:ext>
            </a:extLst>
          </p:cNvPr>
          <p:cNvSpPr txBox="1"/>
          <p:nvPr/>
        </p:nvSpPr>
        <p:spPr>
          <a:xfrm>
            <a:off x="914400" y="9736705"/>
            <a:ext cx="16205685" cy="302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200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* </a:t>
            </a:r>
            <a:r>
              <a:rPr lang="es-MX" sz="1200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Las acciones aquí registradas son de carácter referencial y deberán ajustarse de acuerdo con los hallazgos específicos de cada investigación, priorizando siempre la jerarquía de controles establecida.</a:t>
            </a:r>
            <a:r>
              <a:rPr lang="es-CL" sz="1200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563738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568055" y="286682"/>
            <a:ext cx="722968" cy="722968"/>
          </a:xfrm>
          <a:custGeom>
            <a:avLst/>
            <a:gdLst/>
            <a:ahLst/>
            <a:cxnLst/>
            <a:rect l="l" t="t" r="r" b="b"/>
            <a:pathLst>
              <a:path w="722968" h="722968">
                <a:moveTo>
                  <a:pt x="0" y="0"/>
                </a:moveTo>
                <a:lnTo>
                  <a:pt x="722968" y="0"/>
                </a:lnTo>
                <a:lnTo>
                  <a:pt x="722968" y="722968"/>
                </a:lnTo>
                <a:lnTo>
                  <a:pt x="0" y="7229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605348" y="607493"/>
            <a:ext cx="5979069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HALLAZGOS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5348" y="313968"/>
            <a:ext cx="6087726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ACCIONES CORRECTIVAS Y PREVENTIVAS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14318" y="2165929"/>
            <a:ext cx="7390027" cy="7302194"/>
            <a:chOff x="0" y="0"/>
            <a:chExt cx="22808686" cy="225375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808685" cy="22537595"/>
            </a:xfrm>
            <a:custGeom>
              <a:avLst/>
              <a:gdLst/>
              <a:ahLst/>
              <a:cxnLst/>
              <a:rect l="l" t="t" r="r" b="b"/>
              <a:pathLst>
                <a:path w="22808685" h="22537595">
                  <a:moveTo>
                    <a:pt x="3143" y="0"/>
                  </a:moveTo>
                  <a:lnTo>
                    <a:pt x="22805543" y="0"/>
                  </a:lnTo>
                  <a:cubicBezTo>
                    <a:pt x="22806375" y="0"/>
                    <a:pt x="22807175" y="331"/>
                    <a:pt x="22807764" y="921"/>
                  </a:cubicBezTo>
                  <a:cubicBezTo>
                    <a:pt x="22808354" y="1510"/>
                    <a:pt x="22808685" y="2309"/>
                    <a:pt x="22808685" y="3143"/>
                  </a:cubicBezTo>
                  <a:lnTo>
                    <a:pt x="22808685" y="22534452"/>
                  </a:lnTo>
                  <a:cubicBezTo>
                    <a:pt x="22808685" y="22536187"/>
                    <a:pt x="22807278" y="22537595"/>
                    <a:pt x="22805543" y="22537595"/>
                  </a:cubicBezTo>
                  <a:lnTo>
                    <a:pt x="3143" y="22537595"/>
                  </a:lnTo>
                  <a:cubicBezTo>
                    <a:pt x="2309" y="22537595"/>
                    <a:pt x="1510" y="22537263"/>
                    <a:pt x="921" y="22536674"/>
                  </a:cubicBezTo>
                  <a:cubicBezTo>
                    <a:pt x="331" y="22536085"/>
                    <a:pt x="0" y="22535285"/>
                    <a:pt x="0" y="22534452"/>
                  </a:cubicBezTo>
                  <a:lnTo>
                    <a:pt x="0" y="3143"/>
                  </a:lnTo>
                  <a:cubicBezTo>
                    <a:pt x="0" y="1407"/>
                    <a:pt x="1407" y="0"/>
                    <a:pt x="3143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2808686" cy="22575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04195" y="2350246"/>
            <a:ext cx="6610273" cy="7010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s-CL" sz="1991" b="1" i="1" noProof="0" dirty="0">
                <a:solidFill>
                  <a:srgbClr val="545454"/>
                </a:solidFill>
                <a:latin typeface="Poppins 1 Bold Italics"/>
                <a:ea typeface="Poppins 1 Bold Italics"/>
                <a:cs typeface="Poppins 1 Bold Italics"/>
                <a:sym typeface="Poppins 1 Bold Italics"/>
              </a:rPr>
              <a:t>Ejemplo de llenado:</a:t>
            </a:r>
          </a:p>
          <a:p>
            <a:pPr algn="just">
              <a:lnSpc>
                <a:spcPts val="2688"/>
              </a:lnSpc>
            </a:pPr>
            <a:endParaRPr lang="es-CL" sz="1991" b="1" i="1" noProof="0" dirty="0">
              <a:solidFill>
                <a:srgbClr val="545454"/>
              </a:solidFill>
              <a:latin typeface="Poppins 1 Bold Italics"/>
              <a:ea typeface="Poppins 1 Bold Italics"/>
              <a:cs typeface="Poppins 1 Bold Italics"/>
              <a:sym typeface="Poppins 1 Bold Italics"/>
            </a:endParaRPr>
          </a:p>
          <a:p>
            <a:pPr algn="just">
              <a:lnSpc>
                <a:spcPts val="2688"/>
              </a:lnSpc>
            </a:pPr>
            <a:r>
              <a:rPr lang="es-CL" sz="1991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Hallazgos identificados:</a:t>
            </a:r>
          </a:p>
          <a:p>
            <a:pPr algn="just">
              <a:lnSpc>
                <a:spcPts val="2688"/>
              </a:lnSpc>
            </a:pPr>
            <a:endParaRPr lang="es-CL" sz="1991" b="1" noProof="0" dirty="0">
              <a:solidFill>
                <a:srgbClr val="545454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  <a:p>
            <a:pPr marL="429917" lvl="1" indent="-214959" algn="just">
              <a:lnSpc>
                <a:spcPts val="2688"/>
              </a:lnSpc>
              <a:buAutoNum type="arabicPeriod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Inexistencia de procedimiento formal de bloqueo y etiquetado en el área de mantenimiento.</a:t>
            </a:r>
          </a:p>
          <a:p>
            <a:pPr marL="429917" lvl="1" indent="-214959" algn="just">
              <a:lnSpc>
                <a:spcPts val="2688"/>
              </a:lnSpc>
              <a:buAutoNum type="arabicPeriod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Supervisión insuficiente durante tareas críticas.</a:t>
            </a:r>
          </a:p>
          <a:p>
            <a:pPr marL="429917" lvl="1" indent="-214959" algn="just">
              <a:lnSpc>
                <a:spcPts val="2688"/>
              </a:lnSpc>
              <a:buAutoNum type="arabicPeriod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Alta presión por plazos de producción que afectó la calidad de la gestión preventiva.</a:t>
            </a:r>
          </a:p>
          <a:p>
            <a:pPr marL="429917" lvl="1" indent="-214959" algn="just">
              <a:lnSpc>
                <a:spcPts val="2688"/>
              </a:lnSpc>
              <a:buAutoNum type="arabicPeriod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Capacitación teórica existente, pero sin verificación práctica en terreno.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just">
              <a:lnSpc>
                <a:spcPts val="2688"/>
              </a:lnSpc>
            </a:pPr>
            <a:r>
              <a:rPr lang="es-CL" sz="1991" b="1" noProof="0" dirty="0">
                <a:solidFill>
                  <a:srgbClr val="54545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Hallazgos positivos (si aplica)</a:t>
            </a: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: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El equipo de trabajo reaccionó de forma rápida para detener la actividad.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noProof="0" dirty="0">
                <a:solidFill>
                  <a:srgbClr val="545454"/>
                </a:solidFill>
                <a:latin typeface="Poppins 1"/>
                <a:ea typeface="Poppins 1"/>
                <a:cs typeface="Poppins 1"/>
                <a:sym typeface="Poppins 1"/>
              </a:rPr>
              <a:t>Existía señalización adecuada en la zona, aunque no se siguió correctamente.</a:t>
            </a:r>
          </a:p>
          <a:p>
            <a:pPr algn="just">
              <a:lnSpc>
                <a:spcPts val="2688"/>
              </a:lnSpc>
            </a:pPr>
            <a:endParaRPr lang="es-CL" sz="1991" noProof="0" dirty="0">
              <a:solidFill>
                <a:srgbClr val="545454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9494703" y="2165929"/>
            <a:ext cx="8023167" cy="286723"/>
            <a:chOff x="0" y="0"/>
            <a:chExt cx="2744625" cy="9808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44625" cy="98084"/>
            </a:xfrm>
            <a:custGeom>
              <a:avLst/>
              <a:gdLst/>
              <a:ahLst/>
              <a:cxnLst/>
              <a:rect l="l" t="t" r="r" b="b"/>
              <a:pathLst>
                <a:path w="2744625" h="98084">
                  <a:moveTo>
                    <a:pt x="19299" y="0"/>
                  </a:moveTo>
                  <a:lnTo>
                    <a:pt x="2725327" y="0"/>
                  </a:lnTo>
                  <a:cubicBezTo>
                    <a:pt x="2735985" y="0"/>
                    <a:pt x="2744625" y="8640"/>
                    <a:pt x="2744625" y="19299"/>
                  </a:cubicBezTo>
                  <a:lnTo>
                    <a:pt x="2744625" y="78785"/>
                  </a:lnTo>
                  <a:cubicBezTo>
                    <a:pt x="2744625" y="83904"/>
                    <a:pt x="2742592" y="88813"/>
                    <a:pt x="2738973" y="92432"/>
                  </a:cubicBezTo>
                  <a:cubicBezTo>
                    <a:pt x="2735354" y="96051"/>
                    <a:pt x="2730445" y="98084"/>
                    <a:pt x="2725327" y="98084"/>
                  </a:cubicBezTo>
                  <a:lnTo>
                    <a:pt x="19299" y="98084"/>
                  </a:lnTo>
                  <a:cubicBezTo>
                    <a:pt x="14181" y="98084"/>
                    <a:pt x="9272" y="96051"/>
                    <a:pt x="5653" y="92432"/>
                  </a:cubicBezTo>
                  <a:cubicBezTo>
                    <a:pt x="2033" y="88813"/>
                    <a:pt x="0" y="83904"/>
                    <a:pt x="0" y="78785"/>
                  </a:cubicBezTo>
                  <a:lnTo>
                    <a:pt x="0" y="19299"/>
                  </a:lnTo>
                  <a:cubicBezTo>
                    <a:pt x="0" y="14181"/>
                    <a:pt x="2033" y="9272"/>
                    <a:pt x="5653" y="5653"/>
                  </a:cubicBezTo>
                  <a:cubicBezTo>
                    <a:pt x="9272" y="2033"/>
                    <a:pt x="14181" y="0"/>
                    <a:pt x="192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0000"/>
                  </a:srgbClr>
                </a:gs>
                <a:gs pos="100000">
                  <a:srgbClr val="FF914D">
                    <a:alpha val="9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2744625" cy="117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001543" y="2197846"/>
            <a:ext cx="3009486" cy="260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9"/>
              </a:lnSpc>
              <a:spcBef>
                <a:spcPct val="0"/>
              </a:spcBef>
            </a:pPr>
            <a:r>
              <a:rPr lang="es-CL" sz="1773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Respaldo fotográfico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494703" y="2452652"/>
            <a:ext cx="8023167" cy="7015471"/>
            <a:chOff x="0" y="0"/>
            <a:chExt cx="24762817" cy="2165264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4762817" cy="21652649"/>
            </a:xfrm>
            <a:custGeom>
              <a:avLst/>
              <a:gdLst/>
              <a:ahLst/>
              <a:cxnLst/>
              <a:rect l="l" t="t" r="r" b="b"/>
              <a:pathLst>
                <a:path w="24762817" h="21652649">
                  <a:moveTo>
                    <a:pt x="2895" y="0"/>
                  </a:moveTo>
                  <a:lnTo>
                    <a:pt x="24759923" y="0"/>
                  </a:lnTo>
                  <a:cubicBezTo>
                    <a:pt x="24761521" y="0"/>
                    <a:pt x="24762817" y="1296"/>
                    <a:pt x="24762817" y="2895"/>
                  </a:cubicBezTo>
                  <a:lnTo>
                    <a:pt x="24762817" y="21649754"/>
                  </a:lnTo>
                  <a:cubicBezTo>
                    <a:pt x="24762817" y="21651353"/>
                    <a:pt x="24761521" y="21652649"/>
                    <a:pt x="24759923" y="21652649"/>
                  </a:cubicBezTo>
                  <a:lnTo>
                    <a:pt x="2895" y="21652649"/>
                  </a:lnTo>
                  <a:cubicBezTo>
                    <a:pt x="1296" y="21652649"/>
                    <a:pt x="0" y="21651353"/>
                    <a:pt x="0" y="21649754"/>
                  </a:cubicBezTo>
                  <a:lnTo>
                    <a:pt x="0" y="2895"/>
                  </a:lnTo>
                  <a:cubicBezTo>
                    <a:pt x="0" y="1296"/>
                    <a:pt x="1296" y="0"/>
                    <a:pt x="2895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4762817" cy="21690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237355" y="0"/>
            <a:ext cx="8087709" cy="10324610"/>
            <a:chOff x="0" y="0"/>
            <a:chExt cx="2325475" cy="27192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25475" cy="2719239"/>
            </a:xfrm>
            <a:custGeom>
              <a:avLst/>
              <a:gdLst/>
              <a:ahLst/>
              <a:cxnLst/>
              <a:rect l="l" t="t" r="r" b="b"/>
              <a:pathLst>
                <a:path w="2325475" h="2719239">
                  <a:moveTo>
                    <a:pt x="0" y="0"/>
                  </a:moveTo>
                  <a:lnTo>
                    <a:pt x="2325475" y="0"/>
                  </a:lnTo>
                  <a:lnTo>
                    <a:pt x="2325475" y="2719239"/>
                  </a:lnTo>
                  <a:lnTo>
                    <a:pt x="0" y="2719239"/>
                  </a:lnTo>
                  <a:close/>
                </a:path>
              </a:pathLst>
            </a:custGeom>
            <a:solidFill>
              <a:srgbClr val="737373">
                <a:alpha val="43922"/>
              </a:srgbClr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325475" cy="2747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34"/>
                </a:lnSpc>
              </a:pPr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3510783" y="4623265"/>
            <a:ext cx="13382481" cy="173983"/>
          </a:xfrm>
          <a:custGeom>
            <a:avLst/>
            <a:gdLst/>
            <a:ahLst/>
            <a:cxnLst/>
            <a:rect l="l" t="t" r="r" b="b"/>
            <a:pathLst>
              <a:path w="13382481" h="173983">
                <a:moveTo>
                  <a:pt x="0" y="0"/>
                </a:moveTo>
                <a:lnTo>
                  <a:pt x="13382481" y="0"/>
                </a:lnTo>
                <a:lnTo>
                  <a:pt x="13382481" y="173982"/>
                </a:lnTo>
                <a:lnTo>
                  <a:pt x="0" y="173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60677" b="-158463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853683" y="825909"/>
            <a:ext cx="2473721" cy="1452172"/>
          </a:xfrm>
          <a:custGeom>
            <a:avLst/>
            <a:gdLst/>
            <a:ahLst/>
            <a:cxnLst/>
            <a:rect l="l" t="t" r="r" b="b"/>
            <a:pathLst>
              <a:path w="2473721" h="1452172">
                <a:moveTo>
                  <a:pt x="0" y="0"/>
                </a:moveTo>
                <a:lnTo>
                  <a:pt x="2473720" y="0"/>
                </a:lnTo>
                <a:lnTo>
                  <a:pt x="2473720" y="1452172"/>
                </a:lnTo>
                <a:lnTo>
                  <a:pt x="0" y="1452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3857270" y="825909"/>
            <a:ext cx="1707984" cy="1592695"/>
          </a:xfrm>
          <a:custGeom>
            <a:avLst/>
            <a:gdLst/>
            <a:ahLst/>
            <a:cxnLst/>
            <a:rect l="l" t="t" r="r" b="b"/>
            <a:pathLst>
              <a:path w="1707984" h="1592695">
                <a:moveTo>
                  <a:pt x="0" y="0"/>
                </a:moveTo>
                <a:lnTo>
                  <a:pt x="1707985" y="0"/>
                </a:lnTo>
                <a:lnTo>
                  <a:pt x="1707985" y="1592695"/>
                </a:lnTo>
                <a:lnTo>
                  <a:pt x="0" y="1592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3516137" y="1030415"/>
            <a:ext cx="0" cy="1221272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AutoShape 10"/>
          <p:cNvSpPr/>
          <p:nvPr/>
        </p:nvSpPr>
        <p:spPr>
          <a:xfrm flipH="1">
            <a:off x="11630603" y="8009242"/>
            <a:ext cx="1536" cy="474889"/>
          </a:xfrm>
          <a:prstGeom prst="line">
            <a:avLst/>
          </a:prstGeom>
          <a:ln w="57150" cap="rnd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1" name="Group 11"/>
          <p:cNvGrpSpPr/>
          <p:nvPr/>
        </p:nvGrpSpPr>
        <p:grpSpPr>
          <a:xfrm>
            <a:off x="13484029" y="1816903"/>
            <a:ext cx="1522016" cy="1260965"/>
            <a:chOff x="0" y="0"/>
            <a:chExt cx="2029354" cy="1681287"/>
          </a:xfrm>
        </p:grpSpPr>
        <p:grpSp>
          <p:nvGrpSpPr>
            <p:cNvPr id="12" name="Group 12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1300481" y="1804599"/>
            <a:ext cx="484780" cy="164601"/>
            <a:chOff x="0" y="0"/>
            <a:chExt cx="219260" cy="74447"/>
          </a:xfrm>
        </p:grpSpPr>
        <p:sp>
          <p:nvSpPr>
            <p:cNvPr id="19" name="Freeform 19"/>
            <p:cNvSpPr/>
            <p:nvPr/>
          </p:nvSpPr>
          <p:spPr>
            <a:xfrm>
              <a:off x="44159" y="14753"/>
              <a:ext cx="130942" cy="59693"/>
            </a:xfrm>
            <a:custGeom>
              <a:avLst/>
              <a:gdLst/>
              <a:ahLst/>
              <a:cxnLst/>
              <a:rect l="l" t="t" r="r" b="b"/>
              <a:pathLst>
                <a:path w="130942" h="59693">
                  <a:moveTo>
                    <a:pt x="120286" y="22470"/>
                  </a:moveTo>
                  <a:lnTo>
                    <a:pt x="120286" y="22470"/>
                  </a:lnTo>
                  <a:cubicBezTo>
                    <a:pt x="127685" y="27495"/>
                    <a:pt x="130942" y="36760"/>
                    <a:pt x="128313" y="45309"/>
                  </a:cubicBezTo>
                  <a:cubicBezTo>
                    <a:pt x="125685" y="53859"/>
                    <a:pt x="117786" y="59694"/>
                    <a:pt x="108842" y="59694"/>
                  </a:cubicBezTo>
                  <a:lnTo>
                    <a:pt x="22100" y="59694"/>
                  </a:lnTo>
                  <a:cubicBezTo>
                    <a:pt x="13155" y="59694"/>
                    <a:pt x="5257" y="53859"/>
                    <a:pt x="2629" y="45309"/>
                  </a:cubicBezTo>
                  <a:cubicBezTo>
                    <a:pt x="0" y="36760"/>
                    <a:pt x="3256" y="27495"/>
                    <a:pt x="10656" y="22470"/>
                  </a:cubicBezTo>
                  <a:lnTo>
                    <a:pt x="10656" y="22470"/>
                  </a:lnTo>
                  <a:cubicBezTo>
                    <a:pt x="43745" y="0"/>
                    <a:pt x="87197" y="0"/>
                    <a:pt x="120286" y="2247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259" y="5990"/>
              <a:ext cx="150741" cy="63140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34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839906" y="1925732"/>
            <a:ext cx="1471222" cy="1139832"/>
            <a:chOff x="0" y="0"/>
            <a:chExt cx="711694" cy="5513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1694" cy="551386"/>
            </a:xfrm>
            <a:custGeom>
              <a:avLst/>
              <a:gdLst/>
              <a:ahLst/>
              <a:cxnLst/>
              <a:rect l="l" t="t" r="r" b="b"/>
              <a:pathLst>
                <a:path w="711694" h="551386">
                  <a:moveTo>
                    <a:pt x="0" y="0"/>
                  </a:moveTo>
                  <a:lnTo>
                    <a:pt x="711694" y="0"/>
                  </a:lnTo>
                  <a:lnTo>
                    <a:pt x="711694" y="551386"/>
                  </a:lnTo>
                  <a:lnTo>
                    <a:pt x="0" y="551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711694" cy="579961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934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807" y="1804599"/>
            <a:ext cx="1522016" cy="1260965"/>
            <a:chOff x="0" y="0"/>
            <a:chExt cx="2029354" cy="1681287"/>
          </a:xfrm>
        </p:grpSpPr>
        <p:grpSp>
          <p:nvGrpSpPr>
            <p:cNvPr id="25" name="Group 25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16192807" y="5158716"/>
            <a:ext cx="1522016" cy="1260965"/>
            <a:chOff x="0" y="0"/>
            <a:chExt cx="2029354" cy="1681287"/>
          </a:xfrm>
        </p:grpSpPr>
        <p:grpSp>
          <p:nvGrpSpPr>
            <p:cNvPr id="32" name="Group 32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0839906" y="5151530"/>
            <a:ext cx="1522016" cy="1260965"/>
            <a:chOff x="0" y="0"/>
            <a:chExt cx="2029354" cy="1681287"/>
          </a:xfrm>
        </p:grpSpPr>
        <p:grpSp>
          <p:nvGrpSpPr>
            <p:cNvPr id="39" name="Group 39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13497213" y="5151530"/>
            <a:ext cx="1522016" cy="1260965"/>
            <a:chOff x="0" y="0"/>
            <a:chExt cx="2029354" cy="1681287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161511"/>
              <a:ext cx="2029354" cy="1519776"/>
              <a:chOff x="0" y="0"/>
              <a:chExt cx="736265" cy="55138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736265" cy="551386"/>
              </a:xfrm>
              <a:custGeom>
                <a:avLst/>
                <a:gdLst/>
                <a:ahLst/>
                <a:cxnLst/>
                <a:rect l="l" t="t" r="r" b="b"/>
                <a:pathLst>
                  <a:path w="736265" h="551386">
                    <a:moveTo>
                      <a:pt x="0" y="0"/>
                    </a:moveTo>
                    <a:lnTo>
                      <a:pt x="736265" y="0"/>
                    </a:lnTo>
                    <a:lnTo>
                      <a:pt x="736265" y="551386"/>
                    </a:lnTo>
                    <a:lnTo>
                      <a:pt x="0" y="551386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19050"/>
                <a:ext cx="736265" cy="570436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67361" y="0"/>
              <a:ext cx="694633" cy="219468"/>
              <a:chOff x="0" y="0"/>
              <a:chExt cx="235630" cy="74447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7810" y="14487"/>
                <a:ext cx="140010" cy="59960"/>
              </a:xfrm>
              <a:custGeom>
                <a:avLst/>
                <a:gdLst/>
                <a:ahLst/>
                <a:cxnLst/>
                <a:rect l="l" t="t" r="r" b="b"/>
                <a:pathLst>
                  <a:path w="140010" h="59960">
                    <a:moveTo>
                      <a:pt x="128912" y="22736"/>
                    </a:moveTo>
                    <a:lnTo>
                      <a:pt x="128912" y="22736"/>
                    </a:lnTo>
                    <a:cubicBezTo>
                      <a:pt x="136504" y="27533"/>
                      <a:pt x="140010" y="36771"/>
                      <a:pt x="137513" y="45397"/>
                    </a:cubicBezTo>
                    <a:cubicBezTo>
                      <a:pt x="135016" y="54023"/>
                      <a:pt x="127117" y="59960"/>
                      <a:pt x="118137" y="59960"/>
                    </a:cubicBezTo>
                    <a:lnTo>
                      <a:pt x="21873" y="59960"/>
                    </a:lnTo>
                    <a:cubicBezTo>
                      <a:pt x="12893" y="59960"/>
                      <a:pt x="4994" y="54023"/>
                      <a:pt x="2497" y="45397"/>
                    </a:cubicBezTo>
                    <a:cubicBezTo>
                      <a:pt x="0" y="36771"/>
                      <a:pt x="3506" y="27533"/>
                      <a:pt x="11097" y="22736"/>
                    </a:cubicBezTo>
                    <a:lnTo>
                      <a:pt x="11097" y="22736"/>
                    </a:lnTo>
                    <a:cubicBezTo>
                      <a:pt x="47078" y="0"/>
                      <a:pt x="92932" y="0"/>
                      <a:pt x="128912" y="22736"/>
                    </a:cubicBezTo>
                    <a:close/>
                  </a:path>
                </a:pathLst>
              </a:custGeom>
              <a:solidFill>
                <a:srgbClr val="54545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817" y="15515"/>
                <a:ext cx="161996" cy="5361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marL="0" lvl="0" indent="0" algn="ctr">
                  <a:lnSpc>
                    <a:spcPts val="1153"/>
                  </a:lnSpc>
                  <a:spcBef>
                    <a:spcPct val="0"/>
                  </a:spcBef>
                </a:pPr>
                <a:endParaRPr lang="es-CL" noProof="0" dirty="0"/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10871131" y="8578834"/>
            <a:ext cx="1534035" cy="1139832"/>
            <a:chOff x="0" y="0"/>
            <a:chExt cx="742079" cy="55138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42079" cy="551386"/>
            </a:xfrm>
            <a:custGeom>
              <a:avLst/>
              <a:gdLst/>
              <a:ahLst/>
              <a:cxnLst/>
              <a:rect l="l" t="t" r="r" b="b"/>
              <a:pathLst>
                <a:path w="742079" h="551386">
                  <a:moveTo>
                    <a:pt x="0" y="0"/>
                  </a:moveTo>
                  <a:lnTo>
                    <a:pt x="742079" y="0"/>
                  </a:lnTo>
                  <a:lnTo>
                    <a:pt x="742079" y="551386"/>
                  </a:lnTo>
                  <a:lnTo>
                    <a:pt x="0" y="551386"/>
                  </a:lnTo>
                  <a:close/>
                </a:path>
              </a:pathLst>
            </a:custGeom>
            <a:solidFill>
              <a:srgbClr val="7A232E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742079" cy="570436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259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388855" y="8457701"/>
            <a:ext cx="483136" cy="164601"/>
            <a:chOff x="0" y="0"/>
            <a:chExt cx="218516" cy="74447"/>
          </a:xfrm>
        </p:grpSpPr>
        <p:sp>
          <p:nvSpPr>
            <p:cNvPr id="56" name="Freeform 56"/>
            <p:cNvSpPr/>
            <p:nvPr/>
          </p:nvSpPr>
          <p:spPr>
            <a:xfrm>
              <a:off x="43994" y="14767"/>
              <a:ext cx="130528" cy="59680"/>
            </a:xfrm>
            <a:custGeom>
              <a:avLst/>
              <a:gdLst/>
              <a:ahLst/>
              <a:cxnLst/>
              <a:rect l="l" t="t" r="r" b="b"/>
              <a:pathLst>
                <a:path w="130528" h="59680">
                  <a:moveTo>
                    <a:pt x="119893" y="22456"/>
                  </a:moveTo>
                  <a:lnTo>
                    <a:pt x="119893" y="22456"/>
                  </a:lnTo>
                  <a:cubicBezTo>
                    <a:pt x="127284" y="27492"/>
                    <a:pt x="130528" y="36758"/>
                    <a:pt x="127893" y="45304"/>
                  </a:cubicBezTo>
                  <a:cubicBezTo>
                    <a:pt x="125258" y="53850"/>
                    <a:pt x="117360" y="59680"/>
                    <a:pt x="108417" y="59680"/>
                  </a:cubicBezTo>
                  <a:lnTo>
                    <a:pt x="22111" y="59680"/>
                  </a:lnTo>
                  <a:cubicBezTo>
                    <a:pt x="13168" y="59680"/>
                    <a:pt x="5270" y="53850"/>
                    <a:pt x="2635" y="45304"/>
                  </a:cubicBezTo>
                  <a:cubicBezTo>
                    <a:pt x="0" y="36758"/>
                    <a:pt x="3245" y="27492"/>
                    <a:pt x="10635" y="22456"/>
                  </a:cubicBezTo>
                  <a:lnTo>
                    <a:pt x="10635" y="22456"/>
                  </a:lnTo>
                  <a:cubicBezTo>
                    <a:pt x="43593" y="0"/>
                    <a:pt x="86936" y="0"/>
                    <a:pt x="119893" y="22456"/>
                  </a:cubicBezTo>
                  <a:close/>
                </a:path>
              </a:pathLst>
            </a:custGeom>
            <a:solidFill>
              <a:srgbClr val="7A232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143" y="15515"/>
              <a:ext cx="150230" cy="53615"/>
            </a:xfrm>
            <a:prstGeom prst="rect">
              <a:avLst/>
            </a:prstGeom>
          </p:spPr>
          <p:txBody>
            <a:bodyPr lIns="23910" tIns="23910" rIns="23910" bIns="23910" rtlCol="0" anchor="ctr"/>
            <a:lstStyle/>
            <a:p>
              <a:pPr marL="0" lvl="0" indent="0" algn="ctr">
                <a:lnSpc>
                  <a:spcPts val="1152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170193" y="4838409"/>
            <a:ext cx="176057" cy="177782"/>
            <a:chOff x="0" y="0"/>
            <a:chExt cx="274676" cy="27736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544111" y="8144580"/>
            <a:ext cx="176057" cy="177782"/>
            <a:chOff x="0" y="0"/>
            <a:chExt cx="274676" cy="27736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7A232E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2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6865786" y="4845595"/>
            <a:ext cx="176057" cy="177782"/>
            <a:chOff x="0" y="0"/>
            <a:chExt cx="274676" cy="27736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512885" y="4838409"/>
            <a:ext cx="176057" cy="177782"/>
            <a:chOff x="0" y="0"/>
            <a:chExt cx="274676" cy="277367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6865786" y="1491478"/>
            <a:ext cx="176057" cy="177782"/>
            <a:chOff x="0" y="0"/>
            <a:chExt cx="274676" cy="277367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157008" y="1503569"/>
            <a:ext cx="176057" cy="177782"/>
            <a:chOff x="0" y="0"/>
            <a:chExt cx="274676" cy="277367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462092" y="1491478"/>
            <a:ext cx="176057" cy="177782"/>
            <a:chOff x="0" y="0"/>
            <a:chExt cx="274676" cy="277367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74676" cy="277367"/>
            </a:xfrm>
            <a:custGeom>
              <a:avLst/>
              <a:gdLst/>
              <a:ahLst/>
              <a:cxnLst/>
              <a:rect l="l" t="t" r="r" b="b"/>
              <a:pathLst>
                <a:path w="274676" h="277367">
                  <a:moveTo>
                    <a:pt x="137338" y="0"/>
                  </a:moveTo>
                  <a:cubicBezTo>
                    <a:pt x="61488" y="0"/>
                    <a:pt x="0" y="62091"/>
                    <a:pt x="0" y="138684"/>
                  </a:cubicBezTo>
                  <a:cubicBezTo>
                    <a:pt x="0" y="215277"/>
                    <a:pt x="61488" y="277367"/>
                    <a:pt x="137338" y="277367"/>
                  </a:cubicBezTo>
                  <a:cubicBezTo>
                    <a:pt x="213188" y="277367"/>
                    <a:pt x="274676" y="215277"/>
                    <a:pt x="274676" y="138684"/>
                  </a:cubicBezTo>
                  <a:cubicBezTo>
                    <a:pt x="274676" y="62091"/>
                    <a:pt x="213188" y="0"/>
                    <a:pt x="137338" y="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5751" y="6953"/>
              <a:ext cx="223174" cy="244411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156217" y="568334"/>
            <a:ext cx="787806" cy="787806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3851134" y="580638"/>
            <a:ext cx="787806" cy="787806"/>
            <a:chOff x="0" y="0"/>
            <a:chExt cx="812800" cy="812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3864318" y="3915265"/>
            <a:ext cx="787806" cy="787806"/>
            <a:chOff x="0" y="0"/>
            <a:chExt cx="812800" cy="812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1238236" y="7221436"/>
            <a:ext cx="787806" cy="787806"/>
            <a:chOff x="0" y="0"/>
            <a:chExt cx="812800" cy="8128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232E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2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6559912" y="3922451"/>
            <a:ext cx="787806" cy="787806"/>
            <a:chOff x="0" y="0"/>
            <a:chExt cx="812800" cy="8128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1207011" y="3915265"/>
            <a:ext cx="787806" cy="787806"/>
            <a:chOff x="0" y="0"/>
            <a:chExt cx="812800" cy="8128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6559912" y="568334"/>
            <a:ext cx="787806" cy="787806"/>
            <a:chOff x="0" y="0"/>
            <a:chExt cx="812800" cy="8128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>
                <a:alpha val="4000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9888" tIns="29888" rIns="29888" bIns="29888" rtlCol="0" anchor="ctr"/>
            <a:lstStyle/>
            <a:p>
              <a:pPr marL="0" lvl="0" indent="0" algn="ctr">
                <a:lnSpc>
                  <a:spcPts val="115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100" name="Freeform 100"/>
          <p:cNvSpPr/>
          <p:nvPr/>
        </p:nvSpPr>
        <p:spPr>
          <a:xfrm>
            <a:off x="12723246" y="777833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1" name="Freeform 101"/>
          <p:cNvSpPr/>
          <p:nvPr/>
        </p:nvSpPr>
        <p:spPr>
          <a:xfrm>
            <a:off x="15418362" y="790060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2" name="Freeform 102"/>
          <p:cNvSpPr/>
          <p:nvPr/>
        </p:nvSpPr>
        <p:spPr>
          <a:xfrm rot="-10800000">
            <a:off x="15431686" y="4162537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3" name="Freeform 103"/>
          <p:cNvSpPr/>
          <p:nvPr/>
        </p:nvSpPr>
        <p:spPr>
          <a:xfrm rot="-10800000">
            <a:off x="12736231" y="4150310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5" y="0"/>
                </a:lnTo>
                <a:lnTo>
                  <a:pt x="348665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4" name="Freeform 104"/>
          <p:cNvSpPr/>
          <p:nvPr/>
        </p:nvSpPr>
        <p:spPr>
          <a:xfrm rot="5400000">
            <a:off x="11456091" y="6620258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4" y="0"/>
                </a:lnTo>
                <a:lnTo>
                  <a:pt x="348664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5" name="Freeform 105"/>
          <p:cNvSpPr/>
          <p:nvPr/>
        </p:nvSpPr>
        <p:spPr>
          <a:xfrm rot="5400000">
            <a:off x="16779482" y="3297299"/>
            <a:ext cx="348664" cy="393415"/>
          </a:xfrm>
          <a:custGeom>
            <a:avLst/>
            <a:gdLst/>
            <a:ahLst/>
            <a:cxnLst/>
            <a:rect l="l" t="t" r="r" b="b"/>
            <a:pathLst>
              <a:path w="348664" h="393415">
                <a:moveTo>
                  <a:pt x="0" y="0"/>
                </a:moveTo>
                <a:lnTo>
                  <a:pt x="348665" y="0"/>
                </a:lnTo>
                <a:lnTo>
                  <a:pt x="348665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6" name="TextBox 106"/>
          <p:cNvSpPr txBox="1"/>
          <p:nvPr/>
        </p:nvSpPr>
        <p:spPr>
          <a:xfrm>
            <a:off x="892989" y="4216985"/>
            <a:ext cx="7317043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0"/>
              </a:lnSpc>
            </a:pPr>
            <a:r>
              <a:rPr lang="es-CL" sz="5000" b="1" noProof="0" dirty="0">
                <a:solidFill>
                  <a:srgbClr val="36424A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PASO 7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20691" y="9945023"/>
            <a:ext cx="5344563" cy="23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63"/>
              </a:lnSpc>
            </a:pPr>
            <a:r>
              <a:rPr lang="es-CL" sz="1444" noProof="0" dirty="0">
                <a:solidFill>
                  <a:srgbClr val="737373"/>
                </a:solidFill>
                <a:latin typeface="Poppins 1"/>
                <a:ea typeface="Poppins 1"/>
                <a:cs typeface="Poppins 1"/>
                <a:sym typeface="Poppins 1"/>
              </a:rPr>
              <a:t>2025 CODELCO CHILE. TODOS LOS DERECHOS RESERVADOS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962704" y="5071002"/>
            <a:ext cx="7497117" cy="1116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8"/>
              </a:lnSpc>
            </a:pPr>
            <a:r>
              <a:rPr lang="es-CL" sz="2800" noProof="0" dirty="0">
                <a:solidFill>
                  <a:srgbClr val="36424A"/>
                </a:solidFill>
                <a:latin typeface="Montserrat 1"/>
                <a:ea typeface="Montserrat 1"/>
                <a:cs typeface="Montserrat 1"/>
                <a:sym typeface="Montserrat 1"/>
              </a:rPr>
              <a:t>Informe de investigación</a:t>
            </a:r>
          </a:p>
          <a:p>
            <a:pPr algn="l">
              <a:lnSpc>
                <a:spcPts val="2968"/>
              </a:lnSpc>
            </a:pPr>
            <a:r>
              <a:rPr lang="es-CL" sz="2800" noProof="0" dirty="0">
                <a:solidFill>
                  <a:srgbClr val="36424A"/>
                </a:solidFill>
                <a:latin typeface="Montserrat 1"/>
                <a:ea typeface="Montserrat 1"/>
                <a:cs typeface="Montserrat 1"/>
                <a:sym typeface="Montserrat 1"/>
              </a:rPr>
              <a:t>y aprendizaje</a:t>
            </a:r>
          </a:p>
          <a:p>
            <a:pPr algn="l">
              <a:lnSpc>
                <a:spcPts val="2968"/>
              </a:lnSpc>
            </a:pPr>
            <a:endParaRPr lang="es-CL" sz="2800" noProof="0" dirty="0">
              <a:solidFill>
                <a:srgbClr val="36424A"/>
              </a:solidFill>
              <a:latin typeface="Montserrat 1"/>
              <a:ea typeface="Montserrat 1"/>
              <a:cs typeface="Montserrat 1"/>
              <a:sym typeface="Montserrat 1"/>
            </a:endParaRPr>
          </a:p>
        </p:txBody>
      </p:sp>
      <p:sp>
        <p:nvSpPr>
          <p:cNvPr id="109" name="TextBox 109"/>
          <p:cNvSpPr txBox="1"/>
          <p:nvPr/>
        </p:nvSpPr>
        <p:spPr>
          <a:xfrm>
            <a:off x="14466861" y="8211567"/>
            <a:ext cx="3287149" cy="112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s-CL" sz="3995" b="1" noProof="0" dirty="0">
                <a:solidFill>
                  <a:srgbClr val="E9662D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PASOS</a:t>
            </a:r>
          </a:p>
          <a:p>
            <a:pPr algn="l">
              <a:lnSpc>
                <a:spcPts val="2393"/>
              </a:lnSpc>
            </a:pPr>
            <a:r>
              <a:rPr lang="es-CL" sz="2393" noProof="0" dirty="0">
                <a:solidFill>
                  <a:srgbClr val="E9662D"/>
                </a:solidFill>
                <a:latin typeface="Poppins 1"/>
                <a:ea typeface="Poppins 1"/>
                <a:cs typeface="Poppins 1"/>
                <a:sym typeface="Poppins 1"/>
              </a:rPr>
              <a:t>DE LA INVESTIGACIÓN</a:t>
            </a:r>
          </a:p>
          <a:p>
            <a:pPr algn="l">
              <a:lnSpc>
                <a:spcPts val="2393"/>
              </a:lnSpc>
            </a:pPr>
            <a:r>
              <a:rPr lang="es-CL" sz="2393" noProof="0" dirty="0">
                <a:solidFill>
                  <a:srgbClr val="E9662D"/>
                </a:solidFill>
                <a:latin typeface="Poppins 1"/>
                <a:ea typeface="Poppins 1"/>
                <a:cs typeface="Poppins 1"/>
                <a:sym typeface="Poppins 1"/>
              </a:rPr>
              <a:t>ICAM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839906" y="2249079"/>
            <a:ext cx="1471222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Inmediatas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3472010" y="2132346"/>
            <a:ext cx="1534035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Planificación</a:t>
            </a:r>
          </a:p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de la Investigación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6352144" y="2249079"/>
            <a:ext cx="1227295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Recolección de Datos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1300481" y="639680"/>
            <a:ext cx="470895" cy="65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1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4004790" y="651984"/>
            <a:ext cx="470895" cy="65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2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6730343" y="639835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3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6703971" y="3993952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4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4003579" y="3986767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5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1358515" y="3986767"/>
            <a:ext cx="470895" cy="6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6"/>
              </a:lnSpc>
              <a:spcBef>
                <a:spcPct val="0"/>
              </a:spcBef>
            </a:pPr>
            <a:r>
              <a:rPr lang="es-CL" sz="4361" b="1" u="none" strike="noStrike" noProof="0" dirty="0">
                <a:solidFill>
                  <a:srgbClr val="F2F4F5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6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1401096" y="7396806"/>
            <a:ext cx="470895" cy="55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70"/>
              </a:lnSpc>
              <a:spcBef>
                <a:spcPct val="0"/>
              </a:spcBef>
            </a:pPr>
            <a:r>
              <a:rPr lang="es-CL" sz="3703" b="1" u="none" strike="noStrike" noProof="0" dirty="0">
                <a:solidFill>
                  <a:srgbClr val="7A232E"/>
                </a:solidFill>
                <a:latin typeface="Montserrat Extra-Bold Bold"/>
                <a:ea typeface="Montserrat Extra-Bold Bold"/>
                <a:cs typeface="Montserrat Extra-Bold Bold"/>
                <a:sym typeface="Montserrat Extra-Bold Bold"/>
              </a:rPr>
              <a:t>7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6266495" y="5603196"/>
            <a:ext cx="1406902" cy="47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Organización de Datos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3704898" y="5472864"/>
            <a:ext cx="1068258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Análisis Causal (ICAM)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915205" y="5466973"/>
            <a:ext cx="1396045" cy="7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1"/>
              </a:lnSpc>
              <a:spcBef>
                <a:spcPct val="0"/>
              </a:spcBef>
            </a:pPr>
            <a:r>
              <a:rPr lang="es-CL" sz="1422" b="1" u="none" strike="noStrike" noProof="0" dirty="0">
                <a:solidFill>
                  <a:srgbClr val="F2F4F5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Acciones preventivas y correctivas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913398" y="8880371"/>
            <a:ext cx="1438850" cy="594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6"/>
              </a:lnSpc>
              <a:spcBef>
                <a:spcPct val="0"/>
              </a:spcBef>
            </a:pPr>
            <a:r>
              <a:rPr lang="es-CL" sz="1208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Informe de investigación</a:t>
            </a:r>
          </a:p>
          <a:p>
            <a:pPr marL="0" lvl="0" indent="0" algn="ctr">
              <a:lnSpc>
                <a:spcPts val="1546"/>
              </a:lnSpc>
              <a:spcBef>
                <a:spcPct val="0"/>
              </a:spcBef>
            </a:pPr>
            <a:r>
              <a:rPr lang="es-CL" sz="1208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y aprendizaje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3431377" y="7584746"/>
            <a:ext cx="1723445" cy="209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52"/>
              </a:lnSpc>
            </a:pPr>
            <a:r>
              <a:rPr lang="es-CL" sz="15752" noProof="0" dirty="0">
                <a:solidFill>
                  <a:srgbClr val="E9662D"/>
                </a:solidFill>
                <a:latin typeface="Anton"/>
                <a:ea typeface="Anton"/>
                <a:cs typeface="Anton"/>
                <a:sym typeface="Anton"/>
              </a:rPr>
              <a:t>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563738" y="0"/>
            <a:ext cx="8958189" cy="1207460"/>
            <a:chOff x="0" y="0"/>
            <a:chExt cx="2359358" cy="784414"/>
          </a:xfrm>
        </p:grpSpPr>
        <p:sp>
          <p:nvSpPr>
            <p:cNvPr id="4" name="Freeform 4"/>
            <p:cNvSpPr/>
            <p:nvPr/>
          </p:nvSpPr>
          <p:spPr>
            <a:xfrm>
              <a:off x="3296" y="0"/>
              <a:ext cx="2352766" cy="784414"/>
            </a:xfrm>
            <a:custGeom>
              <a:avLst/>
              <a:gdLst/>
              <a:ahLst/>
              <a:cxnLst/>
              <a:rect l="l" t="t" r="r" b="b"/>
              <a:pathLst>
                <a:path w="2352766" h="784414">
                  <a:moveTo>
                    <a:pt x="217189" y="0"/>
                  </a:moveTo>
                  <a:lnTo>
                    <a:pt x="2338778" y="0"/>
                  </a:lnTo>
                  <a:cubicBezTo>
                    <a:pt x="2342917" y="0"/>
                    <a:pt x="2346823" y="1916"/>
                    <a:pt x="2349357" y="5190"/>
                  </a:cubicBezTo>
                  <a:cubicBezTo>
                    <a:pt x="2351890" y="8463"/>
                    <a:pt x="2352766" y="12725"/>
                    <a:pt x="2351728" y="16732"/>
                  </a:cubicBezTo>
                  <a:lnTo>
                    <a:pt x="2157197" y="767681"/>
                  </a:lnTo>
                  <a:cubicBezTo>
                    <a:pt x="2154645" y="777533"/>
                    <a:pt x="2145755" y="784414"/>
                    <a:pt x="2135578" y="784414"/>
                  </a:cubicBezTo>
                  <a:lnTo>
                    <a:pt x="13989" y="784414"/>
                  </a:lnTo>
                  <a:cubicBezTo>
                    <a:pt x="9849" y="784414"/>
                    <a:pt x="5943" y="782497"/>
                    <a:pt x="3409" y="779224"/>
                  </a:cubicBezTo>
                  <a:cubicBezTo>
                    <a:pt x="876" y="775951"/>
                    <a:pt x="0" y="771689"/>
                    <a:pt x="1038" y="767681"/>
                  </a:cubicBezTo>
                  <a:lnTo>
                    <a:pt x="195570" y="16732"/>
                  </a:lnTo>
                  <a:cubicBezTo>
                    <a:pt x="198122" y="6880"/>
                    <a:pt x="207012" y="0"/>
                    <a:pt x="217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5000"/>
                  </a:srgbClr>
                </a:gs>
                <a:gs pos="100000">
                  <a:srgbClr val="FF914D">
                    <a:alpha val="9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2156158" cy="803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47325" y="313968"/>
            <a:ext cx="0" cy="613539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936983" y="0"/>
            <a:ext cx="1351017" cy="793100"/>
          </a:xfrm>
          <a:custGeom>
            <a:avLst/>
            <a:gdLst/>
            <a:ahLst/>
            <a:cxnLst/>
            <a:rect l="l" t="t" r="r" b="b"/>
            <a:pathLst>
              <a:path w="1351017" h="793100">
                <a:moveTo>
                  <a:pt x="0" y="0"/>
                </a:moveTo>
                <a:lnTo>
                  <a:pt x="1351017" y="0"/>
                </a:lnTo>
                <a:lnTo>
                  <a:pt x="1351017" y="793100"/>
                </a:lnTo>
                <a:lnTo>
                  <a:pt x="0" y="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5712021" y="0"/>
            <a:ext cx="932812" cy="869847"/>
          </a:xfrm>
          <a:custGeom>
            <a:avLst/>
            <a:gdLst/>
            <a:ahLst/>
            <a:cxnLst/>
            <a:rect l="l" t="t" r="r" b="b"/>
            <a:pathLst>
              <a:path w="932812" h="869847">
                <a:moveTo>
                  <a:pt x="0" y="0"/>
                </a:moveTo>
                <a:lnTo>
                  <a:pt x="932812" y="0"/>
                </a:lnTo>
                <a:lnTo>
                  <a:pt x="932812" y="869847"/>
                </a:lnTo>
                <a:lnTo>
                  <a:pt x="0" y="86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AutoShape 9"/>
          <p:cNvSpPr/>
          <p:nvPr/>
        </p:nvSpPr>
        <p:spPr>
          <a:xfrm flipV="1">
            <a:off x="16829350" y="63053"/>
            <a:ext cx="0" cy="666995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0" name="Group 10"/>
          <p:cNvGrpSpPr/>
          <p:nvPr/>
        </p:nvGrpSpPr>
        <p:grpSpPr>
          <a:xfrm>
            <a:off x="414318" y="2165929"/>
            <a:ext cx="7390027" cy="7302194"/>
            <a:chOff x="0" y="0"/>
            <a:chExt cx="22808686" cy="225375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808685" cy="22537595"/>
            </a:xfrm>
            <a:custGeom>
              <a:avLst/>
              <a:gdLst/>
              <a:ahLst/>
              <a:cxnLst/>
              <a:rect l="l" t="t" r="r" b="b"/>
              <a:pathLst>
                <a:path w="22808685" h="22537595">
                  <a:moveTo>
                    <a:pt x="3143" y="0"/>
                  </a:moveTo>
                  <a:lnTo>
                    <a:pt x="22805543" y="0"/>
                  </a:lnTo>
                  <a:cubicBezTo>
                    <a:pt x="22806375" y="0"/>
                    <a:pt x="22807175" y="331"/>
                    <a:pt x="22807764" y="921"/>
                  </a:cubicBezTo>
                  <a:cubicBezTo>
                    <a:pt x="22808354" y="1510"/>
                    <a:pt x="22808685" y="2309"/>
                    <a:pt x="22808685" y="3143"/>
                  </a:cubicBezTo>
                  <a:lnTo>
                    <a:pt x="22808685" y="22534452"/>
                  </a:lnTo>
                  <a:cubicBezTo>
                    <a:pt x="22808685" y="22536187"/>
                    <a:pt x="22807278" y="22537595"/>
                    <a:pt x="22805543" y="22537595"/>
                  </a:cubicBezTo>
                  <a:lnTo>
                    <a:pt x="3143" y="22537595"/>
                  </a:lnTo>
                  <a:cubicBezTo>
                    <a:pt x="2309" y="22537595"/>
                    <a:pt x="1510" y="22537263"/>
                    <a:pt x="921" y="22536674"/>
                  </a:cubicBezTo>
                  <a:cubicBezTo>
                    <a:pt x="331" y="22536085"/>
                    <a:pt x="0" y="22535285"/>
                    <a:pt x="0" y="22534452"/>
                  </a:cubicBezTo>
                  <a:lnTo>
                    <a:pt x="0" y="3143"/>
                  </a:lnTo>
                  <a:cubicBezTo>
                    <a:pt x="0" y="1407"/>
                    <a:pt x="1407" y="0"/>
                    <a:pt x="3143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808686" cy="22575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94703" y="2165929"/>
            <a:ext cx="8023167" cy="286723"/>
            <a:chOff x="0" y="0"/>
            <a:chExt cx="2744625" cy="980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44625" cy="98084"/>
            </a:xfrm>
            <a:custGeom>
              <a:avLst/>
              <a:gdLst/>
              <a:ahLst/>
              <a:cxnLst/>
              <a:rect l="l" t="t" r="r" b="b"/>
              <a:pathLst>
                <a:path w="2744625" h="98084">
                  <a:moveTo>
                    <a:pt x="19299" y="0"/>
                  </a:moveTo>
                  <a:lnTo>
                    <a:pt x="2725327" y="0"/>
                  </a:lnTo>
                  <a:cubicBezTo>
                    <a:pt x="2735985" y="0"/>
                    <a:pt x="2744625" y="8640"/>
                    <a:pt x="2744625" y="19299"/>
                  </a:cubicBezTo>
                  <a:lnTo>
                    <a:pt x="2744625" y="78785"/>
                  </a:lnTo>
                  <a:cubicBezTo>
                    <a:pt x="2744625" y="83904"/>
                    <a:pt x="2742592" y="88813"/>
                    <a:pt x="2738973" y="92432"/>
                  </a:cubicBezTo>
                  <a:cubicBezTo>
                    <a:pt x="2735354" y="96051"/>
                    <a:pt x="2730445" y="98084"/>
                    <a:pt x="2725327" y="98084"/>
                  </a:cubicBezTo>
                  <a:lnTo>
                    <a:pt x="19299" y="98084"/>
                  </a:lnTo>
                  <a:cubicBezTo>
                    <a:pt x="14181" y="98084"/>
                    <a:pt x="9272" y="96051"/>
                    <a:pt x="5653" y="92432"/>
                  </a:cubicBezTo>
                  <a:cubicBezTo>
                    <a:pt x="2033" y="88813"/>
                    <a:pt x="0" y="83904"/>
                    <a:pt x="0" y="78785"/>
                  </a:cubicBezTo>
                  <a:lnTo>
                    <a:pt x="0" y="19299"/>
                  </a:lnTo>
                  <a:cubicBezTo>
                    <a:pt x="0" y="14181"/>
                    <a:pt x="2033" y="9272"/>
                    <a:pt x="5653" y="5653"/>
                  </a:cubicBezTo>
                  <a:cubicBezTo>
                    <a:pt x="9272" y="2033"/>
                    <a:pt x="14181" y="0"/>
                    <a:pt x="192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90000"/>
                  </a:srgbClr>
                </a:gs>
                <a:gs pos="100000">
                  <a:srgbClr val="FF914D">
                    <a:alpha val="9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744625" cy="117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001543" y="2197846"/>
            <a:ext cx="3009486" cy="260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9"/>
              </a:lnSpc>
              <a:spcBef>
                <a:spcPct val="0"/>
              </a:spcBef>
            </a:pPr>
            <a:r>
              <a:rPr lang="es-CL" sz="1773" b="1" u="none" strike="noStrike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Respaldo fotográfico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494703" y="2452652"/>
            <a:ext cx="8023167" cy="7015471"/>
            <a:chOff x="0" y="0"/>
            <a:chExt cx="24762817" cy="216526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762817" cy="21652649"/>
            </a:xfrm>
            <a:custGeom>
              <a:avLst/>
              <a:gdLst/>
              <a:ahLst/>
              <a:cxnLst/>
              <a:rect l="l" t="t" r="r" b="b"/>
              <a:pathLst>
                <a:path w="24762817" h="21652649">
                  <a:moveTo>
                    <a:pt x="2895" y="0"/>
                  </a:moveTo>
                  <a:lnTo>
                    <a:pt x="24759923" y="0"/>
                  </a:lnTo>
                  <a:cubicBezTo>
                    <a:pt x="24761521" y="0"/>
                    <a:pt x="24762817" y="1296"/>
                    <a:pt x="24762817" y="2895"/>
                  </a:cubicBezTo>
                  <a:lnTo>
                    <a:pt x="24762817" y="21649754"/>
                  </a:lnTo>
                  <a:cubicBezTo>
                    <a:pt x="24762817" y="21651353"/>
                    <a:pt x="24761521" y="21652649"/>
                    <a:pt x="24759923" y="21652649"/>
                  </a:cubicBezTo>
                  <a:lnTo>
                    <a:pt x="2895" y="21652649"/>
                  </a:lnTo>
                  <a:cubicBezTo>
                    <a:pt x="1296" y="21652649"/>
                    <a:pt x="0" y="21651353"/>
                    <a:pt x="0" y="21649754"/>
                  </a:cubicBezTo>
                  <a:lnTo>
                    <a:pt x="0" y="2895"/>
                  </a:lnTo>
                  <a:cubicBezTo>
                    <a:pt x="0" y="1296"/>
                    <a:pt x="1296" y="0"/>
                    <a:pt x="2895" y="0"/>
                  </a:cubicBezTo>
                  <a:close/>
                </a:path>
              </a:pathLst>
            </a:custGeom>
            <a:solidFill>
              <a:srgbClr val="EBEB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4762817" cy="21690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 lang="es-CL" noProof="0" dirty="0"/>
            </a:p>
          </p:txBody>
        </p:sp>
      </p:grpSp>
      <p:sp>
        <p:nvSpPr>
          <p:cNvPr id="20" name="Freeform 20"/>
          <p:cNvSpPr/>
          <p:nvPr/>
        </p:nvSpPr>
        <p:spPr>
          <a:xfrm>
            <a:off x="667216" y="259585"/>
            <a:ext cx="722968" cy="769115"/>
          </a:xfrm>
          <a:custGeom>
            <a:avLst/>
            <a:gdLst/>
            <a:ahLst/>
            <a:cxnLst/>
            <a:rect l="l" t="t" r="r" b="b"/>
            <a:pathLst>
              <a:path w="722968" h="769115">
                <a:moveTo>
                  <a:pt x="0" y="0"/>
                </a:moveTo>
                <a:lnTo>
                  <a:pt x="722968" y="0"/>
                </a:lnTo>
                <a:lnTo>
                  <a:pt x="722968" y="769115"/>
                </a:lnTo>
                <a:lnTo>
                  <a:pt x="0" y="7691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Box 21"/>
          <p:cNvSpPr txBox="1"/>
          <p:nvPr/>
        </p:nvSpPr>
        <p:spPr>
          <a:xfrm>
            <a:off x="1605348" y="484126"/>
            <a:ext cx="5979069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CONCLUSIONES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32292" y="312860"/>
            <a:ext cx="5253077" cy="6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8"/>
              </a:lnSpc>
            </a:pPr>
            <a:r>
              <a:rPr lang="es-CL" sz="4042" b="1" spc="20" noProof="0" dirty="0">
                <a:solidFill>
                  <a:srgbClr val="E7E7E7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Investigación ICAM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4195" y="2350246"/>
            <a:ext cx="6610273" cy="501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i="1" noProof="0" dirty="0">
                <a:solidFill>
                  <a:srgbClr val="545454"/>
                </a:solidFill>
                <a:latin typeface="Poppins 1 Italics"/>
                <a:ea typeface="Poppins 1 Italics"/>
                <a:cs typeface="Poppins 1 Italics"/>
                <a:sym typeface="Poppins 1 Italics"/>
              </a:rPr>
              <a:t>Hallazgos principales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i="1" noProof="0" dirty="0">
                <a:solidFill>
                  <a:srgbClr val="545454"/>
                </a:solidFill>
                <a:latin typeface="Poppins 1 Italics"/>
                <a:ea typeface="Poppins 1 Italics"/>
                <a:cs typeface="Poppins 1 Italics"/>
                <a:sym typeface="Poppins 1 Italics"/>
              </a:rPr>
              <a:t>Resumen de los factores contribuyentes identificados (organizacionales, del entorno, individuales y defensas fallidas).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i="1" noProof="0" dirty="0">
                <a:solidFill>
                  <a:srgbClr val="545454"/>
                </a:solidFill>
                <a:latin typeface="Poppins 1 Italics"/>
                <a:ea typeface="Poppins 1 Italics"/>
                <a:cs typeface="Poppins 1 Italics"/>
                <a:sym typeface="Poppins 1 Italics"/>
              </a:rPr>
              <a:t>Controles críticos, Indicar si fueron aplicados, fallaron o no existían, y cómo eso incidió en el evento.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i="1" noProof="0" dirty="0">
                <a:solidFill>
                  <a:srgbClr val="545454"/>
                </a:solidFill>
                <a:latin typeface="Poppins 1 Italics"/>
                <a:ea typeface="Poppins 1 Italics"/>
                <a:cs typeface="Poppins 1 Italics"/>
                <a:sym typeface="Poppins 1 Italics"/>
              </a:rPr>
              <a:t>Lecciones aprendidas</a:t>
            </a:r>
          </a:p>
          <a:p>
            <a:pPr marL="429917" lvl="1" indent="-214959" algn="just">
              <a:lnSpc>
                <a:spcPts val="2688"/>
              </a:lnSpc>
              <a:buFont typeface="Arial"/>
              <a:buChar char="•"/>
            </a:pPr>
            <a:r>
              <a:rPr lang="es-CL" sz="1991" i="1" noProof="0" dirty="0">
                <a:solidFill>
                  <a:srgbClr val="545454"/>
                </a:solidFill>
                <a:latin typeface="Poppins 1 Italics"/>
                <a:ea typeface="Poppins 1 Italics"/>
                <a:cs typeface="Poppins 1 Italics"/>
                <a:sym typeface="Poppins 1 Italics"/>
              </a:rPr>
              <a:t>Señalar qué prácticas deben fortalecerse y qué medidas deben ser integradas en la gestión preventiva.</a:t>
            </a:r>
          </a:p>
          <a:p>
            <a:pPr algn="just">
              <a:lnSpc>
                <a:spcPts val="2688"/>
              </a:lnSpc>
            </a:pPr>
            <a:endParaRPr lang="es-CL" sz="1991" i="1" noProof="0" dirty="0">
              <a:solidFill>
                <a:srgbClr val="545454"/>
              </a:solidFill>
              <a:latin typeface="Poppins 1 Italics"/>
              <a:ea typeface="Poppins 1 Italics"/>
              <a:cs typeface="Poppins 1 Italics"/>
              <a:sym typeface="Poppins 1 Italics"/>
            </a:endParaRPr>
          </a:p>
          <a:p>
            <a:pPr algn="just">
              <a:lnSpc>
                <a:spcPts val="2688"/>
              </a:lnSpc>
            </a:pPr>
            <a:endParaRPr lang="es-CL" sz="1991" i="1" noProof="0" dirty="0">
              <a:solidFill>
                <a:srgbClr val="545454"/>
              </a:solidFill>
              <a:latin typeface="Poppins 1 Italics"/>
              <a:ea typeface="Poppins 1 Italics"/>
              <a:cs typeface="Poppins 1 Italics"/>
              <a:sym typeface="Poppins 1 Italics"/>
            </a:endParaRPr>
          </a:p>
          <a:p>
            <a:pPr algn="just">
              <a:lnSpc>
                <a:spcPts val="2688"/>
              </a:lnSpc>
            </a:pPr>
            <a:endParaRPr lang="es-CL" sz="1991" i="1" noProof="0" dirty="0">
              <a:solidFill>
                <a:srgbClr val="545454"/>
              </a:solidFill>
              <a:latin typeface="Poppins 1 Italics"/>
              <a:ea typeface="Poppins 1 Italics"/>
              <a:cs typeface="Poppins 1 Italics"/>
              <a:sym typeface="Poppins 1 Italics"/>
            </a:endParaRPr>
          </a:p>
          <a:p>
            <a:pPr algn="just">
              <a:lnSpc>
                <a:spcPts val="2688"/>
              </a:lnSpc>
            </a:pPr>
            <a:endParaRPr lang="es-CL" sz="1991" i="1" noProof="0" dirty="0">
              <a:solidFill>
                <a:srgbClr val="545454"/>
              </a:solidFill>
              <a:latin typeface="Poppins 1 Italics"/>
              <a:ea typeface="Poppins 1 Italics"/>
              <a:cs typeface="Poppins 1 Italics"/>
              <a:sym typeface="Poppins 1 Itali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9589607" y="-56687"/>
            <a:ext cx="8698393" cy="10400373"/>
            <a:chOff x="0" y="0"/>
            <a:chExt cx="8603361" cy="10286746"/>
          </a:xfrm>
        </p:grpSpPr>
        <p:sp>
          <p:nvSpPr>
            <p:cNvPr id="4" name="Freeform 4"/>
            <p:cNvSpPr/>
            <p:nvPr/>
          </p:nvSpPr>
          <p:spPr>
            <a:xfrm>
              <a:off x="-2794" y="-127"/>
              <a:ext cx="8606155" cy="10286873"/>
            </a:xfrm>
            <a:custGeom>
              <a:avLst/>
              <a:gdLst/>
              <a:ahLst/>
              <a:cxnLst/>
              <a:rect l="l" t="t" r="r" b="b"/>
              <a:pathLst>
                <a:path w="8606155" h="10286873">
                  <a:moveTo>
                    <a:pt x="8606155" y="10251440"/>
                  </a:moveTo>
                  <a:cubicBezTo>
                    <a:pt x="8606155" y="10284587"/>
                    <a:pt x="8595487" y="10286873"/>
                    <a:pt x="8567674" y="10286873"/>
                  </a:cubicBezTo>
                  <a:cubicBezTo>
                    <a:pt x="5713095" y="10286238"/>
                    <a:pt x="2858643" y="10286238"/>
                    <a:pt x="4064" y="10286238"/>
                  </a:cubicBezTo>
                  <a:cubicBezTo>
                    <a:pt x="0" y="10272395"/>
                    <a:pt x="6350" y="10259822"/>
                    <a:pt x="9271" y="10246995"/>
                  </a:cubicBezTo>
                  <a:cubicBezTo>
                    <a:pt x="134747" y="9685401"/>
                    <a:pt x="260350" y="9123934"/>
                    <a:pt x="386207" y="8562467"/>
                  </a:cubicBezTo>
                  <a:cubicBezTo>
                    <a:pt x="565658" y="7761986"/>
                    <a:pt x="745490" y="6961632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5"/>
                    <a:pt x="8605139" y="6846316"/>
                    <a:pt x="8606155" y="10251440"/>
                  </a:cubicBezTo>
                  <a:close/>
                </a:path>
              </a:pathLst>
            </a:custGeom>
            <a:blipFill>
              <a:blip r:embed="rId4"/>
              <a:stretch>
                <a:fillRect l="-67023" r="-12439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5" name="Freeform 5"/>
          <p:cNvSpPr/>
          <p:nvPr/>
        </p:nvSpPr>
        <p:spPr>
          <a:xfrm rot="-4650086">
            <a:off x="4148666" y="4607563"/>
            <a:ext cx="13382481" cy="173983"/>
          </a:xfrm>
          <a:custGeom>
            <a:avLst/>
            <a:gdLst/>
            <a:ahLst/>
            <a:cxnLst/>
            <a:rect l="l" t="t" r="r" b="b"/>
            <a:pathLst>
              <a:path w="13382481" h="173983">
                <a:moveTo>
                  <a:pt x="0" y="0"/>
                </a:moveTo>
                <a:lnTo>
                  <a:pt x="13382481" y="0"/>
                </a:lnTo>
                <a:lnTo>
                  <a:pt x="13382481" y="173982"/>
                </a:lnTo>
                <a:lnTo>
                  <a:pt x="0" y="1739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60677" b="-158463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AutoShape 6"/>
          <p:cNvSpPr/>
          <p:nvPr/>
        </p:nvSpPr>
        <p:spPr>
          <a:xfrm>
            <a:off x="1023507" y="5790767"/>
            <a:ext cx="4913678" cy="0"/>
          </a:xfrm>
          <a:prstGeom prst="line">
            <a:avLst/>
          </a:prstGeom>
          <a:ln w="38100" cap="rnd">
            <a:gradFill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853683" y="825909"/>
            <a:ext cx="2473721" cy="1452172"/>
          </a:xfrm>
          <a:custGeom>
            <a:avLst/>
            <a:gdLst/>
            <a:ahLst/>
            <a:cxnLst/>
            <a:rect l="l" t="t" r="r" b="b"/>
            <a:pathLst>
              <a:path w="2473721" h="1452172">
                <a:moveTo>
                  <a:pt x="0" y="0"/>
                </a:moveTo>
                <a:lnTo>
                  <a:pt x="2473720" y="0"/>
                </a:lnTo>
                <a:lnTo>
                  <a:pt x="2473720" y="1452172"/>
                </a:lnTo>
                <a:lnTo>
                  <a:pt x="0" y="14521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7292" b="-34159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8" name="Group 8"/>
          <p:cNvGrpSpPr/>
          <p:nvPr/>
        </p:nvGrpSpPr>
        <p:grpSpPr>
          <a:xfrm>
            <a:off x="0" y="8594378"/>
            <a:ext cx="4962253" cy="916221"/>
            <a:chOff x="0" y="0"/>
            <a:chExt cx="2633882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33882" cy="406400"/>
            </a:xfrm>
            <a:custGeom>
              <a:avLst/>
              <a:gdLst/>
              <a:ahLst/>
              <a:cxnLst/>
              <a:rect l="l" t="t" r="r" b="b"/>
              <a:pathLst>
                <a:path w="2633882" h="406400">
                  <a:moveTo>
                    <a:pt x="2430682" y="0"/>
                  </a:moveTo>
                  <a:cubicBezTo>
                    <a:pt x="2542906" y="0"/>
                    <a:pt x="2633882" y="90976"/>
                    <a:pt x="2633882" y="203200"/>
                  </a:cubicBezTo>
                  <a:cubicBezTo>
                    <a:pt x="2633882" y="315424"/>
                    <a:pt x="2542906" y="406400"/>
                    <a:pt x="243068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63388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4167412" y="8750162"/>
            <a:ext cx="604654" cy="604654"/>
          </a:xfrm>
          <a:custGeom>
            <a:avLst/>
            <a:gdLst/>
            <a:ahLst/>
            <a:cxnLst/>
            <a:rect l="l" t="t" r="r" b="b"/>
            <a:pathLst>
              <a:path w="604654" h="604654">
                <a:moveTo>
                  <a:pt x="0" y="0"/>
                </a:moveTo>
                <a:lnTo>
                  <a:pt x="604653" y="0"/>
                </a:lnTo>
                <a:lnTo>
                  <a:pt x="604653" y="604654"/>
                </a:lnTo>
                <a:lnTo>
                  <a:pt x="0" y="6046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Freeform 12"/>
          <p:cNvSpPr/>
          <p:nvPr/>
        </p:nvSpPr>
        <p:spPr>
          <a:xfrm>
            <a:off x="3857270" y="825909"/>
            <a:ext cx="1707984" cy="1592695"/>
          </a:xfrm>
          <a:custGeom>
            <a:avLst/>
            <a:gdLst/>
            <a:ahLst/>
            <a:cxnLst/>
            <a:rect l="l" t="t" r="r" b="b"/>
            <a:pathLst>
              <a:path w="1707984" h="1592695">
                <a:moveTo>
                  <a:pt x="0" y="0"/>
                </a:moveTo>
                <a:lnTo>
                  <a:pt x="1707985" y="0"/>
                </a:lnTo>
                <a:lnTo>
                  <a:pt x="1707985" y="1592695"/>
                </a:lnTo>
                <a:lnTo>
                  <a:pt x="0" y="15926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AutoShape 13"/>
          <p:cNvSpPr/>
          <p:nvPr/>
        </p:nvSpPr>
        <p:spPr>
          <a:xfrm flipV="1">
            <a:off x="3516137" y="1030415"/>
            <a:ext cx="0" cy="1221272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Box 14"/>
          <p:cNvSpPr txBox="1"/>
          <p:nvPr/>
        </p:nvSpPr>
        <p:spPr>
          <a:xfrm>
            <a:off x="1028700" y="3881538"/>
            <a:ext cx="7317043" cy="1355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0"/>
              </a:lnSpc>
            </a:pPr>
            <a:r>
              <a:rPr lang="es-CL" sz="5000" b="1" noProof="0" dirty="0">
                <a:solidFill>
                  <a:srgbClr val="36424A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Informe de Investigación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691" y="9945023"/>
            <a:ext cx="5344563" cy="23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63"/>
              </a:lnSpc>
            </a:pPr>
            <a:r>
              <a:rPr lang="es-CL" sz="1444" noProof="0" dirty="0">
                <a:solidFill>
                  <a:srgbClr val="737373"/>
                </a:solidFill>
                <a:latin typeface="Poppins 1"/>
                <a:ea typeface="Poppins 1"/>
                <a:cs typeface="Poppins 1"/>
                <a:sym typeface="Poppins 1"/>
              </a:rPr>
              <a:t>2025 CODELCO CHILE. TODOS LOS DERECHOS RESERVADOS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5353678"/>
            <a:ext cx="7317043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0"/>
              </a:lnSpc>
            </a:pPr>
            <a:r>
              <a:rPr lang="es-CL" sz="2500" b="1" noProof="0" dirty="0">
                <a:solidFill>
                  <a:srgbClr val="E96C28"/>
                </a:solidFill>
                <a:latin typeface="Montserrat 1 Semi-Bold"/>
                <a:ea typeface="Montserrat 1 Semi-Bold"/>
                <a:cs typeface="Montserrat 1 Semi-Bold"/>
                <a:sym typeface="Montserrat 1 Semi-Bold"/>
              </a:rPr>
              <a:t>Evento significativo con lesión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028334"/>
            <a:ext cx="7497117" cy="37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8"/>
              </a:lnSpc>
            </a:pPr>
            <a:r>
              <a:rPr lang="es-CL" sz="2800" noProof="0" dirty="0">
                <a:solidFill>
                  <a:srgbClr val="36424A"/>
                </a:solidFill>
                <a:latin typeface="Montserrat 1"/>
                <a:ea typeface="Montserrat 1"/>
                <a:cs typeface="Montserrat 1"/>
                <a:sym typeface="Montserrat 1"/>
              </a:rPr>
              <a:t>Centro de Trabajo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3400" y="8876326"/>
            <a:ext cx="2921413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s-CL" sz="2199" b="1" noProof="0" dirty="0">
                <a:solidFill>
                  <a:srgbClr val="3B4652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Mes</a:t>
            </a:r>
            <a:r>
              <a:rPr lang="es-CL" sz="2199" noProof="0" dirty="0">
                <a:solidFill>
                  <a:srgbClr val="3B4652"/>
                </a:solidFill>
                <a:latin typeface="Montserrat 1"/>
                <a:ea typeface="Montserrat 1"/>
                <a:cs typeface="Montserrat 1"/>
                <a:sym typeface="Montserrat 1"/>
              </a:rPr>
              <a:t> Año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D48C58E56AE8B4A8A8EC061C432835A" ma:contentTypeVersion="11" ma:contentTypeDescription="Crear nuevo documento." ma:contentTypeScope="" ma:versionID="732db790b1924033f29cb665ded80887">
  <xsd:schema xmlns:xsd="http://www.w3.org/2001/XMLSchema" xmlns:xs="http://www.w3.org/2001/XMLSchema" xmlns:p="http://schemas.microsoft.com/office/2006/metadata/properties" xmlns:ns2="cad97b49-c882-4bfc-bdc6-9bb7aa05bc1b" xmlns:ns3="07b7f3d4-c9d4-499c-ac8f-df564bed3ae0" targetNamespace="http://schemas.microsoft.com/office/2006/metadata/properties" ma:root="true" ma:fieldsID="cdd8406fff72a589a7364af2760071d9" ns2:_="" ns3:_="">
    <xsd:import namespace="cad97b49-c882-4bfc-bdc6-9bb7aa05bc1b"/>
    <xsd:import namespace="07b7f3d4-c9d4-499c-ac8f-df564bed3a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d97b49-c882-4bfc-bdc6-9bb7aa05bc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04059dad-b601-48a5-9c2b-e21d71df0d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b7f3d4-c9d4-499c-ac8f-df564bed3ae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1987f29-bef3-4f15-b1a0-632a2a4e9921}" ma:internalName="TaxCatchAll" ma:showField="CatchAllData" ma:web="07b7f3d4-c9d4-499c-ac8f-df564bed3a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ad97b49-c882-4bfc-bdc6-9bb7aa05bc1b">
      <Terms xmlns="http://schemas.microsoft.com/office/infopath/2007/PartnerControls"/>
    </lcf76f155ced4ddcb4097134ff3c332f>
    <TaxCatchAll xmlns="07b7f3d4-c9d4-499c-ac8f-df564bed3ae0" xsi:nil="true"/>
  </documentManagement>
</p:properties>
</file>

<file path=customXml/itemProps1.xml><?xml version="1.0" encoding="utf-8"?>
<ds:datastoreItem xmlns:ds="http://schemas.openxmlformats.org/officeDocument/2006/customXml" ds:itemID="{922550A7-5513-4BF4-91AE-DC46F1F022B7}"/>
</file>

<file path=customXml/itemProps2.xml><?xml version="1.0" encoding="utf-8"?>
<ds:datastoreItem xmlns:ds="http://schemas.openxmlformats.org/officeDocument/2006/customXml" ds:itemID="{6A275051-02E1-4145-9F07-97017D44F38D}"/>
</file>

<file path=customXml/itemProps3.xml><?xml version="1.0" encoding="utf-8"?>
<ds:datastoreItem xmlns:ds="http://schemas.openxmlformats.org/officeDocument/2006/customXml" ds:itemID="{AD4690E3-46B7-4F2F-A3A7-9A205F2E2EE8}"/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4065</Words>
  <Application>Microsoft Office PowerPoint</Application>
  <PresentationFormat>Personalizado</PresentationFormat>
  <Paragraphs>686</Paragraphs>
  <Slides>31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15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47" baseType="lpstr">
      <vt:lpstr>Poppins 2 Bold Italics</vt:lpstr>
      <vt:lpstr>Montserrat 1 Italics</vt:lpstr>
      <vt:lpstr>Calibri</vt:lpstr>
      <vt:lpstr>Poppins 1</vt:lpstr>
      <vt:lpstr>Montserrat 1</vt:lpstr>
      <vt:lpstr>Anton</vt:lpstr>
      <vt:lpstr>Montserrat Extra-Bold Bold</vt:lpstr>
      <vt:lpstr>Montserrat 1 Bold</vt:lpstr>
      <vt:lpstr>Poppins 2 Bold</vt:lpstr>
      <vt:lpstr>Poppins 1 Italics</vt:lpstr>
      <vt:lpstr>Poppins 1 Bold Italics</vt:lpstr>
      <vt:lpstr>Poppins 1 Bold</vt:lpstr>
      <vt:lpstr>Poppins</vt:lpstr>
      <vt:lpstr>Arial</vt:lpstr>
      <vt:lpstr>Montserrat 1 Semi-Bold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ICAM</dc:title>
  <dc:creator>Sebastián Beltrán castillo</dc:creator>
  <cp:lastModifiedBy>Sebastián Beltrán castillo</cp:lastModifiedBy>
  <cp:revision>5</cp:revision>
  <dcterms:created xsi:type="dcterms:W3CDTF">2006-08-16T00:00:00Z</dcterms:created>
  <dcterms:modified xsi:type="dcterms:W3CDTF">2025-09-15T15:45:48Z</dcterms:modified>
  <dc:identifier>DAGymg2gJVE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0x0101005D48C58E56AE8B4A8A8EC061C432835A</vt:lpwstr>
  </property>
</Properties>
</file>